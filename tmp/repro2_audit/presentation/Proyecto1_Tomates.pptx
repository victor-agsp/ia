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Arial"/>
              </a:rPr>
              <a:t>Jaccard medio en desarrollo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rgbClr val="B83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  <c:pt idx="3">
                    <c:v>RG</c:v>
                  </c:pt>
                  <c:pt idx="4">
                    <c:v>RB</c:v>
                  </c:pt>
                  <c:pt idx="5">
                    <c:v>GB</c:v>
                  </c:pt>
                  <c:pt idx="6">
                    <c:v>RGB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0.5277645779646873</c:v>
                </c:pt>
                <c:pt idx="1">
                  <c:v>0.5105156284098754</c:v>
                </c:pt>
                <c:pt idx="2">
                  <c:v>0.5426017217604678</c:v>
                </c:pt>
                <c:pt idx="3">
                  <c:v>0.5570085820517545</c:v>
                </c:pt>
                <c:pt idx="4">
                  <c:v>0.5677275250002304</c:v>
                </c:pt>
                <c:pt idx="5">
                  <c:v>0.5376212372636443</c:v>
                </c:pt>
                <c:pt idx="6">
                  <c:v>0.5525023463606296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post-procesado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  <c:pt idx="3">
                    <c:v>RG</c:v>
                  </c:pt>
                  <c:pt idx="4">
                    <c:v>RB</c:v>
                  </c:pt>
                  <c:pt idx="5">
                    <c:v>GB</c:v>
                  </c:pt>
                  <c:pt idx="6">
                    <c:v>RGB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0.5709225341263743</c:v>
                </c:pt>
                <c:pt idx="1">
                  <c:v>0.5356663911346665</c:v>
                </c:pt>
                <c:pt idx="2">
                  <c:v>0.5822789115329926</c:v>
                </c:pt>
                <c:pt idx="3">
                  <c:v>0.5927898939692721</c:v>
                </c:pt>
                <c:pt idx="4">
                  <c:v>0.605901203908212</c:v>
                </c:pt>
                <c:pt idx="5">
                  <c:v>0.5770777019343302</c:v>
                </c:pt>
                <c:pt idx="6">
                  <c:v>0.5889288481381244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Oráculo de cluster</c:v>
                </c:pt>
              </c:strCache>
            </c:strRef>
          </c:tx>
          <c:spPr>
            <a:solidFill>
              <a:srgbClr val="AEB6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  <c:pt idx="3">
                    <c:v>RG</c:v>
                  </c:pt>
                  <c:pt idx="4">
                    <c:v>RB</c:v>
                  </c:pt>
                  <c:pt idx="5">
                    <c:v>GB</c:v>
                  </c:pt>
                  <c:pt idx="6">
                    <c:v>RGB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0.5412934352083901</c:v>
                </c:pt>
                <c:pt idx="1">
                  <c:v>0.543802640655725</c:v>
                </c:pt>
                <c:pt idx="2">
                  <c:v>0.5589592413525333</c:v>
                </c:pt>
                <c:pt idx="3">
                  <c:v>0.5747974220291295</c:v>
                </c:pt>
                <c:pt idx="4">
                  <c:v>0.5778364365753107</c:v>
                </c:pt>
                <c:pt idx="5">
                  <c:v>0.5645409563078521</c:v>
                </c:pt>
                <c:pt idx="6">
                  <c:v>0.5745212884602676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4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 en una frase: decidir maduro/inmaduro usando solo los píxeles que K-Means identifica como fruto.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Etapas: segmentación no supervisada, extracción de características, dos estrategias de selección, PCA y comparación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el control de duplicados: sin él una misma imagen podía estar en entrenamiento y validación. Dos imágenes RGBA se convierten a RGB.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el test nunca participa en decisiones. El umbral se aplica al mismo modelo con el que se eligió en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análisis explica por qué R y B aparecen en las mejores combinaciones de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media circular del tono es clave: la media aritmética produce tonos espurios en tomates rojos (ver ablación).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oráculo elige el cluster con mayor Jaccard: es la cota superior con esos clusters. Los pesos del puntaje son heurísticos (limitación).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 empieza en 0.40 para ver diferencias; son pequeñas. G solo es la peor porque el tomate verde y el follaje tienen G parecido.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Filas: peor, mediana y mejor imagen de desarrollo. Mostrar que Jaccard alto requiere fondos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características se calculan con la máscara estimada, no con la de referencia: se evalúa el sistema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es la más separable (maduro ≈ 20°, inmaduro ≈ 80°). a* es la segunda pero redundante con H. G y R aportan intensidad por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SFS confirma que H es la variable principal, pero su elección posterior es inestable con 36 imágenes.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salida del modelo es un log-cociente de verosimilitudes sin priors; el prior y los costos quedan en el umbral.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umbrales quedan sobre ln θ = 0: con θ = 1 habría un falso positivo en validación. Es la sobreconfianza de Bayes ingenuo.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PC1 está alineada con la madurez; PC2 y PC3 capturan brillo y amarillo, que dependen del fondo y la iluminación.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Mismas condiciones: mismas particiones, mismo umbral de Youden, mismas métricas. Cada partición elige también la combinación de canales y el post-procesado con su propio desarrollo. Las particiones comparten imágenes: miden estabilidad, no significancia.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Ablación controlada: se cambia una sola cosa. Ideal solo en test mantiene variables, modelo y umbral. Diseño fijo mantiene variables y reajusta modelo y umbral. El rediseño completo no es controlado y no se usa para concluir.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cada respuesta lista en menos de un minuto para la entrevista.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futuro: k&gt;2 con varios clusters de fruto, textura y forma, Bayes con covarianza completa, más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ictor\Documents\IA\results\segmentation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85358"/>
            <a:ext cx="3749040" cy="21499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y clasificación del estado de madurez de tomates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Bayes con razón de verosimilitudes · SFS · PCA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INFO1185 Inteligencia Artificial · 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objetivo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un tomate está maduro o inmaduro a partir de una imagen RGB, usando únicamente los píxeles que un método no supervisado identifica como fruto.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RGB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73352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83664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83664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combinaciones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99816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10128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10128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fruto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post-proceso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36592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52744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63056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63056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· SFS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PCA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79208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4F7A28"/>
          </a:solidFill>
          <a:ln w="12700">
            <a:solidFill>
              <a:srgbClr val="4F7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Λ ≥ ln θ*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separa fruto y fondo por color; se evalúa con Jaccard contra la máscara anotada.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926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bayesiano gaussiano sobre descriptores del fruto; umbral por Youden.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canales segmentan mejor? ¿Qué variables distinguen la madurez? ¿Ayuda PCA? ¿Cuánto pesa la segmentación?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 los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útiles (31 maduras / 29 inmaduras)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exactos eliminados (MD5)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36/12/12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/ validación / test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960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256 px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máximo tras reducir (anchos originales 250–7792)</a:t>
            </a:r>
            <a:endParaRPr lang="en-US" sz="1100" dirty="0"/>
          </a:p>
        </p:txBody>
      </p:sp>
      <p:pic>
        <p:nvPicPr>
          <p:cNvPr id="13" name="Image 0" descr="C:\Users\Victor\Documents\IA\results\dataset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7793"/>
            <a:ext cx="8229600" cy="190521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estratificada por imagen, semilla 20260913. Antes de particionar se detectaron y eliminaron dos pares de imágenes idénticas. Fondos simples (blanco) y complejos (follaje, platos, madera); varios frutos por imagen.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general y control de fuga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usados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Combinación de canales y post-procesado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(entrenamiento + validación)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Selección por análisis, SFS, estandarización, PCA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entrenamiento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de la razón de verosimilitudes (Youden)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Validación, con el modelo de entrenamiento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finales (AUC, exactitud, sens., espec.)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 no interviene en decisiones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complementarios (máscara, robustez)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y 30 particiones; no cambian el sistema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417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20260913 en partición, muestreo de píxeles, K-Means y validación cruzada. Parámetros en tomato/config.py.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74320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834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3154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y cifras del informe y de esta presentación se generan desde los resultados del código.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exploratorio: fruto vs fondo</a:t>
            </a:r>
            <a:endParaRPr lang="en-US" sz="2600" dirty="0"/>
          </a:p>
        </p:txBody>
      </p:sp>
      <p:pic>
        <p:nvPicPr>
          <p:cNvPr id="5" name="Image 0" descr="C:\Users\Victor\Documents\IA\results\pixel_hist_fruit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21" y="868680"/>
            <a:ext cx="8193957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389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Fruto: S alto, B bajo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8006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4389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muy variable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48006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4389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verde ≈ follaje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8006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exploratorio: maduro vs inmaduro</a:t>
            </a:r>
            <a:endParaRPr lang="en-US" sz="2600" dirty="0"/>
          </a:p>
        </p:txBody>
      </p:sp>
      <p:pic>
        <p:nvPicPr>
          <p:cNvPr id="5" name="Image 0" descr="C:\Users\Victor\Documents\IA\results\pixel_hist_ripe_un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21" y="868680"/>
            <a:ext cx="8193957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3891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y a* separan las clases; R sube y G baja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8006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438912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4480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circular: media de 5° y 355° ≠ 180°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4800600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con K-Means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611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 (fruto / fondo), un modelo por imagen y combinación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Inicialización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k-means++, 10 reinicios (menor inercia)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centroides &lt; 1e-4 o 300 iteraciones (máx. observado: 47)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20260913; ajuste con 12.000 píxeles, asignación de todos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fruto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de objeto: brillo, saturación, compacidad, centralidad, área, borde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960120"/>
          <a:ext cx="31546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640080"/>
                <a:gridCol w="64008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Mín. borde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 sat.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Oráculo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532120" y="3063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medio en desarrollo según la regla para elegir el cluster fruto. El puntaje de objeto es la mejor regla y queda cerca del oráculo: el límite es K-Means, no la regla.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máscara de referencia solo se usa para calcular J = |A∩B| / |A∪B|.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las siete combinaciones (Jaccard)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combinación (J = 0.568)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post-procesado morfológico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0632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mejor–peor (G): 0.057, frente a DE entre imágenes ≈ 0.28: ranking débil. R separa rojo de verde; B separa objetos saturados de fondos claros. Test: J = 0.460 (máscara final con post-proceso: 0.458).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segmentación (RB)</a:t>
            </a:r>
            <a:endParaRPr lang="en-US" sz="2600" dirty="0"/>
          </a:p>
        </p:txBody>
      </p:sp>
      <p:pic>
        <p:nvPicPr>
          <p:cNvPr id="5" name="Image 0" descr="C:\Users\Victor\Documents\IA\results\segmentation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74310"/>
            <a:ext cx="5760720" cy="33035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96012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051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típico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3716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bimodal o follaje brillante: los dos clusters separan dos fondos y el tomate queda repartido.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292608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017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Post-procesado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3375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+ cierre (elipse 5×5), relleno de huecos y eliminación de componentes &lt; 1 %. Mejora las 7 combinaciones.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extraídas del fruto segmentado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R̄, Ḡ, B̄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exigido; la madurez pasa energía de G a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H̄ (circular)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Cromaticidad independiente del brillo; media circular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S̄, V̄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Saturación y brillo; separan color de iluminación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verde↔rojo CIELAB: índice clásico de madurez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b̄*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azul↔amarillo, variable de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C:\Users\Victor\Documents\IA\results\feature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9641"/>
            <a:ext cx="4572000" cy="20013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062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calculados solo con los píxeles de la máscara K-Means final (entrenamiento).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basada en el análisis exploratorio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463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de Cohen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univ.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(|r|=0.92 con 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37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ordenar por |d| y aceptar si |r| ≤ 0.85 con las ya elegidas (máx. 3). Resultado: H, G, 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variables casi colineales: Bayes ingenuo contaría dos veces la misma evidencia.</a:t>
            </a:r>
            <a:endParaRPr lang="en-US" sz="1100" dirty="0"/>
          </a:p>
        </p:txBody>
      </p:sp>
      <p:pic>
        <p:nvPicPr>
          <p:cNvPr id="8" name="Image 0" descr="C:\Users\Victor\Documents\IA\results\feature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96340"/>
            <a:ext cx="393192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mediante SFS</a:t>
            </a:r>
            <a:endParaRPr lang="en-US" sz="2600" dirty="0"/>
          </a:p>
        </p:txBody>
      </p:sp>
      <p:pic>
        <p:nvPicPr>
          <p:cNvPr id="5" name="Image 0" descr="C:\Users\Victor\Documents\IA\results\sfs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2528"/>
            <a:ext cx="4937760" cy="27412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Wrapper: se añade la variable que maximiza el AUC de validación cruzada 5×10 del mismo Bayes (solo entrenamiento). Se elige el prefijo más corto a ≤ 0.001 del mejor.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0" y="96012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0515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371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SFS: H, B, S, 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H, G, 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0" y="2286000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23560" y="23774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¿Coinciden?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2697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en H (primera elegida) y R. SFS cambia G por B y S: optimiza el AUC conjunto, no la separación individual, y el criterio está saturado (AUC ≈ 0.98, DE ≈ 0.04). En 30 particiones SFS eligió 14 subconjuntos distintos; la regla de análisis repitió el suyo en 16.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bayesiano y razón de verosimilitudes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decisión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Λ(x) = ln p(x|maduro) − ln p(x|inmaduro) ≥ ln θ → maduro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p(x|ω) = Π N(xⱼ; μ, σ²) (gaussiano ingenuo, MV en entrenamiento)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051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Bayes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371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error: θ = P(inmaduro)/P(maduro). Variar θ recorre la ROC. Con costos, θ incorpora C₁₀ y C₀₁.</a:t>
            </a:r>
            <a:endParaRPr lang="en-US" sz="1200" dirty="0"/>
          </a:p>
        </p:txBody>
      </p:sp>
      <p:pic>
        <p:nvPicPr>
          <p:cNvPr id="11" name="Image 0" descr="C:\Users\Victor\Documents\IA\results\threshold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23129"/>
            <a:ext cx="8412480" cy="22689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operación y evaluación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731520"/>
                <a:gridCol w="777240"/>
                <a:gridCol w="777240"/>
                <a:gridCol w="731520"/>
                <a:gridCol w="731520"/>
                <a:gridCol w="7315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 θ*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 + análisis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H, G,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 + SFS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H, B, S,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+ Bayes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PC1, PC2, PC3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10312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194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índice de Youden en validación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514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sens + espec − 1. Sin costos definidos y clases balanceadas: ambos errores pesan igual. Umbral = punto medio entre puntuaciones; empates → centro.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12 imágenes sin errores: compatible con exactitud real ≥ 0.74 (Clopper–Pearson 95 %). No permite ordenar las estrategias.</a:t>
            </a:r>
            <a:endParaRPr lang="en-US" sz="1150" dirty="0"/>
          </a:p>
        </p:txBody>
      </p:sp>
      <p:pic>
        <p:nvPicPr>
          <p:cNvPr id="10" name="Image 0" descr="C:\Users\Victor\Documents\IA\results\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605655"/>
            <a:ext cx="4434840" cy="18295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y número de componentes</a:t>
            </a:r>
            <a:endParaRPr lang="en-US" sz="2600" dirty="0"/>
          </a:p>
        </p:txBody>
      </p:sp>
      <p:pic>
        <p:nvPicPr>
          <p:cNvPr id="5" name="Image 0" descr="C:\Users\Victor\Documents\IA\results\pca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3111"/>
            <a:ext cx="4846320" cy="2554339"/>
          </a:xfrm>
          <a:prstGeom prst="rect">
            <a:avLst/>
          </a:prstGeom>
        </p:spPr>
      </p:pic>
      <p:pic>
        <p:nvPicPr>
          <p:cNvPr id="6" name="Image 1" descr="C:\Users\Victor\Documents\IA\results\pca_load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10" y="3611880"/>
            <a:ext cx="3249419" cy="13716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960120"/>
          <a:ext cx="3291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868680"/>
                <a:gridCol w="8686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Acum.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40680" y="26060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57784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 (97.9 %)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5577840" y="3017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 con ≥ 95 % de varianza; coincide con el codo y con Kaiser (λ₄ ≪ 1). PCA en entrenamiento sobre 8 variables estandarizadas; Bayes sobre PC1–PC3.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los tres clasificadores</a:t>
            </a:r>
            <a:endParaRPr lang="en-US" sz="2600" dirty="0"/>
          </a:p>
        </p:txBody>
      </p:sp>
      <p:pic>
        <p:nvPicPr>
          <p:cNvPr id="5" name="Image 0" descr="C:\Users\Victor\Documents\IA\results\repeated_spl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7603"/>
            <a:ext cx="5852160" cy="20910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+ SFS (9 errores)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+ análisis (10 errores)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Bayes (18 errores)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media en test, 30 particiones, máscaras K-Means (360 predicciones).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960120"/>
            <a:ext cx="2377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principal: las tres empatan con AUC y exactitud 1.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≈ análisis: diferencia de pocos errores, dentro de la variabilidad.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es consistentemente la peor: no usa la etiqueta y reintroduce B, V y b*.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partición repite todo, incluida la segmentación (RB en 28, RG en 2).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rehace la selección con máscaras ideales, SFS comete 12 errores: sobreajusta la selección.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integrado: segmentación → clasificación</a:t>
            </a:r>
            <a:endParaRPr lang="en-US" sz="2600" dirty="0"/>
          </a:p>
        </p:txBody>
      </p:sp>
      <p:pic>
        <p:nvPicPr>
          <p:cNvPr id="5" name="Image 0" descr="C:\Users\Victor\Documents\IA\results\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982" y="868680"/>
            <a:ext cx="5496835" cy="196596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 (errores)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(sistema)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solo en test, mismo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Ideal, diseño fijo (reentrena)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Ideal, rediseño 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H aritmético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acumulados en 30 particiones (360 predicciones por celda). Solo las dos primeras variantes ideales mantienen fija la selección.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-0.88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vs desplazamiento de descriptores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0312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máscara → descriptores más contaminados.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cambiar la máscara del test (mismo modelo y umbral) corrige casi todos los errores.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selección fija y máscara ideal: 0 errores. La segmentación es la causa dominante.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media circular, PCA pierde exactitud.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Respuestas a las preguntas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Mejor combinación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RB: J = 0.568 (0.606 con post-proceso).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¿Por qué?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separa rojo/verde; B separa fruto saturado de fondos claros.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(EDA)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circular y a* (|d| &gt; 3), luego G y 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SFS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H, B, S, R. Coincide en H y R con el análisis.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221992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Mejor estrategia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≈ análisis; análisis es más estable e interpretable.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221992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Punto de operación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Youden en validación: sin costos, clases balanceadas.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Componentes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41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PCs: ≥ 95 % varianza (97.9 %), codo y Kaiser.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529584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¿PCA mejora?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941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empata en el test principal y es la peor al repetir.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529584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Segmentación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941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dominante: con selección fija y máscara ideal, errores 10/9/18 → 0.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 con RB + post-proceso: J ≈ 0.606. Es el eslabón débil del sistema.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= tono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 como media circular, un Bayes con 3 variables clasifica casi perfectamente.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≈ SFS en desempeño; el análisis es más estable. PCA no aporta.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imágenes y test de 12: techo de desempeño. Pesos heurísticos del cluster, sin textura ni forma.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— Segmentación y clasificación de madurez de tomates</dc:title>
  <dc:subject>PptxGenJS Presentation</dc:subject>
  <dc:creator>PptxGenJS</dc:creator>
  <cp:lastModifiedBy>PptxGenJS</cp:lastModifiedBy>
  <cp:revision>1</cp:revision>
  <dcterms:created xsi:type="dcterms:W3CDTF">2026-09-13T20:46:42Z</dcterms:created>
  <dcterms:modified xsi:type="dcterms:W3CDTF">2026-09-13T20:46:42Z</dcterms:modified>
</cp:coreProperties>
</file>