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3"/>
                </a:solidFill>
                <a:latin typeface="Arial"/>
              </a:defRPr>
            </a:pPr>
            <a:r>
              <a:rPr sz="1200" b="0" i="0" u="none" strike="noStrike">
                <a:solidFill>
                  <a:srgbClr val="1F2933"/>
                </a:solidFill>
                <a:latin typeface="Arial"/>
              </a:rPr>
              <a:t>Jaccard medio en desarrollo</a:t>
            </a:r>
          </a:p>
        </c:rich>
      </c:tx>
      <c:layout/>
      <c:overlay val="0"/>
    </c:title>
    <c:autoTitleDeleted val="0"/>
    <c:plotArea>
      <c:layout/>
      <c:barChart>
        <c:barDir val="col"/>
        <c:grouping val="clustered"/>
        <c:varyColors val="0"/>
        <c:ser>
          <c:idx val="0"/>
          <c:order val="0"/>
          <c:tx>
            <c:strRef>
              <c:f>Sheet1!$B$1</c:f>
              <c:strCache>
                <c:ptCount val="1"/>
                <c:pt idx="0">
                  <c:v>K-Means</c:v>
                </c:pt>
              </c:strCache>
            </c:strRef>
          </c:tx>
          <c:spPr>
            <a:solidFill>
              <a:srgbClr val="B8322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R</c:v>
                  </c:pt>
                  <c:pt idx="1">
                    <c:v>G</c:v>
                  </c:pt>
                  <c:pt idx="2">
                    <c:v>B</c:v>
                  </c:pt>
                  <c:pt idx="3">
                    <c:v>RG</c:v>
                  </c:pt>
                  <c:pt idx="4">
                    <c:v>RB</c:v>
                  </c:pt>
                  <c:pt idx="5">
                    <c:v>GB</c:v>
                  </c:pt>
                  <c:pt idx="6">
                    <c:v>RGB</c:v>
                  </c:pt>
                </c:lvl>
              </c:multiLvlStrCache>
            </c:multiLvlStrRef>
          </c:cat>
          <c:val>
            <c:numRef>
              <c:f>Sheet1!$B$2:$B$8</c:f>
              <c:numCache>
                <c:formatCode>General</c:formatCode>
                <c:ptCount val="7"/>
                <c:pt idx="0">
                  <c:v>0.5277012308339918</c:v>
                </c:pt>
                <c:pt idx="1">
                  <c:v>0.51019725556597</c:v>
                </c:pt>
                <c:pt idx="2">
                  <c:v>0.5427163661320172</c:v>
                </c:pt>
                <c:pt idx="3">
                  <c:v>0.5568848920213402</c:v>
                </c:pt>
                <c:pt idx="4">
                  <c:v>0.5676844396977603</c:v>
                </c:pt>
                <c:pt idx="5">
                  <c:v>0.5377933922447777</c:v>
                </c:pt>
                <c:pt idx="6">
                  <c:v>0.5524563050721214</c:v>
                </c:pt>
              </c:numCache>
            </c:numRef>
          </c:val>
        </c:ser>
        <c:ser>
          <c:idx val="1"/>
          <c:order val="1"/>
          <c:tx>
            <c:strRef>
              <c:f>Sheet1!$C$1</c:f>
              <c:strCache>
                <c:ptCount val="1"/>
                <c:pt idx="0">
                  <c:v>+ post-procesado</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R</c:v>
                  </c:pt>
                  <c:pt idx="1">
                    <c:v>G</c:v>
                  </c:pt>
                  <c:pt idx="2">
                    <c:v>B</c:v>
                  </c:pt>
                  <c:pt idx="3">
                    <c:v>RG</c:v>
                  </c:pt>
                  <c:pt idx="4">
                    <c:v>RB</c:v>
                  </c:pt>
                  <c:pt idx="5">
                    <c:v>GB</c:v>
                  </c:pt>
                  <c:pt idx="6">
                    <c:v>RGB</c:v>
                  </c:pt>
                </c:lvl>
              </c:multiLvlStrCache>
            </c:multiLvlStrRef>
          </c:cat>
          <c:val>
            <c:numRef>
              <c:f>Sheet1!$C$2:$C$8</c:f>
              <c:numCache>
                <c:formatCode>General</c:formatCode>
                <c:ptCount val="7"/>
                <c:pt idx="0">
                  <c:v>0.5707331357960522</c:v>
                </c:pt>
                <c:pt idx="1">
                  <c:v>0.5349767808720537</c:v>
                </c:pt>
                <c:pt idx="2">
                  <c:v>0.5825230938530724</c:v>
                </c:pt>
                <c:pt idx="3">
                  <c:v>0.5927261600781217</c:v>
                </c:pt>
                <c:pt idx="4">
                  <c:v>0.605686422670475</c:v>
                </c:pt>
                <c:pt idx="5">
                  <c:v>0.5769596310531095</c:v>
                </c:pt>
                <c:pt idx="6">
                  <c:v>0.5889101509137061</c:v>
                </c:pt>
              </c:numCache>
            </c:numRef>
          </c:val>
        </c:ser>
        <c:ser>
          <c:idx val="2"/>
          <c:order val="2"/>
          <c:tx>
            <c:strRef>
              <c:f>Sheet1!$D$1</c:f>
              <c:strCache>
                <c:ptCount val="1"/>
                <c:pt idx="0">
                  <c:v>Oráculo de cluster</c:v>
                </c:pt>
              </c:strCache>
            </c:strRef>
          </c:tx>
          <c:spPr>
            <a:solidFill>
              <a:srgbClr val="AEB6B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R</c:v>
                  </c:pt>
                  <c:pt idx="1">
                    <c:v>G</c:v>
                  </c:pt>
                  <c:pt idx="2">
                    <c:v>B</c:v>
                  </c:pt>
                  <c:pt idx="3">
                    <c:v>RG</c:v>
                  </c:pt>
                  <c:pt idx="4">
                    <c:v>RB</c:v>
                  </c:pt>
                  <c:pt idx="5">
                    <c:v>GB</c:v>
                  </c:pt>
                  <c:pt idx="6">
                    <c:v>RGB</c:v>
                  </c:pt>
                </c:lvl>
              </c:multiLvlStrCache>
            </c:multiLvlStrRef>
          </c:cat>
          <c:val>
            <c:numRef>
              <c:f>Sheet1!$D$2:$D$8</c:f>
              <c:numCache>
                <c:formatCode>General</c:formatCode>
                <c:ptCount val="7"/>
                <c:pt idx="0">
                  <c:v>0.5412168084898479</c:v>
                </c:pt>
                <c:pt idx="1">
                  <c:v>0.5434376050691027</c:v>
                </c:pt>
                <c:pt idx="2">
                  <c:v>0.5590122413634465</c:v>
                </c:pt>
                <c:pt idx="3">
                  <c:v>0.5746673275222091</c:v>
                </c:pt>
                <c:pt idx="4">
                  <c:v>0.5777419092725672</c:v>
                </c:pt>
                <c:pt idx="5">
                  <c:v>0.5645177504004019</c:v>
                </c:pt>
                <c:pt idx="6">
                  <c:v>0.5743877807279588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770"/>
                </a:solidFill>
                <a:latin typeface="Arial"/>
              </a:defRPr>
            </a:pPr>
            <a:endParaRPr lang="en-US"/>
          </a:p>
        </c:txPr>
        <c:crossAx val="2094734552"/>
        <c:crosses val="autoZero"/>
        <c:auto val="1"/>
        <c:lblAlgn val="ctr"/>
        <c:noMultiLvlLbl val="1"/>
      </c:catAx>
      <c:valAx>
        <c:axId val="2094734552"/>
        <c:scaling>
          <c:orientation val="minMax"/>
          <c:max val="0.65"/>
          <c:min val="0.4"/>
        </c:scaling>
        <c:delete val="0"/>
        <c:axPos val="l"/>
        <c:majorGridlines>
          <c:spPr>
            <a:ln w="6350" cap="flat">
              <a:solidFill>
                <a:srgbClr val="E3E6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770"/>
                </a:solidFill>
                <a:latin typeface="Arial"/>
              </a:defRPr>
            </a:pPr>
            <a:endParaRPr lang="en-US"/>
          </a:p>
        </c:txPr>
        <c:crossAx val="2094734554"/>
        <c:crosses val="autoZero"/>
        <c:crossBetween val="between"/>
        <c:majorUnit val="0.05"/>
      </c:valAx>
      <c:spPr>
        <a:noFill/>
        <a:ln>
          <a:noFill/>
        </a:ln>
        <a:effectLst/>
      </c:spPr>
    </c:plotArea>
    <c:legend>
      <c:legendPos val="t"/>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problema en una frase: decidir maduro/inmaduro usando solo los píxeles que K-Means identifica como fruto.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Etapas: segmentación no supervisada, extracción de características, dos estrategias de selección, PCA y comparación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Destacar el control de duplicados: sin él una misma imagen podía estar en entrenamiento y validación. Dos imágenes RGBA se convierten a RGB.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el test nunca participa en decisiones. El umbral se aplica al mismo modelo con el que se eligió en validación.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análisis explica por qué R y B aparecen en las mejores combinaciones de K-Means.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media circular del tono es clave: la media aritmética produce tonos espurios en tomates rojos (ver ablación).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oráculo elige el cluster con mayor Jaccard: es la cota superior con esos clusters. Los pesos del puntaje y el prior de área se fijaron a priori a mano, sin usar máscaras de test (limitación).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 empieza en 0.40 para ver diferencias; son pequeñas. G solo es la peor porque el tomate verde y el follaje tienen G parecido.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Filas: peor, mediana y mejor imagen de desarrollo. Mostrar que Jaccard alto requiere fondos simples.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características se calculan con la máscara estimada, no con la de referencia: se evalúa el sistema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 es la más separable (maduro ≈ 20°, inmaduro ≈ 80°). a* es la segunda pero redundante con H. G y R aportan intensidad por canal.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SFS confirma que H es la variable principal, pero su elección posterior es inestable con 36 imágenes. Incluso diferencias de menos de un nivel de gris entre entornos cambiaron el subconjunto (H,B,S,R en una versión previa) sin cambiar el desempeño en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salida del modelo es un log-cociente de verosimilitudes sin priors; el prior y los costos quedan en el umbral.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umbrales quedan sobre ln θ = 0. Con θ = 1 habría errores de validación en análisis (1 FP, 0 FN), SFS (1 FP, 0 FN); PCA sin errores. La validación es separable: Youden da J = 1 en un intervalo y se toma su punto 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PC1 está alineada con la madurez; PC2 y PC3 capturan brillo y amarillo, que dependen del fondo y la iluminación.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Mismas condiciones: mismas particiones, mismo umbral de Youden, mismas métricas. Cada partición elige también la combinación de canales y el post-procesado con su propio desarrollo. Las particiones comparten imágenes (incluidas las del test principal): miden estabilidad, no significancia, y son 360 predicciones sobre 60 imágenes, no 360 casos nuevos.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Ablación controlada: se cambia una sola cosa. Ideal solo en test mantiene variables, modelo y umbral. Diseño fijo mantiene variables y reajusta modelo y umbral. El rediseño completo no es controlado y no se usa para concluir.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Tener cada respuesta lista en menos de un minuto para la entrevista.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futuro: k&gt;2 con varios clusters de fruto, textura y forma, Bayes con covarianza completa, más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30"/>
        </a:solidFill>
      </p:bgPr>
    </p:bg>
    <p:spTree>
      <p:nvGrpSpPr>
        <p:cNvPr id="1" name=""/>
        <p:cNvGrpSpPr/>
        <p:nvPr/>
      </p:nvGrpSpPr>
      <p:grpSpPr>
        <a:xfrm>
          <a:off x="0" y="0"/>
          <a:ext cx="0" cy="0"/>
          <a:chOff x="0" y="0"/>
          <a:chExt cx="0" cy="0"/>
        </a:xfrm>
      </p:grpSpPr>
      <p:pic>
        <p:nvPicPr>
          <p:cNvPr id="2" name="Image 0" descr="/home/victor/Documents/Proyectos/ia/results/segmentation_examples.png">    </p:cNvPr>
          <p:cNvPicPr>
            <a:picLocks noChangeAspect="1"/>
          </p:cNvPicPr>
          <p:nvPr/>
        </p:nvPicPr>
        <p:blipFill>
          <a:blip r:embed="rId1"/>
          <a:stretch>
            <a:fillRect/>
          </a:stretch>
        </p:blipFill>
        <p:spPr>
          <a:xfrm>
            <a:off x="5120640" y="1485358"/>
            <a:ext cx="3749040" cy="2149923"/>
          </a:xfrm>
          <a:prstGeom prst="rect">
            <a:avLst/>
          </a:prstGeom>
        </p:spPr>
      </p:pic>
      <p:sp>
        <p:nvSpPr>
          <p:cNvPr id="3" name="Text 0"/>
          <p:cNvSpPr txBox="1"/>
          <p:nvPr/>
        </p:nvSpPr>
        <p:spPr>
          <a:xfrm>
            <a:off x="548640" y="914400"/>
            <a:ext cx="4389120" cy="365760"/>
          </a:xfrm>
          <a:prstGeom prst="rect">
            <a:avLst/>
          </a:prstGeom>
          <a:noFill/>
          <a:ln/>
        </p:spPr>
        <p:txBody>
          <a:bodyPr wrap="square" lIns="0" tIns="0" rIns="0" bIns="0" rtlCol="0" anchor="ctr"/>
          <a:lstStyle/>
          <a:p>
            <a:pPr indent="0" marL="0">
              <a:buNone/>
            </a:pPr>
            <a:r>
              <a:rPr lang="en-US" sz="1600" b="1" dirty="0">
                <a:solidFill>
                  <a:srgbClr val="D9822B"/>
                </a:solidFill>
                <a:latin typeface="Calibri" pitchFamily="34" charset="0"/>
                <a:ea typeface="Calibri" pitchFamily="34" charset="-122"/>
                <a:cs typeface="Calibri" pitchFamily="34" charset="-120"/>
              </a:rPr>
              <a:t>Proyecto 1</a:t>
            </a:r>
            <a:endParaRPr lang="en-US" sz="1600" dirty="0"/>
          </a:p>
        </p:txBody>
      </p:sp>
      <p:sp>
        <p:nvSpPr>
          <p:cNvPr id="4" name="Text 1"/>
          <p:cNvSpPr txBox="1"/>
          <p:nvPr/>
        </p:nvSpPr>
        <p:spPr>
          <a:xfrm>
            <a:off x="548640" y="1325880"/>
            <a:ext cx="4389120" cy="17373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Segmentación y clasificación del estado de madurez de tomates</a:t>
            </a:r>
            <a:endParaRPr lang="en-US" sz="3000" dirty="0"/>
          </a:p>
        </p:txBody>
      </p:sp>
      <p:sp>
        <p:nvSpPr>
          <p:cNvPr id="5" name="Text 2"/>
          <p:cNvSpPr txBox="1"/>
          <p:nvPr/>
        </p:nvSpPr>
        <p:spPr>
          <a:xfrm>
            <a:off x="548640" y="3200400"/>
            <a:ext cx="4389120" cy="365760"/>
          </a:xfrm>
          <a:prstGeom prst="rect">
            <a:avLst/>
          </a:prstGeom>
          <a:noFill/>
          <a:ln/>
        </p:spPr>
        <p:txBody>
          <a:bodyPr wrap="square" lIns="0" tIns="0" rIns="0" bIns="0" rtlCol="0" anchor="ctr"/>
          <a:lstStyle/>
          <a:p>
            <a:pPr indent="0" marL="0">
              <a:buNone/>
            </a:pPr>
            <a:r>
              <a:rPr lang="en-US" sz="1400" dirty="0">
                <a:solidFill>
                  <a:srgbClr val="D6DCE0"/>
                </a:solidFill>
                <a:latin typeface="Calibri" pitchFamily="34" charset="0"/>
                <a:ea typeface="Calibri" pitchFamily="34" charset="-122"/>
                <a:cs typeface="Calibri" pitchFamily="34" charset="-120"/>
              </a:rPr>
              <a:t>K-Means · Bayes con razón de verosimilitudes · SFS · PCA</a:t>
            </a:r>
            <a:endParaRPr lang="en-US" sz="1400" dirty="0"/>
          </a:p>
        </p:txBody>
      </p:sp>
      <p:sp>
        <p:nvSpPr>
          <p:cNvPr id="6" name="Text 3"/>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200" dirty="0">
                <a:solidFill>
                  <a:srgbClr val="9AA5AD"/>
                </a:solidFill>
                <a:latin typeface="Calibri" pitchFamily="34" charset="0"/>
                <a:ea typeface="Calibri" pitchFamily="34" charset="-122"/>
                <a:cs typeface="Calibri" pitchFamily="34" charset="-120"/>
              </a:rPr>
              <a:t>Alexa Galeano y Victor Sepulveda · INFO1185 Inteligencia Artificial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Problema y objetivo</a:t>
            </a:r>
            <a:endParaRPr lang="en-US" sz="2600" dirty="0"/>
          </a:p>
        </p:txBody>
      </p:sp>
      <p:sp>
        <p:nvSpPr>
          <p:cNvPr id="5" name="Text 3"/>
          <p:cNvSpPr txBox="1"/>
          <p:nvPr/>
        </p:nvSpPr>
        <p:spPr>
          <a:xfrm>
            <a:off x="457200" y="960120"/>
            <a:ext cx="8229600" cy="54864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Decidir si un tomate está maduro o inmaduro a partir de una imagen RGB, usando únicamente los píxeles que un método no supervisado identifica como fruto.</a:t>
            </a:r>
            <a:endParaRPr lang="en-US" sz="1500" dirty="0"/>
          </a:p>
        </p:txBody>
      </p:sp>
      <p:sp>
        <p:nvSpPr>
          <p:cNvPr id="6" name="Shape 4"/>
          <p:cNvSpPr/>
          <p:nvPr/>
        </p:nvSpPr>
        <p:spPr>
          <a:xfrm>
            <a:off x="457200" y="1783080"/>
            <a:ext cx="1188720" cy="822960"/>
          </a:xfrm>
          <a:prstGeom prst="roundRect">
            <a:avLst>
              <a:gd name="adj" fmla="val 8889"/>
            </a:avLst>
          </a:prstGeom>
          <a:solidFill>
            <a:srgbClr val="B83227"/>
          </a:solidFill>
          <a:ln w="12700">
            <a:solidFill>
              <a:srgbClr val="B83227"/>
            </a:solidFill>
            <a:prstDash val="solid"/>
          </a:ln>
        </p:spPr>
      </p:sp>
      <p:sp>
        <p:nvSpPr>
          <p:cNvPr id="7" name="Text 5"/>
          <p:cNvSpPr txBox="1"/>
          <p:nvPr/>
        </p:nvSpPr>
        <p:spPr>
          <a:xfrm>
            <a:off x="457200" y="1783080"/>
            <a:ext cx="1188720" cy="822960"/>
          </a:xfrm>
          <a:prstGeom prst="rect">
            <a:avLst/>
          </a:prstGeom>
          <a:no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Imagen RGB</a:t>
            </a:r>
            <a:endParaRPr lang="en-US" sz="1150" dirty="0"/>
          </a:p>
        </p:txBody>
      </p:sp>
      <p:sp>
        <p:nvSpPr>
          <p:cNvPr id="8" name="Shape 6"/>
          <p:cNvSpPr/>
          <p:nvPr/>
        </p:nvSpPr>
        <p:spPr>
          <a:xfrm>
            <a:off x="1673352" y="2194560"/>
            <a:ext cx="182880" cy="0"/>
          </a:xfrm>
          <a:prstGeom prst="line">
            <a:avLst/>
          </a:prstGeom>
          <a:noFill/>
          <a:ln w="19050">
            <a:solidFill>
              <a:srgbClr val="5B6770"/>
            </a:solidFill>
            <a:prstDash val="solid"/>
            <a:tailEnd type="triangle"/>
          </a:ln>
        </p:spPr>
      </p:sp>
      <p:sp>
        <p:nvSpPr>
          <p:cNvPr id="9" name="Shape 7"/>
          <p:cNvSpPr/>
          <p:nvPr/>
        </p:nvSpPr>
        <p:spPr>
          <a:xfrm>
            <a:off x="1883664" y="1783080"/>
            <a:ext cx="1188720" cy="822960"/>
          </a:xfrm>
          <a:prstGeom prst="roundRect">
            <a:avLst>
              <a:gd name="adj" fmla="val 8889"/>
            </a:avLst>
          </a:prstGeom>
          <a:solidFill>
            <a:srgbClr val="B83227"/>
          </a:solidFill>
          <a:ln w="12700">
            <a:solidFill>
              <a:srgbClr val="B83227"/>
            </a:solidFill>
            <a:prstDash val="solid"/>
          </a:ln>
        </p:spPr>
      </p:sp>
      <p:sp>
        <p:nvSpPr>
          <p:cNvPr id="10" name="Text 8"/>
          <p:cNvSpPr txBox="1"/>
          <p:nvPr/>
        </p:nvSpPr>
        <p:spPr>
          <a:xfrm>
            <a:off x="1883664" y="1783080"/>
            <a:ext cx="1188720" cy="822960"/>
          </a:xfrm>
          <a:prstGeom prst="rect">
            <a:avLst/>
          </a:prstGeom>
          <a:no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K-Means k=2</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7 combinaciones</a:t>
            </a:r>
            <a:endParaRPr lang="en-US" sz="1150" dirty="0"/>
          </a:p>
        </p:txBody>
      </p:sp>
      <p:sp>
        <p:nvSpPr>
          <p:cNvPr id="11" name="Shape 9"/>
          <p:cNvSpPr/>
          <p:nvPr/>
        </p:nvSpPr>
        <p:spPr>
          <a:xfrm>
            <a:off x="3099816" y="2194560"/>
            <a:ext cx="182880" cy="0"/>
          </a:xfrm>
          <a:prstGeom prst="line">
            <a:avLst/>
          </a:prstGeom>
          <a:noFill/>
          <a:ln w="19050">
            <a:solidFill>
              <a:srgbClr val="5B6770"/>
            </a:solidFill>
            <a:prstDash val="solid"/>
            <a:tailEnd type="triangle"/>
          </a:ln>
        </p:spPr>
      </p:sp>
      <p:sp>
        <p:nvSpPr>
          <p:cNvPr id="12" name="Shape 10"/>
          <p:cNvSpPr/>
          <p:nvPr/>
        </p:nvSpPr>
        <p:spPr>
          <a:xfrm>
            <a:off x="3310128" y="1783080"/>
            <a:ext cx="1188720" cy="822960"/>
          </a:xfrm>
          <a:prstGeom prst="roundRect">
            <a:avLst>
              <a:gd name="adj" fmla="val 8889"/>
            </a:avLst>
          </a:prstGeom>
          <a:solidFill>
            <a:srgbClr val="B83227"/>
          </a:solidFill>
          <a:ln w="12700">
            <a:solidFill>
              <a:srgbClr val="B83227"/>
            </a:solidFill>
            <a:prstDash val="solid"/>
          </a:ln>
        </p:spPr>
      </p:sp>
      <p:sp>
        <p:nvSpPr>
          <p:cNvPr id="13" name="Text 11"/>
          <p:cNvSpPr txBox="1"/>
          <p:nvPr/>
        </p:nvSpPr>
        <p:spPr>
          <a:xfrm>
            <a:off x="3310128" y="1783080"/>
            <a:ext cx="1188720" cy="822960"/>
          </a:xfrm>
          <a:prstGeom prst="rect">
            <a:avLst/>
          </a:prstGeom>
          <a:no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Cluster fruto</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 post-proceso</a:t>
            </a:r>
            <a:endParaRPr lang="en-US" sz="1150" dirty="0"/>
          </a:p>
        </p:txBody>
      </p:sp>
      <p:sp>
        <p:nvSpPr>
          <p:cNvPr id="14" name="Shape 12"/>
          <p:cNvSpPr/>
          <p:nvPr/>
        </p:nvSpPr>
        <p:spPr>
          <a:xfrm>
            <a:off x="4526280" y="2194560"/>
            <a:ext cx="182880" cy="0"/>
          </a:xfrm>
          <a:prstGeom prst="line">
            <a:avLst/>
          </a:prstGeom>
          <a:noFill/>
          <a:ln w="19050">
            <a:solidFill>
              <a:srgbClr val="5B6770"/>
            </a:solidFill>
            <a:prstDash val="solid"/>
            <a:tailEnd type="triangle"/>
          </a:ln>
        </p:spPr>
      </p:sp>
      <p:sp>
        <p:nvSpPr>
          <p:cNvPr id="15" name="Shape 13"/>
          <p:cNvSpPr/>
          <p:nvPr/>
        </p:nvSpPr>
        <p:spPr>
          <a:xfrm>
            <a:off x="4736592" y="1783080"/>
            <a:ext cx="1188720" cy="822960"/>
          </a:xfrm>
          <a:prstGeom prst="roundRect">
            <a:avLst>
              <a:gd name="adj" fmla="val 8889"/>
            </a:avLst>
          </a:prstGeom>
          <a:solidFill>
            <a:srgbClr val="D9822B"/>
          </a:solidFill>
          <a:ln w="12700">
            <a:solidFill>
              <a:srgbClr val="D9822B"/>
            </a:solidFill>
            <a:prstDash val="solid"/>
          </a:ln>
        </p:spPr>
      </p:sp>
      <p:sp>
        <p:nvSpPr>
          <p:cNvPr id="16" name="Text 14"/>
          <p:cNvSpPr txBox="1"/>
          <p:nvPr/>
        </p:nvSpPr>
        <p:spPr>
          <a:xfrm>
            <a:off x="4736592" y="1783080"/>
            <a:ext cx="1188720" cy="822960"/>
          </a:xfrm>
          <a:prstGeom prst="rect">
            <a:avLst/>
          </a:prstGeom>
          <a:no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Descriptores</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de color</a:t>
            </a:r>
            <a:endParaRPr lang="en-US" sz="1150" dirty="0"/>
          </a:p>
        </p:txBody>
      </p:sp>
      <p:sp>
        <p:nvSpPr>
          <p:cNvPr id="17" name="Shape 15"/>
          <p:cNvSpPr/>
          <p:nvPr/>
        </p:nvSpPr>
        <p:spPr>
          <a:xfrm>
            <a:off x="5952744" y="2194560"/>
            <a:ext cx="182880" cy="0"/>
          </a:xfrm>
          <a:prstGeom prst="line">
            <a:avLst/>
          </a:prstGeom>
          <a:noFill/>
          <a:ln w="19050">
            <a:solidFill>
              <a:srgbClr val="5B6770"/>
            </a:solidFill>
            <a:prstDash val="solid"/>
            <a:tailEnd type="triangle"/>
          </a:ln>
        </p:spPr>
      </p:sp>
      <p:sp>
        <p:nvSpPr>
          <p:cNvPr id="18" name="Shape 16"/>
          <p:cNvSpPr/>
          <p:nvPr/>
        </p:nvSpPr>
        <p:spPr>
          <a:xfrm>
            <a:off x="6163056" y="1783080"/>
            <a:ext cx="1188720" cy="822960"/>
          </a:xfrm>
          <a:prstGeom prst="roundRect">
            <a:avLst>
              <a:gd name="adj" fmla="val 8889"/>
            </a:avLst>
          </a:prstGeom>
          <a:solidFill>
            <a:srgbClr val="D9822B"/>
          </a:solidFill>
          <a:ln w="12700">
            <a:solidFill>
              <a:srgbClr val="D9822B"/>
            </a:solidFill>
            <a:prstDash val="solid"/>
          </a:ln>
        </p:spPr>
      </p:sp>
      <p:sp>
        <p:nvSpPr>
          <p:cNvPr id="19" name="Text 17"/>
          <p:cNvSpPr txBox="1"/>
          <p:nvPr/>
        </p:nvSpPr>
        <p:spPr>
          <a:xfrm>
            <a:off x="6163056" y="1783080"/>
            <a:ext cx="1188720" cy="822960"/>
          </a:xfrm>
          <a:prstGeom prst="rect">
            <a:avLst/>
          </a:prstGeom>
          <a:no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Análisis · SFS</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 PCA</a:t>
            </a:r>
            <a:endParaRPr lang="en-US" sz="1150" dirty="0"/>
          </a:p>
        </p:txBody>
      </p:sp>
      <p:sp>
        <p:nvSpPr>
          <p:cNvPr id="20" name="Shape 18"/>
          <p:cNvSpPr/>
          <p:nvPr/>
        </p:nvSpPr>
        <p:spPr>
          <a:xfrm>
            <a:off x="7379208" y="2194560"/>
            <a:ext cx="182880" cy="0"/>
          </a:xfrm>
          <a:prstGeom prst="line">
            <a:avLst/>
          </a:prstGeom>
          <a:noFill/>
          <a:ln w="19050">
            <a:solidFill>
              <a:srgbClr val="5B6770"/>
            </a:solidFill>
            <a:prstDash val="solid"/>
            <a:tailEnd type="triangle"/>
          </a:ln>
        </p:spPr>
      </p:sp>
      <p:sp>
        <p:nvSpPr>
          <p:cNvPr id="21" name="Shape 19"/>
          <p:cNvSpPr/>
          <p:nvPr/>
        </p:nvSpPr>
        <p:spPr>
          <a:xfrm>
            <a:off x="7589520" y="1783080"/>
            <a:ext cx="1188720" cy="822960"/>
          </a:xfrm>
          <a:prstGeom prst="roundRect">
            <a:avLst>
              <a:gd name="adj" fmla="val 8889"/>
            </a:avLst>
          </a:prstGeom>
          <a:solidFill>
            <a:srgbClr val="4F7A28"/>
          </a:solidFill>
          <a:ln w="12700">
            <a:solidFill>
              <a:srgbClr val="4F7A28"/>
            </a:solidFill>
            <a:prstDash val="solid"/>
          </a:ln>
        </p:spPr>
      </p:sp>
      <p:sp>
        <p:nvSpPr>
          <p:cNvPr id="22" name="Text 20"/>
          <p:cNvSpPr txBox="1"/>
          <p:nvPr/>
        </p:nvSpPr>
        <p:spPr>
          <a:xfrm>
            <a:off x="7589520" y="1783080"/>
            <a:ext cx="1188720" cy="822960"/>
          </a:xfrm>
          <a:prstGeom prst="rect">
            <a:avLst/>
          </a:prstGeom>
          <a:no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Bayes</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ln Λ ≥ ln θ*</a:t>
            </a:r>
            <a:endParaRPr lang="en-US" sz="1150" dirty="0"/>
          </a:p>
        </p:txBody>
      </p:sp>
      <p:sp>
        <p:nvSpPr>
          <p:cNvPr id="23" name="Shape 21"/>
          <p:cNvSpPr/>
          <p:nvPr/>
        </p:nvSpPr>
        <p:spPr>
          <a:xfrm>
            <a:off x="457200" y="2926080"/>
            <a:ext cx="2651760" cy="1737360"/>
          </a:xfrm>
          <a:prstGeom prst="roundRect">
            <a:avLst>
              <a:gd name="adj" fmla="val 4211"/>
            </a:avLst>
          </a:prstGeom>
          <a:solidFill>
            <a:srgbClr val="F3F5F6"/>
          </a:solidFill>
          <a:ln w="12700">
            <a:solidFill>
              <a:srgbClr val="F3F5F6"/>
            </a:solidFill>
            <a:prstDash val="solid"/>
          </a:ln>
        </p:spPr>
      </p:sp>
      <p:sp>
        <p:nvSpPr>
          <p:cNvPr id="24" name="Text 22"/>
          <p:cNvSpPr txBox="1"/>
          <p:nvPr/>
        </p:nvSpPr>
        <p:spPr>
          <a:xfrm>
            <a:off x="594360" y="3017520"/>
            <a:ext cx="237744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No supervisado</a:t>
            </a:r>
            <a:endParaRPr lang="en-US" sz="1300" dirty="0"/>
          </a:p>
        </p:txBody>
      </p:sp>
      <p:sp>
        <p:nvSpPr>
          <p:cNvPr id="25" name="Text 23"/>
          <p:cNvSpPr txBox="1"/>
          <p:nvPr/>
        </p:nvSpPr>
        <p:spPr>
          <a:xfrm>
            <a:off x="594360" y="3337560"/>
            <a:ext cx="2377440" cy="123444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K-Means separa fruto y fondo por color; se evalúa con Jaccard contra la máscara anotada.</a:t>
            </a:r>
            <a:endParaRPr lang="en-US" sz="1200" dirty="0"/>
          </a:p>
        </p:txBody>
      </p:sp>
      <p:sp>
        <p:nvSpPr>
          <p:cNvPr id="26" name="Shape 24"/>
          <p:cNvSpPr/>
          <p:nvPr/>
        </p:nvSpPr>
        <p:spPr>
          <a:xfrm>
            <a:off x="3246120" y="2926080"/>
            <a:ext cx="2651760" cy="1737360"/>
          </a:xfrm>
          <a:prstGeom prst="roundRect">
            <a:avLst>
              <a:gd name="adj" fmla="val 4211"/>
            </a:avLst>
          </a:prstGeom>
          <a:solidFill>
            <a:srgbClr val="F3F5F6"/>
          </a:solidFill>
          <a:ln w="12700">
            <a:solidFill>
              <a:srgbClr val="F3F5F6"/>
            </a:solidFill>
            <a:prstDash val="solid"/>
          </a:ln>
        </p:spPr>
      </p:sp>
      <p:sp>
        <p:nvSpPr>
          <p:cNvPr id="27" name="Text 25"/>
          <p:cNvSpPr txBox="1"/>
          <p:nvPr/>
        </p:nvSpPr>
        <p:spPr>
          <a:xfrm>
            <a:off x="3383280" y="3017520"/>
            <a:ext cx="237744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Supervisado</a:t>
            </a:r>
            <a:endParaRPr lang="en-US" sz="1300" dirty="0"/>
          </a:p>
        </p:txBody>
      </p:sp>
      <p:sp>
        <p:nvSpPr>
          <p:cNvPr id="28" name="Text 26"/>
          <p:cNvSpPr txBox="1"/>
          <p:nvPr/>
        </p:nvSpPr>
        <p:spPr>
          <a:xfrm>
            <a:off x="3383280" y="3337560"/>
            <a:ext cx="2377440" cy="123444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Clasificador bayesiano gaussiano sobre descriptores del fruto; umbral por Youden.</a:t>
            </a:r>
            <a:endParaRPr lang="en-US" sz="1200" dirty="0"/>
          </a:p>
        </p:txBody>
      </p:sp>
      <p:sp>
        <p:nvSpPr>
          <p:cNvPr id="29" name="Shape 27"/>
          <p:cNvSpPr/>
          <p:nvPr/>
        </p:nvSpPr>
        <p:spPr>
          <a:xfrm>
            <a:off x="6035040" y="2926080"/>
            <a:ext cx="2651760" cy="1737360"/>
          </a:xfrm>
          <a:prstGeom prst="roundRect">
            <a:avLst>
              <a:gd name="adj" fmla="val 4211"/>
            </a:avLst>
          </a:prstGeom>
          <a:solidFill>
            <a:srgbClr val="F3F5F6"/>
          </a:solidFill>
          <a:ln w="12700">
            <a:solidFill>
              <a:srgbClr val="F3F5F6"/>
            </a:solidFill>
            <a:prstDash val="solid"/>
          </a:ln>
        </p:spPr>
      </p:sp>
      <p:sp>
        <p:nvSpPr>
          <p:cNvPr id="30" name="Text 28"/>
          <p:cNvSpPr txBox="1"/>
          <p:nvPr/>
        </p:nvSpPr>
        <p:spPr>
          <a:xfrm>
            <a:off x="6172200" y="3017520"/>
            <a:ext cx="237744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Preguntas</a:t>
            </a:r>
            <a:endParaRPr lang="en-US" sz="1300" dirty="0"/>
          </a:p>
        </p:txBody>
      </p:sp>
      <p:sp>
        <p:nvSpPr>
          <p:cNvPr id="31" name="Text 29"/>
          <p:cNvSpPr txBox="1"/>
          <p:nvPr/>
        </p:nvSpPr>
        <p:spPr>
          <a:xfrm>
            <a:off x="6172200" y="3337560"/>
            <a:ext cx="2377440" cy="123444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¿Qué canales segmentan mejor? ¿Qué variables distinguen la madurez? ¿Ayuda PCA? ¿Cuánto pesa la segmentación?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Descripción de los datos</a:t>
            </a:r>
            <a:endParaRPr lang="en-US" sz="2600" dirty="0"/>
          </a:p>
        </p:txBody>
      </p:sp>
      <p:sp>
        <p:nvSpPr>
          <p:cNvPr id="5" name="Text 3"/>
          <p:cNvSpPr txBox="1"/>
          <p:nvPr/>
        </p:nvSpPr>
        <p:spPr>
          <a:xfrm>
            <a:off x="457200" y="960120"/>
            <a:ext cx="1920240" cy="548640"/>
          </a:xfrm>
          <a:prstGeom prst="rect">
            <a:avLst/>
          </a:prstGeom>
          <a:noFill/>
          <a:ln/>
        </p:spPr>
        <p:txBody>
          <a:bodyPr wrap="square" lIns="0" tIns="0" rIns="0" bIns="0" rtlCol="0" anchor="ctr"/>
          <a:lstStyle/>
          <a:p>
            <a:pPr indent="0" marL="0">
              <a:buNone/>
            </a:pPr>
            <a:r>
              <a:rPr lang="en-US" sz="3000" b="1" dirty="0">
                <a:solidFill>
                  <a:srgbClr val="B83227"/>
                </a:solidFill>
                <a:latin typeface="Cambria" pitchFamily="34" charset="0"/>
                <a:ea typeface="Cambria" pitchFamily="34" charset="-122"/>
                <a:cs typeface="Cambria" pitchFamily="34" charset="-120"/>
              </a:rPr>
              <a:t>60</a:t>
            </a:r>
            <a:endParaRPr lang="en-US" sz="3000" dirty="0"/>
          </a:p>
        </p:txBody>
      </p:sp>
      <p:sp>
        <p:nvSpPr>
          <p:cNvPr id="6" name="Text 4"/>
          <p:cNvSpPr txBox="1"/>
          <p:nvPr/>
        </p:nvSpPr>
        <p:spPr>
          <a:xfrm>
            <a:off x="457200" y="1508760"/>
            <a:ext cx="192024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imágenes útiles (31 maduras / 29 inmaduras)</a:t>
            </a:r>
            <a:endParaRPr lang="en-US" sz="1100" dirty="0"/>
          </a:p>
        </p:txBody>
      </p:sp>
      <p:sp>
        <p:nvSpPr>
          <p:cNvPr id="7" name="Text 5"/>
          <p:cNvSpPr txBox="1"/>
          <p:nvPr/>
        </p:nvSpPr>
        <p:spPr>
          <a:xfrm>
            <a:off x="2514600" y="960120"/>
            <a:ext cx="1920240" cy="548640"/>
          </a:xfrm>
          <a:prstGeom prst="rect">
            <a:avLst/>
          </a:prstGeom>
          <a:noFill/>
          <a:ln/>
        </p:spPr>
        <p:txBody>
          <a:bodyPr wrap="square" lIns="0" tIns="0" rIns="0" bIns="0" rtlCol="0" anchor="ctr"/>
          <a:lstStyle/>
          <a:p>
            <a:pPr indent="0" marL="0">
              <a:buNone/>
            </a:pPr>
            <a:r>
              <a:rPr lang="en-US" sz="3000" b="1" dirty="0">
                <a:solidFill>
                  <a:srgbClr val="B83227"/>
                </a:solidFill>
                <a:latin typeface="Cambria" pitchFamily="34" charset="0"/>
                <a:ea typeface="Cambria" pitchFamily="34" charset="-122"/>
                <a:cs typeface="Cambria" pitchFamily="34" charset="-120"/>
              </a:rPr>
              <a:t>2</a:t>
            </a:r>
            <a:endParaRPr lang="en-US" sz="3000" dirty="0"/>
          </a:p>
        </p:txBody>
      </p:sp>
      <p:sp>
        <p:nvSpPr>
          <p:cNvPr id="8" name="Text 6"/>
          <p:cNvSpPr txBox="1"/>
          <p:nvPr/>
        </p:nvSpPr>
        <p:spPr>
          <a:xfrm>
            <a:off x="2514600" y="1508760"/>
            <a:ext cx="192024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duplicados exactos eliminados (MD5)</a:t>
            </a:r>
            <a:endParaRPr lang="en-US" sz="1100" dirty="0"/>
          </a:p>
        </p:txBody>
      </p:sp>
      <p:sp>
        <p:nvSpPr>
          <p:cNvPr id="9" name="Text 7"/>
          <p:cNvSpPr txBox="1"/>
          <p:nvPr/>
        </p:nvSpPr>
        <p:spPr>
          <a:xfrm>
            <a:off x="4572000" y="960120"/>
            <a:ext cx="1920240" cy="548640"/>
          </a:xfrm>
          <a:prstGeom prst="rect">
            <a:avLst/>
          </a:prstGeom>
          <a:noFill/>
          <a:ln/>
        </p:spPr>
        <p:txBody>
          <a:bodyPr wrap="square" lIns="0" tIns="0" rIns="0" bIns="0" rtlCol="0" anchor="ctr"/>
          <a:lstStyle/>
          <a:p>
            <a:pPr indent="0" marL="0">
              <a:buNone/>
            </a:pPr>
            <a:r>
              <a:rPr lang="en-US" sz="3000" b="1" dirty="0">
                <a:solidFill>
                  <a:srgbClr val="4F7A28"/>
                </a:solidFill>
                <a:latin typeface="Cambria" pitchFamily="34" charset="0"/>
                <a:ea typeface="Cambria" pitchFamily="34" charset="-122"/>
                <a:cs typeface="Cambria" pitchFamily="34" charset="-120"/>
              </a:rPr>
              <a:t>36/12/12</a:t>
            </a:r>
            <a:endParaRPr lang="en-US" sz="3000" dirty="0"/>
          </a:p>
        </p:txBody>
      </p:sp>
      <p:sp>
        <p:nvSpPr>
          <p:cNvPr id="10" name="Text 8"/>
          <p:cNvSpPr txBox="1"/>
          <p:nvPr/>
        </p:nvSpPr>
        <p:spPr>
          <a:xfrm>
            <a:off x="4572000" y="1508760"/>
            <a:ext cx="192024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entrenamiento / validación / test</a:t>
            </a:r>
            <a:endParaRPr lang="en-US" sz="1100" dirty="0"/>
          </a:p>
        </p:txBody>
      </p:sp>
      <p:sp>
        <p:nvSpPr>
          <p:cNvPr id="11" name="Text 9"/>
          <p:cNvSpPr txBox="1"/>
          <p:nvPr/>
        </p:nvSpPr>
        <p:spPr>
          <a:xfrm>
            <a:off x="6629400" y="960120"/>
            <a:ext cx="2103120" cy="548640"/>
          </a:xfrm>
          <a:prstGeom prst="rect">
            <a:avLst/>
          </a:prstGeom>
          <a:noFill/>
          <a:ln/>
        </p:spPr>
        <p:txBody>
          <a:bodyPr wrap="square" lIns="0" tIns="0" rIns="0" bIns="0" rtlCol="0" anchor="ctr"/>
          <a:lstStyle/>
          <a:p>
            <a:pPr indent="0" marL="0">
              <a:buNone/>
            </a:pPr>
            <a:r>
              <a:rPr lang="en-US" sz="3000" b="1" dirty="0">
                <a:solidFill>
                  <a:srgbClr val="D9822B"/>
                </a:solidFill>
                <a:latin typeface="Cambria" pitchFamily="34" charset="0"/>
                <a:ea typeface="Cambria" pitchFamily="34" charset="-122"/>
                <a:cs typeface="Cambria" pitchFamily="34" charset="-120"/>
              </a:rPr>
              <a:t>≤ 256 px</a:t>
            </a:r>
            <a:endParaRPr lang="en-US" sz="3000" dirty="0"/>
          </a:p>
        </p:txBody>
      </p:sp>
      <p:sp>
        <p:nvSpPr>
          <p:cNvPr id="12" name="Text 10"/>
          <p:cNvSpPr txBox="1"/>
          <p:nvPr/>
        </p:nvSpPr>
        <p:spPr>
          <a:xfrm>
            <a:off x="6629400" y="1508760"/>
            <a:ext cx="210312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lado máximo tras reducir (anchos originales 250–7792)</a:t>
            </a:r>
            <a:endParaRPr lang="en-US" sz="1100" dirty="0"/>
          </a:p>
        </p:txBody>
      </p:sp>
      <p:pic>
        <p:nvPicPr>
          <p:cNvPr id="13" name="Image 0" descr="/home/victor/Documents/Proyectos/ia/results/dataset_montage.png">    </p:cNvPr>
          <p:cNvPicPr>
            <a:picLocks noChangeAspect="1"/>
          </p:cNvPicPr>
          <p:nvPr/>
        </p:nvPicPr>
        <p:blipFill>
          <a:blip r:embed="rId1"/>
          <a:stretch>
            <a:fillRect/>
          </a:stretch>
        </p:blipFill>
        <p:spPr>
          <a:xfrm>
            <a:off x="457200" y="2247793"/>
            <a:ext cx="8229600" cy="1905213"/>
          </a:xfrm>
          <a:prstGeom prst="rect">
            <a:avLst/>
          </a:prstGeom>
        </p:spPr>
      </p:pic>
      <p:sp>
        <p:nvSpPr>
          <p:cNvPr id="14" name="Text 11"/>
          <p:cNvSpPr txBox="1"/>
          <p:nvPr/>
        </p:nvSpPr>
        <p:spPr>
          <a:xfrm>
            <a:off x="457200" y="4343400"/>
            <a:ext cx="8229600" cy="64008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Partición estratificada por imagen, semilla 20260913. Antes de particionar se detectaron y eliminaron dos pares de imágenes idénticas. Fondos simples (blanco) y complejos (follaje, platos, madera); varios frutos por imagen.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Metodología general y control de fuga</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5120640" cy="914400"/>
        </p:xfrm>
        <a:graphic>
          <a:graphicData uri="http://schemas.openxmlformats.org/drawingml/2006/table">
            <a:tbl>
              <a:tblPr/>
              <a:tblGrid>
                <a:gridCol w="2834640"/>
                <a:gridCol w="22860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Decisión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Datos usados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45720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Combinación de canales y post-procesado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Desarrollo (entrenamiento + validación)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45720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Selección por análisis, SFS, estandarización, PCA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Solo entrenamiento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45720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Umbral de la razón de verosimilitudes (Youden)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Validación, con el modelo de entrenamiento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45720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Métricas finales (AUC, exactitud, sens., espec.)</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Test: no interviene en decisiones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45720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Análisis complementarios (máscara, robustez)</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Test y 30 particiones; no cambian el sistema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sp>
        <p:nvSpPr>
          <p:cNvPr id="6" name="Shape 3"/>
          <p:cNvSpPr/>
          <p:nvPr/>
        </p:nvSpPr>
        <p:spPr>
          <a:xfrm>
            <a:off x="5852160" y="1005840"/>
            <a:ext cx="2834640" cy="1600200"/>
          </a:xfrm>
          <a:prstGeom prst="roundRect">
            <a:avLst>
              <a:gd name="adj" fmla="val 4571"/>
            </a:avLst>
          </a:prstGeom>
          <a:solidFill>
            <a:srgbClr val="F3F5F6"/>
          </a:solidFill>
          <a:ln w="12700">
            <a:solidFill>
              <a:srgbClr val="F3F5F6"/>
            </a:solidFill>
            <a:prstDash val="solid"/>
          </a:ln>
        </p:spPr>
      </p:sp>
      <p:sp>
        <p:nvSpPr>
          <p:cNvPr id="7" name="Text 4"/>
          <p:cNvSpPr txBox="1"/>
          <p:nvPr/>
        </p:nvSpPr>
        <p:spPr>
          <a:xfrm>
            <a:off x="5989320" y="1097280"/>
            <a:ext cx="256032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Reproducible</a:t>
            </a:r>
            <a:endParaRPr lang="en-US" sz="1300" dirty="0"/>
          </a:p>
        </p:txBody>
      </p:sp>
      <p:sp>
        <p:nvSpPr>
          <p:cNvPr id="8" name="Text 5"/>
          <p:cNvSpPr txBox="1"/>
          <p:nvPr/>
        </p:nvSpPr>
        <p:spPr>
          <a:xfrm>
            <a:off x="5989320" y="1417320"/>
            <a:ext cx="2560320" cy="109728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Semilla 20260913 en partición, muestreo de píxeles, K-Means y validación cruzada. Parámetros en tomato/config.py.</a:t>
            </a:r>
            <a:endParaRPr lang="en-US" sz="1200" dirty="0"/>
          </a:p>
        </p:txBody>
      </p:sp>
      <p:sp>
        <p:nvSpPr>
          <p:cNvPr id="9" name="Shape 6"/>
          <p:cNvSpPr/>
          <p:nvPr/>
        </p:nvSpPr>
        <p:spPr>
          <a:xfrm>
            <a:off x="5852160" y="2743200"/>
            <a:ext cx="2834640" cy="1600200"/>
          </a:xfrm>
          <a:prstGeom prst="roundRect">
            <a:avLst>
              <a:gd name="adj" fmla="val 4571"/>
            </a:avLst>
          </a:prstGeom>
          <a:solidFill>
            <a:srgbClr val="F3F5F6"/>
          </a:solidFill>
          <a:ln w="12700">
            <a:solidFill>
              <a:srgbClr val="F3F5F6"/>
            </a:solidFill>
            <a:prstDash val="solid"/>
          </a:ln>
        </p:spPr>
      </p:sp>
      <p:sp>
        <p:nvSpPr>
          <p:cNvPr id="10" name="Text 7"/>
          <p:cNvSpPr txBox="1"/>
          <p:nvPr/>
        </p:nvSpPr>
        <p:spPr>
          <a:xfrm>
            <a:off x="5989320" y="2834640"/>
            <a:ext cx="256032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Trazable</a:t>
            </a:r>
            <a:endParaRPr lang="en-US" sz="1300" dirty="0"/>
          </a:p>
        </p:txBody>
      </p:sp>
      <p:sp>
        <p:nvSpPr>
          <p:cNvPr id="11" name="Text 8"/>
          <p:cNvSpPr txBox="1"/>
          <p:nvPr/>
        </p:nvSpPr>
        <p:spPr>
          <a:xfrm>
            <a:off x="5989320" y="3154680"/>
            <a:ext cx="2560320" cy="109728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Las tablas y cifras del informe y de esta presentación se generan desde los resultados del código.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Análisis exploratorio: fruto vs fondo</a:t>
            </a:r>
            <a:endParaRPr lang="en-US" sz="2600" dirty="0"/>
          </a:p>
        </p:txBody>
      </p:sp>
      <p:pic>
        <p:nvPicPr>
          <p:cNvPr id="5" name="Image 0" descr="/home/victor/Documents/Proyectos/ia/results/pixel_hist_fruit_background.png">    </p:cNvPr>
          <p:cNvPicPr>
            <a:picLocks noChangeAspect="1"/>
          </p:cNvPicPr>
          <p:nvPr/>
        </p:nvPicPr>
        <p:blipFill>
          <a:blip r:embed="rId1"/>
          <a:stretch>
            <a:fillRect/>
          </a:stretch>
        </p:blipFill>
        <p:spPr>
          <a:xfrm>
            <a:off x="473249" y="868680"/>
            <a:ext cx="8197503" cy="3474720"/>
          </a:xfrm>
          <a:prstGeom prst="rect">
            <a:avLst/>
          </a:prstGeom>
        </p:spPr>
      </p:pic>
      <p:sp>
        <p:nvSpPr>
          <p:cNvPr id="6" name="Shape 3"/>
          <p:cNvSpPr/>
          <p:nvPr/>
        </p:nvSpPr>
        <p:spPr>
          <a:xfrm>
            <a:off x="457200" y="4389120"/>
            <a:ext cx="2651760" cy="640080"/>
          </a:xfrm>
          <a:prstGeom prst="roundRect">
            <a:avLst>
              <a:gd name="adj" fmla="val 11429"/>
            </a:avLst>
          </a:prstGeom>
          <a:solidFill>
            <a:srgbClr val="F3F5F6"/>
          </a:solidFill>
          <a:ln w="12700">
            <a:solidFill>
              <a:srgbClr val="F3F5F6"/>
            </a:solidFill>
            <a:prstDash val="solid"/>
          </a:ln>
        </p:spPr>
      </p:sp>
      <p:sp>
        <p:nvSpPr>
          <p:cNvPr id="7" name="Text 4"/>
          <p:cNvSpPr txBox="1"/>
          <p:nvPr/>
        </p:nvSpPr>
        <p:spPr>
          <a:xfrm>
            <a:off x="594360" y="4480560"/>
            <a:ext cx="237744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Fruto: S alto, B bajo</a:t>
            </a:r>
            <a:endParaRPr lang="en-US" sz="1300" dirty="0"/>
          </a:p>
        </p:txBody>
      </p:sp>
      <p:sp>
        <p:nvSpPr>
          <p:cNvPr id="8" name="Text 5"/>
          <p:cNvSpPr txBox="1"/>
          <p:nvPr/>
        </p:nvSpPr>
        <p:spPr>
          <a:xfrm>
            <a:off x="594360" y="4800600"/>
            <a:ext cx="2377440" cy="137160"/>
          </a:xfrm>
          <a:prstGeom prst="rect">
            <a:avLst/>
          </a:prstGeom>
          <a:noFill/>
          <a:ln/>
        </p:spPr>
        <p:txBody>
          <a:bodyPr wrap="square" lIns="0" tIns="0" rIns="0" bIns="0" rtlCol="0" anchor="t"/>
          <a:lstStyle/>
          <a:p>
            <a:pPr indent="0" marL="0">
              <a:buNone/>
            </a:pPr>
            <a:endParaRPr lang="en-US" sz="1200" dirty="0"/>
          </a:p>
        </p:txBody>
      </p:sp>
      <p:sp>
        <p:nvSpPr>
          <p:cNvPr id="9" name="Shape 6"/>
          <p:cNvSpPr/>
          <p:nvPr/>
        </p:nvSpPr>
        <p:spPr>
          <a:xfrm>
            <a:off x="3246120" y="4389120"/>
            <a:ext cx="2651760" cy="640080"/>
          </a:xfrm>
          <a:prstGeom prst="roundRect">
            <a:avLst>
              <a:gd name="adj" fmla="val 11429"/>
            </a:avLst>
          </a:prstGeom>
          <a:solidFill>
            <a:srgbClr val="F3F5F6"/>
          </a:solidFill>
          <a:ln w="12700">
            <a:solidFill>
              <a:srgbClr val="F3F5F6"/>
            </a:solidFill>
            <a:prstDash val="solid"/>
          </a:ln>
        </p:spPr>
      </p:sp>
      <p:sp>
        <p:nvSpPr>
          <p:cNvPr id="10" name="Text 7"/>
          <p:cNvSpPr txBox="1"/>
          <p:nvPr/>
        </p:nvSpPr>
        <p:spPr>
          <a:xfrm>
            <a:off x="3383280" y="4480560"/>
            <a:ext cx="2377440" cy="292608"/>
          </a:xfrm>
          <a:prstGeom prst="rect">
            <a:avLst/>
          </a:prstGeom>
          <a:noFill/>
          <a:ln/>
        </p:spPr>
        <p:txBody>
          <a:bodyPr wrap="square" lIns="0" tIns="0" rIns="0" bIns="0" rtlCol="0" anchor="ctr"/>
          <a:lstStyle/>
          <a:p>
            <a:pPr indent="0" marL="0">
              <a:buNone/>
            </a:pPr>
            <a:r>
              <a:rPr lang="en-US" sz="1300" b="1" dirty="0">
                <a:solidFill>
                  <a:srgbClr val="5B6770"/>
                </a:solidFill>
                <a:latin typeface="Calibri" pitchFamily="34" charset="0"/>
                <a:ea typeface="Calibri" pitchFamily="34" charset="-122"/>
                <a:cs typeface="Calibri" pitchFamily="34" charset="-120"/>
              </a:rPr>
              <a:t>Fondo muy variable</a:t>
            </a:r>
            <a:endParaRPr lang="en-US" sz="1300" dirty="0"/>
          </a:p>
        </p:txBody>
      </p:sp>
      <p:sp>
        <p:nvSpPr>
          <p:cNvPr id="11" name="Text 8"/>
          <p:cNvSpPr txBox="1"/>
          <p:nvPr/>
        </p:nvSpPr>
        <p:spPr>
          <a:xfrm>
            <a:off x="3383280" y="4800600"/>
            <a:ext cx="2377440" cy="137160"/>
          </a:xfrm>
          <a:prstGeom prst="rect">
            <a:avLst/>
          </a:prstGeom>
          <a:noFill/>
          <a:ln/>
        </p:spPr>
        <p:txBody>
          <a:bodyPr wrap="square" lIns="0" tIns="0" rIns="0" bIns="0" rtlCol="0" anchor="t"/>
          <a:lstStyle/>
          <a:p>
            <a:pPr indent="0" marL="0">
              <a:buNone/>
            </a:pPr>
            <a:endParaRPr lang="en-US" sz="1200" dirty="0"/>
          </a:p>
        </p:txBody>
      </p:sp>
      <p:sp>
        <p:nvSpPr>
          <p:cNvPr id="12" name="Shape 9"/>
          <p:cNvSpPr/>
          <p:nvPr/>
        </p:nvSpPr>
        <p:spPr>
          <a:xfrm>
            <a:off x="6035040" y="4389120"/>
            <a:ext cx="2651760" cy="640080"/>
          </a:xfrm>
          <a:prstGeom prst="roundRect">
            <a:avLst>
              <a:gd name="adj" fmla="val 11429"/>
            </a:avLst>
          </a:prstGeom>
          <a:solidFill>
            <a:srgbClr val="F3F5F6"/>
          </a:solidFill>
          <a:ln w="12700">
            <a:solidFill>
              <a:srgbClr val="F3F5F6"/>
            </a:solidFill>
            <a:prstDash val="solid"/>
          </a:ln>
        </p:spPr>
      </p:sp>
      <p:sp>
        <p:nvSpPr>
          <p:cNvPr id="13" name="Text 10"/>
          <p:cNvSpPr txBox="1"/>
          <p:nvPr/>
        </p:nvSpPr>
        <p:spPr>
          <a:xfrm>
            <a:off x="6172200" y="4480560"/>
            <a:ext cx="237744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Tomate verde ≈ follaje</a:t>
            </a:r>
            <a:endParaRPr lang="en-US" sz="1300" dirty="0"/>
          </a:p>
        </p:txBody>
      </p:sp>
      <p:sp>
        <p:nvSpPr>
          <p:cNvPr id="14" name="Text 11"/>
          <p:cNvSpPr txBox="1"/>
          <p:nvPr/>
        </p:nvSpPr>
        <p:spPr>
          <a:xfrm>
            <a:off x="6172200" y="4800600"/>
            <a:ext cx="2377440" cy="137160"/>
          </a:xfrm>
          <a:prstGeom prst="rect">
            <a:avLst/>
          </a:prstGeom>
          <a:noFill/>
          <a:ln/>
        </p:spPr>
        <p:txBody>
          <a:bodyPr wrap="square" lIns="0" tIns="0" rIns="0" bIns="0" rtlCol="0" anchor="t"/>
          <a:lstStyle/>
          <a:p>
            <a:pP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Análisis exploratorio: maduro vs inmaduro</a:t>
            </a:r>
            <a:endParaRPr lang="en-US" sz="2600" dirty="0"/>
          </a:p>
        </p:txBody>
      </p:sp>
      <p:pic>
        <p:nvPicPr>
          <p:cNvPr id="5" name="Image 0" descr="/home/victor/Documents/Proyectos/ia/results/pixel_hist_ripe_unripe.png">    </p:cNvPr>
          <p:cNvPicPr>
            <a:picLocks noChangeAspect="1"/>
          </p:cNvPicPr>
          <p:nvPr/>
        </p:nvPicPr>
        <p:blipFill>
          <a:blip r:embed="rId1"/>
          <a:stretch>
            <a:fillRect/>
          </a:stretch>
        </p:blipFill>
        <p:spPr>
          <a:xfrm>
            <a:off x="473249" y="868680"/>
            <a:ext cx="8197503" cy="3474720"/>
          </a:xfrm>
          <a:prstGeom prst="rect">
            <a:avLst/>
          </a:prstGeom>
        </p:spPr>
      </p:pic>
      <p:sp>
        <p:nvSpPr>
          <p:cNvPr id="6" name="Shape 3"/>
          <p:cNvSpPr/>
          <p:nvPr/>
        </p:nvSpPr>
        <p:spPr>
          <a:xfrm>
            <a:off x="457200" y="4389120"/>
            <a:ext cx="4023360" cy="640080"/>
          </a:xfrm>
          <a:prstGeom prst="roundRect">
            <a:avLst>
              <a:gd name="adj" fmla="val 11429"/>
            </a:avLst>
          </a:prstGeom>
          <a:solidFill>
            <a:srgbClr val="F3F5F6"/>
          </a:solidFill>
          <a:ln w="12700">
            <a:solidFill>
              <a:srgbClr val="F3F5F6"/>
            </a:solidFill>
            <a:prstDash val="solid"/>
          </a:ln>
        </p:spPr>
      </p:sp>
      <p:sp>
        <p:nvSpPr>
          <p:cNvPr id="7" name="Text 4"/>
          <p:cNvSpPr txBox="1"/>
          <p:nvPr/>
        </p:nvSpPr>
        <p:spPr>
          <a:xfrm>
            <a:off x="594360" y="4480560"/>
            <a:ext cx="374904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H y a* separan las clases; R sube y G baja</a:t>
            </a:r>
            <a:endParaRPr lang="en-US" sz="1300" dirty="0"/>
          </a:p>
        </p:txBody>
      </p:sp>
      <p:sp>
        <p:nvSpPr>
          <p:cNvPr id="8" name="Text 5"/>
          <p:cNvSpPr txBox="1"/>
          <p:nvPr/>
        </p:nvSpPr>
        <p:spPr>
          <a:xfrm>
            <a:off x="594360" y="4800600"/>
            <a:ext cx="3749040" cy="137160"/>
          </a:xfrm>
          <a:prstGeom prst="rect">
            <a:avLst/>
          </a:prstGeom>
          <a:noFill/>
          <a:ln/>
        </p:spPr>
        <p:txBody>
          <a:bodyPr wrap="square" lIns="0" tIns="0" rIns="0" bIns="0" rtlCol="0" anchor="t"/>
          <a:lstStyle/>
          <a:p>
            <a:pPr indent="0" marL="0">
              <a:buNone/>
            </a:pPr>
            <a:endParaRPr lang="en-US" sz="1200" dirty="0"/>
          </a:p>
        </p:txBody>
      </p:sp>
      <p:sp>
        <p:nvSpPr>
          <p:cNvPr id="9" name="Shape 6"/>
          <p:cNvSpPr/>
          <p:nvPr/>
        </p:nvSpPr>
        <p:spPr>
          <a:xfrm>
            <a:off x="4617720" y="4389120"/>
            <a:ext cx="4069080" cy="640080"/>
          </a:xfrm>
          <a:prstGeom prst="roundRect">
            <a:avLst>
              <a:gd name="adj" fmla="val 11429"/>
            </a:avLst>
          </a:prstGeom>
          <a:solidFill>
            <a:srgbClr val="F3F5F6"/>
          </a:solidFill>
          <a:ln w="12700">
            <a:solidFill>
              <a:srgbClr val="F3F5F6"/>
            </a:solidFill>
            <a:prstDash val="solid"/>
          </a:ln>
        </p:spPr>
      </p:sp>
      <p:sp>
        <p:nvSpPr>
          <p:cNvPr id="10" name="Text 7"/>
          <p:cNvSpPr txBox="1"/>
          <p:nvPr/>
        </p:nvSpPr>
        <p:spPr>
          <a:xfrm>
            <a:off x="4754880" y="4480560"/>
            <a:ext cx="379476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H circular: media de 5° y 355° ≠ 180°</a:t>
            </a:r>
            <a:endParaRPr lang="en-US" sz="1300" dirty="0"/>
          </a:p>
        </p:txBody>
      </p:sp>
      <p:sp>
        <p:nvSpPr>
          <p:cNvPr id="11" name="Text 8"/>
          <p:cNvSpPr txBox="1"/>
          <p:nvPr/>
        </p:nvSpPr>
        <p:spPr>
          <a:xfrm>
            <a:off x="4754880" y="4800600"/>
            <a:ext cx="3794760" cy="137160"/>
          </a:xfrm>
          <a:prstGeom prst="rect">
            <a:avLst/>
          </a:prstGeom>
          <a:noFill/>
          <a:ln/>
        </p:spPr>
        <p:txBody>
          <a:bodyPr wrap="square" lIns="0" tIns="0" rIns="0" bIns="0" rtlCol="0" anchor="t"/>
          <a:lstStyle/>
          <a:p>
            <a:pP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Segmentación con K-Means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4846320" cy="914400"/>
        </p:xfrm>
        <a:graphic>
          <a:graphicData uri="http://schemas.openxmlformats.org/drawingml/2006/table">
            <a:tbl>
              <a:tblPr/>
              <a:tblGrid>
                <a:gridCol w="1234440"/>
                <a:gridCol w="3611880"/>
              </a:tblGrid>
              <a:tr h="38404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Clusters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k = 2 (fruto / fondo), un modelo por imagen y combinación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38404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Inicialización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k-means++, 10 reinicios (menor inercia)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38404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Convergencia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Δ centroides &lt; 1e-4 o 300 iteraciones (máx. observado: 28)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38404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Semilla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20260913; ajuste con 12.000 píxeles, asignación de todos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38404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Cluster fruto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puntaje de objeto: brillo, saturación, compacidad, centralidad, área, borde</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532120" y="960120"/>
          <a:ext cx="3154680" cy="914400"/>
        </p:xfrm>
        <a:graphic>
          <a:graphicData uri="http://schemas.openxmlformats.org/drawingml/2006/table">
            <a:tbl>
              <a:tblPr/>
              <a:tblGrid>
                <a:gridCol w="594360"/>
                <a:gridCol w="640080"/>
                <a:gridCol w="640080"/>
                <a:gridCol w="640080"/>
                <a:gridCol w="640080"/>
              </a:tblGrid>
              <a:tr h="2468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Canales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Puntaje</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Mín. borde</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Máx. sat.</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Oráculo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0.528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0.504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0.416</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0.541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0.510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0.470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0.477</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0.543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0.543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0.472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0.545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0.559</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RG</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0.557</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0.550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0.471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0.575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RB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0.568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0.552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0.494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0.578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GB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0.538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0.496</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0.516</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0.565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RGB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0.552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0.535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0.499</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0.574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sp>
        <p:nvSpPr>
          <p:cNvPr id="7" name="Text 3"/>
          <p:cNvSpPr txBox="1"/>
          <p:nvPr/>
        </p:nvSpPr>
        <p:spPr>
          <a:xfrm>
            <a:off x="5532120" y="3063240"/>
            <a:ext cx="3154680" cy="1097280"/>
          </a:xfrm>
          <a:prstGeom prst="rect">
            <a:avLst/>
          </a:prstGeom>
          <a:noFill/>
          <a:ln/>
        </p:spPr>
        <p:txBody>
          <a:bodyPr wrap="square" lIns="0" tIns="0" rIns="0" bIns="0" rtlCol="0" anchor="t"/>
          <a:lstStyle/>
          <a:p>
            <a:pPr indent="0" marL="0">
              <a:buNone/>
            </a:pPr>
            <a:r>
              <a:rPr lang="en-US" sz="1050" dirty="0">
                <a:solidFill>
                  <a:srgbClr val="5B6770"/>
                </a:solidFill>
                <a:latin typeface="Calibri" pitchFamily="34" charset="0"/>
                <a:ea typeface="Calibri" pitchFamily="34" charset="-122"/>
                <a:cs typeface="Calibri" pitchFamily="34" charset="-120"/>
              </a:rPr>
              <a:t>Jaccard medio en desarrollo según la regla para elegir el cluster fruto. El puntaje de objeto gana en 6 de 7 combinaciones y queda cerca del oráculo: el límite es K-Means, no la regla.</a:t>
            </a:r>
            <a:endParaRPr lang="en-US" sz="1050" dirty="0"/>
          </a:p>
        </p:txBody>
      </p:sp>
      <p:sp>
        <p:nvSpPr>
          <p:cNvPr id="8" name="Text 4"/>
          <p:cNvSpPr txBox="1"/>
          <p:nvPr/>
        </p:nvSpPr>
        <p:spPr>
          <a:xfrm>
            <a:off x="457200" y="3063240"/>
            <a:ext cx="4846320" cy="365760"/>
          </a:xfrm>
          <a:prstGeom prst="rect">
            <a:avLst/>
          </a:prstGeom>
          <a:noFill/>
          <a:ln/>
        </p:spPr>
        <p:txBody>
          <a:bodyPr wrap="square" lIns="0" tIns="0" rIns="0" bIns="0" rtlCol="0" anchor="t"/>
          <a:lstStyle/>
          <a:p>
            <a:pPr indent="0" marL="0">
              <a:buNone/>
            </a:pPr>
            <a:r>
              <a:rPr lang="en-US" sz="1200" i="1" dirty="0">
                <a:solidFill>
                  <a:srgbClr val="1F2933"/>
                </a:solidFill>
                <a:latin typeface="Calibri" pitchFamily="34" charset="0"/>
                <a:ea typeface="Calibri" pitchFamily="34" charset="-122"/>
                <a:cs typeface="Calibri" pitchFamily="34" charset="-120"/>
              </a:rPr>
              <a:t>La máscara de referencia solo se usa para calcular J = |A∩B| / |A∪B|.</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Comparación de las siete combinaciones (Jaccard)</a:t>
            </a:r>
            <a:endParaRPr lang="en-US" sz="2600" dirty="0"/>
          </a:p>
        </p:txBody>
      </p:sp>
      <p:graphicFrame>
        <p:nvGraphicFramePr>
          <p:cNvPr id="5" name="Chart 0" descr=""/>
          <p:cNvGraphicFramePr/>
          <p:nvPr/>
        </p:nvGraphicFramePr>
        <p:xfrm>
          <a:off x="365760" y="9144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309360" y="1005840"/>
            <a:ext cx="2468880" cy="548640"/>
          </a:xfrm>
          <a:prstGeom prst="rect">
            <a:avLst/>
          </a:prstGeom>
          <a:noFill/>
          <a:ln/>
        </p:spPr>
        <p:txBody>
          <a:bodyPr wrap="square" lIns="0" tIns="0" rIns="0" bIns="0" rtlCol="0" anchor="ctr"/>
          <a:lstStyle/>
          <a:p>
            <a:pPr indent="0" marL="0">
              <a:buNone/>
            </a:pPr>
            <a:r>
              <a:rPr lang="en-US" sz="3000" b="1" dirty="0">
                <a:solidFill>
                  <a:srgbClr val="B83227"/>
                </a:solidFill>
                <a:latin typeface="Cambria" pitchFamily="34" charset="0"/>
                <a:ea typeface="Cambria" pitchFamily="34" charset="-122"/>
                <a:cs typeface="Cambria" pitchFamily="34" charset="-120"/>
              </a:rPr>
              <a:t>RB</a:t>
            </a:r>
            <a:endParaRPr lang="en-US" sz="3000" dirty="0"/>
          </a:p>
        </p:txBody>
      </p:sp>
      <p:sp>
        <p:nvSpPr>
          <p:cNvPr id="7" name="Text 4"/>
          <p:cNvSpPr txBox="1"/>
          <p:nvPr/>
        </p:nvSpPr>
        <p:spPr>
          <a:xfrm>
            <a:off x="6309360" y="1554480"/>
            <a:ext cx="246888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mejor combinación (J = 0.568)</a:t>
            </a:r>
            <a:endParaRPr lang="en-US" sz="1100" dirty="0"/>
          </a:p>
        </p:txBody>
      </p:sp>
      <p:sp>
        <p:nvSpPr>
          <p:cNvPr id="8" name="Text 5"/>
          <p:cNvSpPr txBox="1"/>
          <p:nvPr/>
        </p:nvSpPr>
        <p:spPr>
          <a:xfrm>
            <a:off x="6309360" y="2011680"/>
            <a:ext cx="2468880" cy="548640"/>
          </a:xfrm>
          <a:prstGeom prst="rect">
            <a:avLst/>
          </a:prstGeom>
          <a:noFill/>
          <a:ln/>
        </p:spPr>
        <p:txBody>
          <a:bodyPr wrap="square" lIns="0" tIns="0" rIns="0" bIns="0" rtlCol="0" anchor="ctr"/>
          <a:lstStyle/>
          <a:p>
            <a:pPr indent="0" marL="0">
              <a:buNone/>
            </a:pPr>
            <a:r>
              <a:rPr lang="en-US" sz="3000" b="1" dirty="0">
                <a:solidFill>
                  <a:srgbClr val="D9822B"/>
                </a:solidFill>
                <a:latin typeface="Cambria" pitchFamily="34" charset="0"/>
                <a:ea typeface="Cambria" pitchFamily="34" charset="-122"/>
                <a:cs typeface="Cambria" pitchFamily="34" charset="-120"/>
              </a:rPr>
              <a:t>0.606</a:t>
            </a:r>
            <a:endParaRPr lang="en-US" sz="3000" dirty="0"/>
          </a:p>
        </p:txBody>
      </p:sp>
      <p:sp>
        <p:nvSpPr>
          <p:cNvPr id="9" name="Text 6"/>
          <p:cNvSpPr txBox="1"/>
          <p:nvPr/>
        </p:nvSpPr>
        <p:spPr>
          <a:xfrm>
            <a:off x="6309360" y="2560320"/>
            <a:ext cx="246888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con post-procesado morfológico</a:t>
            </a:r>
            <a:endParaRPr lang="en-US" sz="1100" dirty="0"/>
          </a:p>
        </p:txBody>
      </p:sp>
      <p:sp>
        <p:nvSpPr>
          <p:cNvPr id="10" name="Text 7"/>
          <p:cNvSpPr txBox="1"/>
          <p:nvPr/>
        </p:nvSpPr>
        <p:spPr>
          <a:xfrm>
            <a:off x="6309360" y="3063240"/>
            <a:ext cx="2468880" cy="173736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Diferencia mejor–peor (G): 0.058, frente a DE entre imágenes ≈ 0.28: ranking débil. R separa rojo de verde; B separa objetos saturados de fondos claros. Test: J = 0.460 (máscara final con post-proceso: 0.457).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Ejemplos de segmentación (RB)</a:t>
            </a:r>
            <a:endParaRPr lang="en-US" sz="2600" dirty="0"/>
          </a:p>
        </p:txBody>
      </p:sp>
      <p:pic>
        <p:nvPicPr>
          <p:cNvPr id="5" name="Image 0" descr="/home/victor/Documents/Proyectos/ia/results/segmentation_examples.png">    </p:cNvPr>
          <p:cNvPicPr>
            <a:picLocks noChangeAspect="1"/>
          </p:cNvPicPr>
          <p:nvPr/>
        </p:nvPicPr>
        <p:blipFill>
          <a:blip r:embed="rId1"/>
          <a:stretch>
            <a:fillRect/>
          </a:stretch>
        </p:blipFill>
        <p:spPr>
          <a:xfrm>
            <a:off x="365760" y="1274310"/>
            <a:ext cx="5760720" cy="3303541"/>
          </a:xfrm>
          <a:prstGeom prst="rect">
            <a:avLst/>
          </a:prstGeom>
        </p:spPr>
      </p:pic>
      <p:sp>
        <p:nvSpPr>
          <p:cNvPr id="6" name="Shape 3"/>
          <p:cNvSpPr/>
          <p:nvPr/>
        </p:nvSpPr>
        <p:spPr>
          <a:xfrm>
            <a:off x="6309360" y="960120"/>
            <a:ext cx="2423160" cy="1828800"/>
          </a:xfrm>
          <a:prstGeom prst="roundRect">
            <a:avLst>
              <a:gd name="adj" fmla="val 4000"/>
            </a:avLst>
          </a:prstGeom>
          <a:solidFill>
            <a:srgbClr val="F3F5F6"/>
          </a:solidFill>
          <a:ln w="12700">
            <a:solidFill>
              <a:srgbClr val="F3F5F6"/>
            </a:solidFill>
            <a:prstDash val="solid"/>
          </a:ln>
        </p:spPr>
      </p:sp>
      <p:sp>
        <p:nvSpPr>
          <p:cNvPr id="7" name="Text 4"/>
          <p:cNvSpPr txBox="1"/>
          <p:nvPr/>
        </p:nvSpPr>
        <p:spPr>
          <a:xfrm>
            <a:off x="6446520" y="1051560"/>
            <a:ext cx="214884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Fallo típico</a:t>
            </a:r>
            <a:endParaRPr lang="en-US" sz="1300" dirty="0"/>
          </a:p>
        </p:txBody>
      </p:sp>
      <p:sp>
        <p:nvSpPr>
          <p:cNvPr id="8" name="Text 5"/>
          <p:cNvSpPr txBox="1"/>
          <p:nvPr/>
        </p:nvSpPr>
        <p:spPr>
          <a:xfrm>
            <a:off x="6446520" y="1371600"/>
            <a:ext cx="2148840" cy="132588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Fondo bimodal o follaje brillante: los dos clusters separan dos fondos y el tomate queda repartido.</a:t>
            </a:r>
            <a:endParaRPr lang="en-US" sz="1150" dirty="0"/>
          </a:p>
        </p:txBody>
      </p:sp>
      <p:sp>
        <p:nvSpPr>
          <p:cNvPr id="9" name="Shape 6"/>
          <p:cNvSpPr/>
          <p:nvPr/>
        </p:nvSpPr>
        <p:spPr>
          <a:xfrm>
            <a:off x="6309360" y="2926080"/>
            <a:ext cx="2423160" cy="1828800"/>
          </a:xfrm>
          <a:prstGeom prst="roundRect">
            <a:avLst>
              <a:gd name="adj" fmla="val 4000"/>
            </a:avLst>
          </a:prstGeom>
          <a:solidFill>
            <a:srgbClr val="F3F5F6"/>
          </a:solidFill>
          <a:ln w="12700">
            <a:solidFill>
              <a:srgbClr val="F3F5F6"/>
            </a:solidFill>
            <a:prstDash val="solid"/>
          </a:ln>
        </p:spPr>
      </p:sp>
      <p:sp>
        <p:nvSpPr>
          <p:cNvPr id="10" name="Text 7"/>
          <p:cNvSpPr txBox="1"/>
          <p:nvPr/>
        </p:nvSpPr>
        <p:spPr>
          <a:xfrm>
            <a:off x="6446520" y="3017520"/>
            <a:ext cx="214884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Post-procesado</a:t>
            </a:r>
            <a:endParaRPr lang="en-US" sz="1300" dirty="0"/>
          </a:p>
        </p:txBody>
      </p:sp>
      <p:sp>
        <p:nvSpPr>
          <p:cNvPr id="11" name="Text 8"/>
          <p:cNvSpPr txBox="1"/>
          <p:nvPr/>
        </p:nvSpPr>
        <p:spPr>
          <a:xfrm>
            <a:off x="6446520" y="3337560"/>
            <a:ext cx="2148840" cy="132588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Apertura + cierre (elipse 5×5), relleno de huecos y eliminación de componentes &lt; 1 %. Mejora la media de desarrollo en 7/7; en test 0.460 → 0.457.</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Características extraídas del fruto segmentado</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3566160" cy="914400"/>
        </p:xfrm>
        <a:graphic>
          <a:graphicData uri="http://schemas.openxmlformats.org/drawingml/2006/table">
            <a:tbl>
              <a:tblPr/>
              <a:tblGrid>
                <a:gridCol w="1005840"/>
                <a:gridCol w="256032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Descriptor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Justificación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50292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R̄, Ḡ, 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Mínimo exigido; la madurez pasa energía de G a 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50292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H̄ (circular)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Cromaticidad independiente del brillo; media circular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50292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S̄, V̄</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Saturación y brillo; separan color de iluminación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50292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ā*</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Eje verde↔rojo CIELAB: índice clásico de madurez</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50292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Eje azul↔amarillo, variable de control</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pic>
        <p:nvPicPr>
          <p:cNvPr id="6" name="Image 0" descr="/home/victor/Documents/Proyectos/ia/results/feature_distributions.png">    </p:cNvPr>
          <p:cNvPicPr>
            <a:picLocks noChangeAspect="1"/>
          </p:cNvPicPr>
          <p:nvPr/>
        </p:nvPicPr>
        <p:blipFill>
          <a:blip r:embed="rId1"/>
          <a:stretch>
            <a:fillRect/>
          </a:stretch>
        </p:blipFill>
        <p:spPr>
          <a:xfrm>
            <a:off x="4206240" y="1560072"/>
            <a:ext cx="4572000" cy="2000496"/>
          </a:xfrm>
          <a:prstGeom prst="rect">
            <a:avLst/>
          </a:prstGeom>
        </p:spPr>
      </p:pic>
      <p:sp>
        <p:nvSpPr>
          <p:cNvPr id="7" name="Text 3"/>
          <p:cNvSpPr txBox="1"/>
          <p:nvPr/>
        </p:nvSpPr>
        <p:spPr>
          <a:xfrm>
            <a:off x="4206240" y="4297680"/>
            <a:ext cx="4572000" cy="45720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Promedios calculados solo con los píxeles de la máscara K-Means final (entrenamiento).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Selección basada en el análisis exploratorio</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4206240" cy="914400"/>
        </p:xfrm>
        <a:graphic>
          <a:graphicData uri="http://schemas.openxmlformats.org/drawingml/2006/table">
            <a:tbl>
              <a:tblPr/>
              <a:tblGrid>
                <a:gridCol w="914400"/>
                <a:gridCol w="914400"/>
                <a:gridCol w="914400"/>
                <a:gridCol w="1463040"/>
              </a:tblGrid>
              <a:tr h="2468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Descriptor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 de Cohen</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AUC univ.</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Elegida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246888">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-4.04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0.981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3.28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0.957</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no (|r|=0.92 con H)</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-1.75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0.885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1.65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0.889</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b="1" dirty="0">
                          <a:solidFill>
                            <a:srgbClr val="B83227"/>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V</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0.755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0.697</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0.616</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0.641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sp>
        <p:nvSpPr>
          <p:cNvPr id="6" name="Text 3"/>
          <p:cNvSpPr txBox="1"/>
          <p:nvPr/>
        </p:nvSpPr>
        <p:spPr>
          <a:xfrm>
            <a:off x="457200" y="3337560"/>
            <a:ext cx="4206240" cy="640080"/>
          </a:xfrm>
          <a:prstGeom prst="rect">
            <a:avLst/>
          </a:prstGeom>
          <a:noFill/>
          <a:ln/>
        </p:spPr>
        <p:txBody>
          <a:bodyPr wrap="square" lIns="0" tIns="0" rIns="0" bIns="0" rtlCol="0" anchor="t"/>
          <a:lstStyle/>
          <a:p>
            <a:pPr indent="0" marL="0">
              <a:buNone/>
            </a:pPr>
            <a:r>
              <a:rPr lang="en-US" sz="1200" b="1" dirty="0">
                <a:solidFill>
                  <a:srgbClr val="1F2933"/>
                </a:solidFill>
                <a:latin typeface="Calibri" pitchFamily="34" charset="0"/>
                <a:ea typeface="Calibri" pitchFamily="34" charset="-122"/>
                <a:cs typeface="Calibri" pitchFamily="34" charset="-120"/>
              </a:rPr>
              <a:t>Regla: ordenar por |d| y aceptar si |r| ≤ 0.85 con las ya elegidas (máx. 3). Resultado: H, G, R.</a:t>
            </a:r>
            <a:endParaRPr lang="en-US" sz="1200" dirty="0"/>
          </a:p>
        </p:txBody>
      </p:sp>
      <p:sp>
        <p:nvSpPr>
          <p:cNvPr id="7" name="Text 4"/>
          <p:cNvSpPr txBox="1"/>
          <p:nvPr/>
        </p:nvSpPr>
        <p:spPr>
          <a:xfrm>
            <a:off x="457200" y="3977640"/>
            <a:ext cx="4206240" cy="54864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Evita variables casi colineales: Bayes ingenuo contaría dos veces la misma evidencia.</a:t>
            </a:r>
            <a:endParaRPr lang="en-US" sz="1100" dirty="0"/>
          </a:p>
        </p:txBody>
      </p:sp>
      <p:pic>
        <p:nvPicPr>
          <p:cNvPr id="8" name="Image 0" descr="/home/victor/Documents/Proyectos/ia/results/feature_correlation.png">    </p:cNvPr>
          <p:cNvPicPr>
            <a:picLocks noChangeAspect="1"/>
          </p:cNvPicPr>
          <p:nvPr/>
        </p:nvPicPr>
        <p:blipFill>
          <a:blip r:embed="rId1"/>
          <a:stretch>
            <a:fillRect/>
          </a:stretch>
        </p:blipFill>
        <p:spPr>
          <a:xfrm>
            <a:off x="4846320" y="1196340"/>
            <a:ext cx="3931920" cy="3276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11</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Selección mediante SFS</a:t>
            </a:r>
            <a:endParaRPr lang="en-US" sz="2600" dirty="0"/>
          </a:p>
        </p:txBody>
      </p:sp>
      <p:pic>
        <p:nvPicPr>
          <p:cNvPr id="5" name="Image 0" descr="/home/victor/Documents/Proyectos/ia/results/sfs_trace.png">    </p:cNvPr>
          <p:cNvPicPr>
            <a:picLocks noChangeAspect="1"/>
          </p:cNvPicPr>
          <p:nvPr/>
        </p:nvPicPr>
        <p:blipFill>
          <a:blip r:embed="rId1"/>
          <a:stretch>
            <a:fillRect/>
          </a:stretch>
        </p:blipFill>
        <p:spPr>
          <a:xfrm>
            <a:off x="365760" y="1052528"/>
            <a:ext cx="4937760" cy="2741263"/>
          </a:xfrm>
          <a:prstGeom prst="rect">
            <a:avLst/>
          </a:prstGeom>
        </p:spPr>
      </p:pic>
      <p:sp>
        <p:nvSpPr>
          <p:cNvPr id="6" name="Text 3"/>
          <p:cNvSpPr txBox="1"/>
          <p:nvPr/>
        </p:nvSpPr>
        <p:spPr>
          <a:xfrm>
            <a:off x="457200" y="4023360"/>
            <a:ext cx="4846320" cy="82296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Wrapper: se añade la variable que maximiza el AUC de validación cruzada 5×10 del mismo Bayes (solo entrenamiento). Se elige el prefijo más corto a ≤ 0.001 del mejor.</a:t>
            </a:r>
            <a:endParaRPr lang="en-US" sz="1150" dirty="0"/>
          </a:p>
        </p:txBody>
      </p:sp>
      <p:sp>
        <p:nvSpPr>
          <p:cNvPr id="7" name="Shape 4"/>
          <p:cNvSpPr/>
          <p:nvPr/>
        </p:nvSpPr>
        <p:spPr>
          <a:xfrm>
            <a:off x="5486400" y="960120"/>
            <a:ext cx="3246120" cy="1188720"/>
          </a:xfrm>
          <a:prstGeom prst="roundRect">
            <a:avLst>
              <a:gd name="adj" fmla="val 6154"/>
            </a:avLst>
          </a:prstGeom>
          <a:solidFill>
            <a:srgbClr val="F3F5F6"/>
          </a:solidFill>
          <a:ln w="12700">
            <a:solidFill>
              <a:srgbClr val="F3F5F6"/>
            </a:solidFill>
            <a:prstDash val="solid"/>
          </a:ln>
        </p:spPr>
      </p:sp>
      <p:sp>
        <p:nvSpPr>
          <p:cNvPr id="8" name="Text 5"/>
          <p:cNvSpPr txBox="1"/>
          <p:nvPr/>
        </p:nvSpPr>
        <p:spPr>
          <a:xfrm>
            <a:off x="5623560" y="1051560"/>
            <a:ext cx="297180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Seleccionadas</a:t>
            </a:r>
            <a:endParaRPr lang="en-US" sz="1300" dirty="0"/>
          </a:p>
        </p:txBody>
      </p:sp>
      <p:sp>
        <p:nvSpPr>
          <p:cNvPr id="9" name="Text 6"/>
          <p:cNvSpPr txBox="1"/>
          <p:nvPr/>
        </p:nvSpPr>
        <p:spPr>
          <a:xfrm>
            <a:off x="5623560" y="1371600"/>
            <a:ext cx="2971800" cy="685800"/>
          </a:xfrm>
          <a:prstGeom prst="rect">
            <a:avLst/>
          </a:prstGeom>
          <a:noFill/>
          <a:ln/>
        </p:spPr>
        <p:txBody>
          <a:bodyPr wrap="square" lIns="0" tIns="0" rIns="0" bIns="0" rtlCol="0" anchor="t"/>
          <a:lstStyle/>
          <a:p>
            <a:pPr indent="0" marL="0">
              <a:buNone/>
            </a:pPr>
            <a:r>
              <a:rPr lang="en-US" sz="1250" dirty="0">
                <a:solidFill>
                  <a:srgbClr val="1F2933"/>
                </a:solidFill>
                <a:latin typeface="Calibri" pitchFamily="34" charset="0"/>
                <a:ea typeface="Calibri" pitchFamily="34" charset="-122"/>
                <a:cs typeface="Calibri" pitchFamily="34" charset="-120"/>
              </a:rPr>
              <a:t>SFS: H, S, V</a:t>
            </a:r>
            <a:endParaRPr lang="en-US" sz="1250" dirty="0"/>
          </a:p>
          <a:p>
            <a:pPr indent="0" marL="0">
              <a:buNone/>
            </a:pPr>
            <a:r>
              <a:rPr lang="en-US" sz="1250" dirty="0">
                <a:solidFill>
                  <a:srgbClr val="1F2933"/>
                </a:solidFill>
                <a:latin typeface="Calibri" pitchFamily="34" charset="0"/>
                <a:ea typeface="Calibri" pitchFamily="34" charset="-122"/>
                <a:cs typeface="Calibri" pitchFamily="34" charset="-120"/>
              </a:rPr>
              <a:t>Análisis: H, G, R</a:t>
            </a:r>
            <a:endParaRPr lang="en-US" sz="1250" dirty="0"/>
          </a:p>
        </p:txBody>
      </p:sp>
      <p:sp>
        <p:nvSpPr>
          <p:cNvPr id="10" name="Shape 7"/>
          <p:cNvSpPr/>
          <p:nvPr/>
        </p:nvSpPr>
        <p:spPr>
          <a:xfrm>
            <a:off x="5486400" y="2286000"/>
            <a:ext cx="3246120" cy="2514600"/>
          </a:xfrm>
          <a:prstGeom prst="roundRect">
            <a:avLst>
              <a:gd name="adj" fmla="val 2909"/>
            </a:avLst>
          </a:prstGeom>
          <a:solidFill>
            <a:srgbClr val="F3F5F6"/>
          </a:solidFill>
          <a:ln w="12700">
            <a:solidFill>
              <a:srgbClr val="F3F5F6"/>
            </a:solidFill>
            <a:prstDash val="solid"/>
          </a:ln>
        </p:spPr>
      </p:sp>
      <p:sp>
        <p:nvSpPr>
          <p:cNvPr id="11" name="Text 8"/>
          <p:cNvSpPr txBox="1"/>
          <p:nvPr/>
        </p:nvSpPr>
        <p:spPr>
          <a:xfrm>
            <a:off x="5623560" y="2377440"/>
            <a:ext cx="297180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¿Coinciden?</a:t>
            </a:r>
            <a:endParaRPr lang="en-US" sz="1300" dirty="0"/>
          </a:p>
        </p:txBody>
      </p:sp>
      <p:sp>
        <p:nvSpPr>
          <p:cNvPr id="12" name="Text 9"/>
          <p:cNvSpPr txBox="1"/>
          <p:nvPr/>
        </p:nvSpPr>
        <p:spPr>
          <a:xfrm>
            <a:off x="5623560" y="2697480"/>
            <a:ext cx="2971800" cy="201168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Solo en H (primera elegida). SFS cambia G y R por S y V: optimiza el AUC conjunto, no la separación individual, y el criterio está saturado (AUC ≈ 0.98, DE ≈ 0.04). En 30 particiones: SFS 11 conjuntos distintos; análisis 6.</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12</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Clasificador bayesiano y razón de verosimilitudes</a:t>
            </a:r>
            <a:endParaRPr lang="en-US" sz="2600" dirty="0"/>
          </a:p>
        </p:txBody>
      </p:sp>
      <p:sp>
        <p:nvSpPr>
          <p:cNvPr id="5" name="Shape 3"/>
          <p:cNvSpPr/>
          <p:nvPr/>
        </p:nvSpPr>
        <p:spPr>
          <a:xfrm>
            <a:off x="457200" y="960120"/>
            <a:ext cx="3931920" cy="1417320"/>
          </a:xfrm>
          <a:prstGeom prst="roundRect">
            <a:avLst>
              <a:gd name="adj" fmla="val 5161"/>
            </a:avLst>
          </a:prstGeom>
          <a:solidFill>
            <a:srgbClr val="F3F5F6"/>
          </a:solidFill>
          <a:ln w="12700">
            <a:solidFill>
              <a:srgbClr val="F3F5F6"/>
            </a:solidFill>
            <a:prstDash val="solid"/>
          </a:ln>
        </p:spPr>
      </p:sp>
      <p:sp>
        <p:nvSpPr>
          <p:cNvPr id="6" name="Text 4"/>
          <p:cNvSpPr txBox="1"/>
          <p:nvPr/>
        </p:nvSpPr>
        <p:spPr>
          <a:xfrm>
            <a:off x="594360" y="1051560"/>
            <a:ext cx="365760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Regla de decisión</a:t>
            </a:r>
            <a:endParaRPr lang="en-US" sz="1300" dirty="0"/>
          </a:p>
        </p:txBody>
      </p:sp>
      <p:sp>
        <p:nvSpPr>
          <p:cNvPr id="7" name="Text 5"/>
          <p:cNvSpPr txBox="1"/>
          <p:nvPr/>
        </p:nvSpPr>
        <p:spPr>
          <a:xfrm>
            <a:off x="594360" y="1371600"/>
            <a:ext cx="3657600" cy="91440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ln Λ(x) = ln p(x|maduro) − ln p(x|inmaduro) ≥ ln θ → maduro</a:t>
            </a:r>
            <a:endParaRPr lang="en-US" sz="1200" dirty="0"/>
          </a:p>
          <a:p>
            <a:pPr indent="0" marL="0">
              <a:buNone/>
            </a:pPr>
            <a:r>
              <a:rPr lang="en-US" sz="1200" dirty="0">
                <a:solidFill>
                  <a:srgbClr val="1F2933"/>
                </a:solidFill>
                <a:latin typeface="Calibri" pitchFamily="34" charset="0"/>
                <a:ea typeface="Calibri" pitchFamily="34" charset="-122"/>
                <a:cs typeface="Calibri" pitchFamily="34" charset="-120"/>
              </a:rPr>
              <a:t>p(x|ω) = Π N(xⱼ; μ, σ²) (gaussiano ingenuo, MV en entrenamiento)</a:t>
            </a:r>
            <a:endParaRPr lang="en-US" sz="1200" dirty="0"/>
          </a:p>
        </p:txBody>
      </p:sp>
      <p:sp>
        <p:nvSpPr>
          <p:cNvPr id="8" name="Shape 6"/>
          <p:cNvSpPr/>
          <p:nvPr/>
        </p:nvSpPr>
        <p:spPr>
          <a:xfrm>
            <a:off x="4572000" y="960120"/>
            <a:ext cx="4160520" cy="1417320"/>
          </a:xfrm>
          <a:prstGeom prst="roundRect">
            <a:avLst>
              <a:gd name="adj" fmla="val 5161"/>
            </a:avLst>
          </a:prstGeom>
          <a:solidFill>
            <a:srgbClr val="F3F5F6"/>
          </a:solidFill>
          <a:ln w="12700">
            <a:solidFill>
              <a:srgbClr val="F3F5F6"/>
            </a:solidFill>
            <a:prstDash val="solid"/>
          </a:ln>
        </p:spPr>
      </p:sp>
      <p:sp>
        <p:nvSpPr>
          <p:cNvPr id="9" name="Text 7"/>
          <p:cNvSpPr txBox="1"/>
          <p:nvPr/>
        </p:nvSpPr>
        <p:spPr>
          <a:xfrm>
            <a:off x="4709160" y="1051560"/>
            <a:ext cx="388620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Relación con Bayes</a:t>
            </a:r>
            <a:endParaRPr lang="en-US" sz="1300" dirty="0"/>
          </a:p>
        </p:txBody>
      </p:sp>
      <p:sp>
        <p:nvSpPr>
          <p:cNvPr id="10" name="Text 8"/>
          <p:cNvSpPr txBox="1"/>
          <p:nvPr/>
        </p:nvSpPr>
        <p:spPr>
          <a:xfrm>
            <a:off x="4709160" y="1371600"/>
            <a:ext cx="3886200" cy="91440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Mínimo error: θ = P(inmaduro)/P(maduro). Variar θ recorre la ROC. Con costos, θ incorpora C₁₀ y C₀₁.</a:t>
            </a:r>
            <a:endParaRPr lang="en-US" sz="1200" dirty="0"/>
          </a:p>
        </p:txBody>
      </p:sp>
      <p:pic>
        <p:nvPicPr>
          <p:cNvPr id="11" name="Image 0" descr="/home/victor/Documents/Proyectos/ia/results/threshold_sweep.png">    </p:cNvPr>
          <p:cNvPicPr>
            <a:picLocks noChangeAspect="1"/>
          </p:cNvPicPr>
          <p:nvPr/>
        </p:nvPicPr>
        <p:blipFill>
          <a:blip r:embed="rId1"/>
          <a:stretch>
            <a:fillRect/>
          </a:stretch>
        </p:blipFill>
        <p:spPr>
          <a:xfrm>
            <a:off x="365760" y="2523129"/>
            <a:ext cx="8412480" cy="226894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13</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Punto de operación y evaluación</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463040"/>
                <a:gridCol w="1371600"/>
                <a:gridCol w="731520"/>
                <a:gridCol w="777240"/>
                <a:gridCol w="777240"/>
                <a:gridCol w="731520"/>
                <a:gridCol w="731520"/>
                <a:gridCol w="731520"/>
              </a:tblGrid>
              <a:tr h="2468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Estrategia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Entradas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ln θ*</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AUC val</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AUC test</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Exact.</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Sens.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Espec.</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Bayes + análisis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H, G, R</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7.46</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Bayes + SFS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H, S, V</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PCA + Bayes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PC1, PC2, PC3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1.79</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sp>
        <p:nvSpPr>
          <p:cNvPr id="6" name="Shape 3"/>
          <p:cNvSpPr/>
          <p:nvPr/>
        </p:nvSpPr>
        <p:spPr>
          <a:xfrm>
            <a:off x="457200" y="2103120"/>
            <a:ext cx="3657600" cy="1600200"/>
          </a:xfrm>
          <a:prstGeom prst="roundRect">
            <a:avLst>
              <a:gd name="adj" fmla="val 4571"/>
            </a:avLst>
          </a:prstGeom>
          <a:solidFill>
            <a:srgbClr val="F3F5F6"/>
          </a:solidFill>
          <a:ln w="12700">
            <a:solidFill>
              <a:srgbClr val="F3F5F6"/>
            </a:solidFill>
            <a:prstDash val="solid"/>
          </a:ln>
        </p:spPr>
      </p:sp>
      <p:sp>
        <p:nvSpPr>
          <p:cNvPr id="7" name="Text 4"/>
          <p:cNvSpPr txBox="1"/>
          <p:nvPr/>
        </p:nvSpPr>
        <p:spPr>
          <a:xfrm>
            <a:off x="594360" y="2194560"/>
            <a:ext cx="338328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Criterio: índice de Youden en validación</a:t>
            </a:r>
            <a:endParaRPr lang="en-US" sz="1300" dirty="0"/>
          </a:p>
        </p:txBody>
      </p:sp>
      <p:sp>
        <p:nvSpPr>
          <p:cNvPr id="8" name="Text 5"/>
          <p:cNvSpPr txBox="1"/>
          <p:nvPr/>
        </p:nvSpPr>
        <p:spPr>
          <a:xfrm>
            <a:off x="594360" y="2514600"/>
            <a:ext cx="3383280" cy="109728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J = sens + espec − 1. Sin costos definidos y clases balanceadas: ambos errores pesan igual. Umbral = punto medio entre puntuaciones; empates → centro.</a:t>
            </a:r>
            <a:endParaRPr lang="en-US" sz="1100" dirty="0"/>
          </a:p>
        </p:txBody>
      </p:sp>
      <p:sp>
        <p:nvSpPr>
          <p:cNvPr id="9" name="Text 6"/>
          <p:cNvSpPr txBox="1"/>
          <p:nvPr/>
        </p:nvSpPr>
        <p:spPr>
          <a:xfrm>
            <a:off x="457200" y="3840480"/>
            <a:ext cx="3657600" cy="914400"/>
          </a:xfrm>
          <a:prstGeom prst="rect">
            <a:avLst/>
          </a:prstGeom>
          <a:noFill/>
          <a:ln/>
        </p:spPr>
        <p:txBody>
          <a:bodyPr wrap="square" lIns="0" tIns="0" rIns="0" bIns="0" rtlCol="0" anchor="t"/>
          <a:lstStyle/>
          <a:p>
            <a:pPr indent="0" marL="0">
              <a:buNone/>
            </a:pPr>
            <a:r>
              <a:rPr lang="en-US" sz="1150" b="1" dirty="0">
                <a:solidFill>
                  <a:srgbClr val="B83227"/>
                </a:solidFill>
                <a:latin typeface="Calibri" pitchFamily="34" charset="0"/>
                <a:ea typeface="Calibri" pitchFamily="34" charset="-122"/>
                <a:cs typeface="Calibri" pitchFamily="34" charset="-120"/>
              </a:rPr>
              <a:t>Test de 12 imágenes sin errores: compatible con exactitud real ≥ 0.74 (Clopper–Pearson 95 %). No permite ordenar las estrategias.</a:t>
            </a:r>
            <a:endParaRPr lang="en-US" sz="1150" dirty="0"/>
          </a:p>
        </p:txBody>
      </p:sp>
      <p:pic>
        <p:nvPicPr>
          <p:cNvPr id="10" name="Image 0" descr="/home/victor/Documents/Proyectos/ia/results/roc_curves.png">    </p:cNvPr>
          <p:cNvPicPr>
            <a:picLocks noChangeAspect="1"/>
          </p:cNvPicPr>
          <p:nvPr/>
        </p:nvPicPr>
        <p:blipFill>
          <a:blip r:embed="rId1"/>
          <a:stretch>
            <a:fillRect/>
          </a:stretch>
        </p:blipFill>
        <p:spPr>
          <a:xfrm>
            <a:off x="4297680" y="2605655"/>
            <a:ext cx="4434840" cy="182956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14</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PCA y número de componentes</a:t>
            </a:r>
            <a:endParaRPr lang="en-US" sz="2600" dirty="0"/>
          </a:p>
        </p:txBody>
      </p:sp>
      <p:pic>
        <p:nvPicPr>
          <p:cNvPr id="5" name="Image 0" descr="/home/victor/Documents/Proyectos/ia/results/pca_variance.png">    </p:cNvPr>
          <p:cNvPicPr>
            <a:picLocks noChangeAspect="1"/>
          </p:cNvPicPr>
          <p:nvPr/>
        </p:nvPicPr>
        <p:blipFill>
          <a:blip r:embed="rId1"/>
          <a:stretch>
            <a:fillRect/>
          </a:stretch>
        </p:blipFill>
        <p:spPr>
          <a:xfrm>
            <a:off x="365760" y="964070"/>
            <a:ext cx="4846320" cy="2552419"/>
          </a:xfrm>
          <a:prstGeom prst="rect">
            <a:avLst/>
          </a:prstGeom>
        </p:spPr>
      </p:pic>
      <p:pic>
        <p:nvPicPr>
          <p:cNvPr id="6" name="Image 1" descr="/home/victor/Documents/Proyectos/ia/results/pca_loadings.png">    </p:cNvPr>
          <p:cNvPicPr>
            <a:picLocks noChangeAspect="1"/>
          </p:cNvPicPr>
          <p:nvPr/>
        </p:nvPicPr>
        <p:blipFill>
          <a:blip r:embed="rId2"/>
          <a:stretch>
            <a:fillRect/>
          </a:stretch>
        </p:blipFill>
        <p:spPr>
          <a:xfrm>
            <a:off x="1162796" y="3611880"/>
            <a:ext cx="3252247" cy="137160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40680" y="960120"/>
          <a:ext cx="3291840" cy="914400"/>
        </p:xfrm>
        <a:graphic>
          <a:graphicData uri="http://schemas.openxmlformats.org/drawingml/2006/table">
            <a:tbl>
              <a:tblPr/>
              <a:tblGrid>
                <a:gridCol w="731520"/>
                <a:gridCol w="822960"/>
                <a:gridCol w="868680"/>
                <a:gridCol w="868680"/>
              </a:tblGrid>
              <a:tr h="2468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PC</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λ</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Var. %</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Acum. %</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PC1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3.71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45.1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45.1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PC2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34.0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79.2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PC3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18.7</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97.9</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PC4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99.3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PC5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99.8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sp>
        <p:nvSpPr>
          <p:cNvPr id="8" name="Shape 3"/>
          <p:cNvSpPr/>
          <p:nvPr/>
        </p:nvSpPr>
        <p:spPr>
          <a:xfrm>
            <a:off x="5440680" y="2606040"/>
            <a:ext cx="3291840" cy="2148840"/>
          </a:xfrm>
          <a:prstGeom prst="roundRect">
            <a:avLst>
              <a:gd name="adj" fmla="val 3404"/>
            </a:avLst>
          </a:prstGeom>
          <a:solidFill>
            <a:srgbClr val="F3F5F6"/>
          </a:solidFill>
          <a:ln w="12700">
            <a:solidFill>
              <a:srgbClr val="F3F5F6"/>
            </a:solidFill>
            <a:prstDash val="solid"/>
          </a:ln>
        </p:spPr>
      </p:sp>
      <p:sp>
        <p:nvSpPr>
          <p:cNvPr id="9" name="Text 4"/>
          <p:cNvSpPr txBox="1"/>
          <p:nvPr/>
        </p:nvSpPr>
        <p:spPr>
          <a:xfrm>
            <a:off x="5577840" y="2697480"/>
            <a:ext cx="301752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p = 3 (97.9 %)</a:t>
            </a:r>
            <a:endParaRPr lang="en-US" sz="1300" dirty="0"/>
          </a:p>
        </p:txBody>
      </p:sp>
      <p:sp>
        <p:nvSpPr>
          <p:cNvPr id="10" name="Text 5"/>
          <p:cNvSpPr txBox="1"/>
          <p:nvPr/>
        </p:nvSpPr>
        <p:spPr>
          <a:xfrm>
            <a:off x="5577840" y="3017520"/>
            <a:ext cx="3017520" cy="16459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Menor p con ≥ 95 % de varianza; coincide con el codo y con Kaiser (λ₄ ≪ 1). PCA en entrenamiento sobre 8 variables estandarizadas. Decorrelaciona globalmente, pero no garantiza independencia dentro de cada clase.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15</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Comparación de los tres clasificadores</a:t>
            </a:r>
            <a:endParaRPr lang="en-US" sz="2600" dirty="0"/>
          </a:p>
        </p:txBody>
      </p:sp>
      <p:pic>
        <p:nvPicPr>
          <p:cNvPr id="5" name="Image 0" descr="/home/victor/Documents/Proyectos/ia/results/repeated_splits.png">    </p:cNvPr>
          <p:cNvPicPr>
            <a:picLocks noChangeAspect="1"/>
          </p:cNvPicPr>
          <p:nvPr/>
        </p:nvPicPr>
        <p:blipFill>
          <a:blip r:embed="rId1"/>
          <a:stretch>
            <a:fillRect/>
          </a:stretch>
        </p:blipFill>
        <p:spPr>
          <a:xfrm>
            <a:off x="365760" y="1057603"/>
            <a:ext cx="5852160" cy="2091033"/>
          </a:xfrm>
          <a:prstGeom prst="rect">
            <a:avLst/>
          </a:prstGeom>
        </p:spPr>
      </p:pic>
      <p:sp>
        <p:nvSpPr>
          <p:cNvPr id="6" name="Text 3"/>
          <p:cNvSpPr txBox="1"/>
          <p:nvPr/>
        </p:nvSpPr>
        <p:spPr>
          <a:xfrm>
            <a:off x="457200" y="3429000"/>
            <a:ext cx="1920240" cy="548640"/>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0.969</a:t>
            </a:r>
            <a:endParaRPr lang="en-US" sz="3000" dirty="0"/>
          </a:p>
        </p:txBody>
      </p:sp>
      <p:sp>
        <p:nvSpPr>
          <p:cNvPr id="7" name="Text 4"/>
          <p:cNvSpPr txBox="1"/>
          <p:nvPr/>
        </p:nvSpPr>
        <p:spPr>
          <a:xfrm>
            <a:off x="457200" y="3977640"/>
            <a:ext cx="192024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Bayes + SFS (11 errores)</a:t>
            </a:r>
            <a:endParaRPr lang="en-US" sz="1100" dirty="0"/>
          </a:p>
        </p:txBody>
      </p:sp>
      <p:sp>
        <p:nvSpPr>
          <p:cNvPr id="8" name="Text 5"/>
          <p:cNvSpPr txBox="1"/>
          <p:nvPr/>
        </p:nvSpPr>
        <p:spPr>
          <a:xfrm>
            <a:off x="2423160" y="3429000"/>
            <a:ext cx="1920240" cy="548640"/>
          </a:xfrm>
          <a:prstGeom prst="rect">
            <a:avLst/>
          </a:prstGeom>
          <a:noFill/>
          <a:ln/>
        </p:spPr>
        <p:txBody>
          <a:bodyPr wrap="square" lIns="0" tIns="0" rIns="0" bIns="0" rtlCol="0" anchor="ctr"/>
          <a:lstStyle/>
          <a:p>
            <a:pPr indent="0" marL="0">
              <a:buNone/>
            </a:pPr>
            <a:r>
              <a:rPr lang="en-US" sz="3000" b="1" dirty="0">
                <a:solidFill>
                  <a:srgbClr val="B83227"/>
                </a:solidFill>
                <a:latin typeface="Cambria" pitchFamily="34" charset="0"/>
                <a:ea typeface="Cambria" pitchFamily="34" charset="-122"/>
                <a:cs typeface="Cambria" pitchFamily="34" charset="-120"/>
              </a:rPr>
              <a:t>0.967</a:t>
            </a:r>
            <a:endParaRPr lang="en-US" sz="3000" dirty="0"/>
          </a:p>
        </p:txBody>
      </p:sp>
      <p:sp>
        <p:nvSpPr>
          <p:cNvPr id="9" name="Text 6"/>
          <p:cNvSpPr txBox="1"/>
          <p:nvPr/>
        </p:nvSpPr>
        <p:spPr>
          <a:xfrm>
            <a:off x="2423160" y="3977640"/>
            <a:ext cx="192024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Bayes + análisis (12 errores)</a:t>
            </a:r>
            <a:endParaRPr lang="en-US" sz="1100" dirty="0"/>
          </a:p>
        </p:txBody>
      </p:sp>
      <p:sp>
        <p:nvSpPr>
          <p:cNvPr id="10" name="Text 7"/>
          <p:cNvSpPr txBox="1"/>
          <p:nvPr/>
        </p:nvSpPr>
        <p:spPr>
          <a:xfrm>
            <a:off x="4389120" y="3429000"/>
            <a:ext cx="1920240" cy="548640"/>
          </a:xfrm>
          <a:prstGeom prst="rect">
            <a:avLst/>
          </a:prstGeom>
          <a:noFill/>
          <a:ln/>
        </p:spPr>
        <p:txBody>
          <a:bodyPr wrap="square" lIns="0" tIns="0" rIns="0" bIns="0" rtlCol="0" anchor="ctr"/>
          <a:lstStyle/>
          <a:p>
            <a:pPr indent="0" marL="0">
              <a:buNone/>
            </a:pPr>
            <a:r>
              <a:rPr lang="en-US" sz="3000" b="1" dirty="0">
                <a:solidFill>
                  <a:srgbClr val="D9822B"/>
                </a:solidFill>
                <a:latin typeface="Cambria" pitchFamily="34" charset="0"/>
                <a:ea typeface="Cambria" pitchFamily="34" charset="-122"/>
                <a:cs typeface="Cambria" pitchFamily="34" charset="-120"/>
              </a:rPr>
              <a:t>0.964</a:t>
            </a:r>
            <a:endParaRPr lang="en-US" sz="3000" dirty="0"/>
          </a:p>
        </p:txBody>
      </p:sp>
      <p:sp>
        <p:nvSpPr>
          <p:cNvPr id="11" name="Text 8"/>
          <p:cNvSpPr txBox="1"/>
          <p:nvPr/>
        </p:nvSpPr>
        <p:spPr>
          <a:xfrm>
            <a:off x="4389120" y="3977640"/>
            <a:ext cx="192024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PCA + Bayes (13 errores)</a:t>
            </a:r>
            <a:endParaRPr lang="en-US" sz="1100" dirty="0"/>
          </a:p>
        </p:txBody>
      </p:sp>
      <p:sp>
        <p:nvSpPr>
          <p:cNvPr id="12" name="Text 9"/>
          <p:cNvSpPr txBox="1"/>
          <p:nvPr/>
        </p:nvSpPr>
        <p:spPr>
          <a:xfrm>
            <a:off x="457200" y="4434840"/>
            <a:ext cx="5760720" cy="365760"/>
          </a:xfrm>
          <a:prstGeom prst="rect">
            <a:avLst/>
          </a:prstGeom>
          <a:noFill/>
          <a:ln/>
        </p:spPr>
        <p:txBody>
          <a:bodyPr wrap="square" lIns="0" tIns="0" rIns="0" bIns="0" rtlCol="0" anchor="t"/>
          <a:lstStyle/>
          <a:p>
            <a:pPr indent="0" marL="0">
              <a:buNone/>
            </a:pPr>
            <a:r>
              <a:rPr lang="en-US" sz="1050" dirty="0">
                <a:solidFill>
                  <a:srgbClr val="5B6770"/>
                </a:solidFill>
                <a:latin typeface="Calibri" pitchFamily="34" charset="0"/>
                <a:ea typeface="Calibri" pitchFamily="34" charset="-122"/>
                <a:cs typeface="Calibri" pitchFamily="34" charset="-120"/>
              </a:rPr>
              <a:t>Exactitud media en test, 30 particiones, máscaras K-Means (360 predicciones).</a:t>
            </a:r>
            <a:endParaRPr lang="en-US" sz="1050" dirty="0"/>
          </a:p>
        </p:txBody>
      </p:sp>
      <p:sp>
        <p:nvSpPr>
          <p:cNvPr id="13" name="Text 10"/>
          <p:cNvSpPr txBox="1"/>
          <p:nvPr/>
        </p:nvSpPr>
        <p:spPr>
          <a:xfrm>
            <a:off x="6400800" y="960120"/>
            <a:ext cx="2377440" cy="3840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Partición principal: las tres empatan con AUC y exactitud 1.</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Las tres difieren en pocos errores, dentro de la variabilidad: no se pueden ordenar.</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PCA vs análisis (gana/empata/pierde): 4/22/4. Estudio exploratorio, no usado para elegir.</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Cada partición repite todo, incluida la segmentación (RB en 28, RG en 2).</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Si se rehace la selección con máscaras ideales, SFS comete 11 errores: posible sobreajuste de la selección.</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16</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Análisis integrado: segmentación → clasificación</a:t>
            </a:r>
            <a:endParaRPr lang="en-US" sz="2600" dirty="0"/>
          </a:p>
        </p:txBody>
      </p:sp>
      <p:pic>
        <p:nvPicPr>
          <p:cNvPr id="5" name="Image 0" descr="/home/victor/Documents/Proyectos/ia/results/integration.png">    </p:cNvPr>
          <p:cNvPicPr>
            <a:picLocks noChangeAspect="1"/>
          </p:cNvPicPr>
          <p:nvPr/>
        </p:nvPicPr>
        <p:blipFill>
          <a:blip r:embed="rId1"/>
          <a:stretch>
            <a:fillRect/>
          </a:stretch>
        </p:blipFill>
        <p:spPr>
          <a:xfrm>
            <a:off x="451982" y="868680"/>
            <a:ext cx="5496835" cy="1965960"/>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926080"/>
          <a:ext cx="5486400" cy="914400"/>
        </p:xfrm>
        <a:graphic>
          <a:graphicData uri="http://schemas.openxmlformats.org/drawingml/2006/table">
            <a:tbl>
              <a:tblPr/>
              <a:tblGrid>
                <a:gridCol w="2468880"/>
                <a:gridCol w="1005840"/>
                <a:gridCol w="1005840"/>
                <a:gridCol w="1005840"/>
              </a:tblGrid>
              <a:tr h="2468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Variante (errores)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Análisis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SFS</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PCA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solidFill>
                      <a:srgbClr val="1E2A30"/>
                    </a:solidFill>
                  </a:tcPr>
                </a:tc>
              </a:tr>
              <a:tr h="24688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K-Means (sistema)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Ideal solo en test, mismo modelo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Ideal, diseño fijo (reentrena)</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Ideal, rediseño completo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r h="246888">
                <a:tc>
                  <a:txBody>
                    <a:bodyPr/>
                    <a:lstStyle/>
                    <a:p>
                      <a:pPr indent="0" marL="0">
                        <a:buNone/>
                      </a:pPr>
                      <a:r>
                        <a:rPr lang="en-US" sz="1050" dirty="0">
                          <a:solidFill>
                            <a:srgbClr val="5B6770"/>
                          </a:solidFill>
                          <a:latin typeface="Calibri" pitchFamily="34" charset="0"/>
                          <a:ea typeface="Calibri" pitchFamily="34" charset="-122"/>
                          <a:cs typeface="Calibri" pitchFamily="34" charset="-120"/>
                        </a:rPr>
                        <a:t>K-Means, H aritmético</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36576" marR="36576" marT="36576" marB="36576" anchor="ctr">
                    <a:lnL w="6350" cap="flat" cmpd="sng" algn="ctr">
                      <a:solidFill>
                        <a:srgbClr val="D5DADD"/>
                      </a:solidFill>
                      <a:prstDash val="solid"/>
                      <a:round/>
                      <a:headEnd type="none" w="med" len="med"/>
                      <a:tailEnd type="none" w="med" len="med"/>
                    </a:lnL>
                    <a:lnR w="6350" cap="flat" cmpd="sng" algn="ctr">
                      <a:solidFill>
                        <a:srgbClr val="D5DADD"/>
                      </a:solidFill>
                      <a:prstDash val="solid"/>
                      <a:round/>
                      <a:headEnd type="none" w="med" len="med"/>
                      <a:tailEnd type="none" w="med" len="med"/>
                    </a:lnR>
                    <a:lnT w="6350" cap="flat" cmpd="sng" algn="ctr">
                      <a:solidFill>
                        <a:srgbClr val="D5DADD"/>
                      </a:solidFill>
                      <a:prstDash val="solid"/>
                      <a:round/>
                      <a:headEnd type="none" w="med" len="med"/>
                      <a:tailEnd type="none" w="med" len="med"/>
                    </a:lnT>
                    <a:lnB w="6350" cap="flat" cmpd="sng" algn="ctr">
                      <a:solidFill>
                        <a:srgbClr val="D5DADD"/>
                      </a:solidFill>
                      <a:prstDash val="solid"/>
                      <a:round/>
                      <a:headEnd type="none" w="med" len="med"/>
                      <a:tailEnd type="none" w="med" len="med"/>
                    </a:lnB>
                  </a:tcPr>
                </a:tc>
              </a:tr>
            </a:tbl>
          </a:graphicData>
        </a:graphic>
      </p:graphicFrame>
      <p:sp>
        <p:nvSpPr>
          <p:cNvPr id="7" name="Text 3"/>
          <p:cNvSpPr txBox="1"/>
          <p:nvPr/>
        </p:nvSpPr>
        <p:spPr>
          <a:xfrm>
            <a:off x="457200" y="4480560"/>
            <a:ext cx="5486400" cy="457200"/>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Errores acumulados en 30 particiones (360 predicciones por celda). Solo las dos primeras variantes ideales mantienen fija la selección.</a:t>
            </a:r>
            <a:endParaRPr lang="en-US" sz="1000" dirty="0"/>
          </a:p>
        </p:txBody>
      </p:sp>
      <p:sp>
        <p:nvSpPr>
          <p:cNvPr id="8" name="Text 4"/>
          <p:cNvSpPr txBox="1"/>
          <p:nvPr/>
        </p:nvSpPr>
        <p:spPr>
          <a:xfrm>
            <a:off x="6309360" y="960120"/>
            <a:ext cx="2468880" cy="548640"/>
          </a:xfrm>
          <a:prstGeom prst="rect">
            <a:avLst/>
          </a:prstGeom>
          <a:noFill/>
          <a:ln/>
        </p:spPr>
        <p:txBody>
          <a:bodyPr wrap="square" lIns="0" tIns="0" rIns="0" bIns="0" rtlCol="0" anchor="ctr"/>
          <a:lstStyle/>
          <a:p>
            <a:pPr indent="0" marL="0">
              <a:buNone/>
            </a:pPr>
            <a:r>
              <a:rPr lang="en-US" sz="3000" b="1" dirty="0">
                <a:solidFill>
                  <a:srgbClr val="B83227"/>
                </a:solidFill>
                <a:latin typeface="Cambria" pitchFamily="34" charset="0"/>
                <a:ea typeface="Cambria" pitchFamily="34" charset="-122"/>
                <a:cs typeface="Cambria" pitchFamily="34" charset="-120"/>
              </a:rPr>
              <a:t>ρ = -0.89</a:t>
            </a:r>
            <a:endParaRPr lang="en-US" sz="3000" dirty="0"/>
          </a:p>
        </p:txBody>
      </p:sp>
      <p:sp>
        <p:nvSpPr>
          <p:cNvPr id="9" name="Text 5"/>
          <p:cNvSpPr txBox="1"/>
          <p:nvPr/>
        </p:nvSpPr>
        <p:spPr>
          <a:xfrm>
            <a:off x="6309360" y="1508760"/>
            <a:ext cx="2468880" cy="411480"/>
          </a:xfrm>
          <a:prstGeom prst="rect">
            <a:avLst/>
          </a:prstGeom>
          <a:noFill/>
          <a:ln/>
        </p:spPr>
        <p:txBody>
          <a:bodyPr wrap="square" lIns="0" tIns="0" rIns="0" bIns="0" rtlCol="0" anchor="ctr"/>
          <a:lstStyle/>
          <a:p>
            <a:pPr indent="0" marL="0">
              <a:buNone/>
            </a:pPr>
            <a:r>
              <a:rPr lang="en-US" sz="1100" dirty="0">
                <a:solidFill>
                  <a:srgbClr val="5B6770"/>
                </a:solidFill>
                <a:latin typeface="Calibri" pitchFamily="34" charset="0"/>
                <a:ea typeface="Calibri" pitchFamily="34" charset="-122"/>
                <a:cs typeface="Calibri" pitchFamily="34" charset="-120"/>
              </a:rPr>
              <a:t>Jaccard vs desplazamiento de descriptores</a:t>
            </a:r>
            <a:endParaRPr lang="en-US" sz="1100" dirty="0"/>
          </a:p>
        </p:txBody>
      </p:sp>
      <p:sp>
        <p:nvSpPr>
          <p:cNvPr id="10" name="Text 6"/>
          <p:cNvSpPr txBox="1"/>
          <p:nvPr/>
        </p:nvSpPr>
        <p:spPr>
          <a:xfrm>
            <a:off x="6309360" y="2103120"/>
            <a:ext cx="2468880" cy="274320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Peor máscara → descriptores más contaminados.</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4/12 imágenes de test con J &lt; 0.2 se clasifican bien: el fondo tiene color compatible con la clase.</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Con la selección fija y máscara ideal: 0 errores. La segmentación es la principal fuente de errores.</a:t>
            </a:r>
            <a:endParaRPr lang="en-US" sz="1100" dirty="0"/>
          </a:p>
          <a:p>
            <a:pPr marL="342900" indent="-342900">
              <a:spcAft>
                <a:spcPts val="600"/>
              </a:spcAft>
              <a:buSzPct val="100000"/>
              <a:buChar char="•"/>
            </a:pPr>
            <a:r>
              <a:rPr lang="en-US" sz="1100" dirty="0">
                <a:solidFill>
                  <a:srgbClr val="1F2933"/>
                </a:solidFill>
                <a:latin typeface="Calibri" pitchFamily="34" charset="0"/>
                <a:ea typeface="Calibri" pitchFamily="34" charset="-122"/>
                <a:cs typeface="Calibri" pitchFamily="34" charset="-120"/>
              </a:rPr>
              <a:t>Sin media circular, PCA pierde exactitud.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274320"/>
            <a:ext cx="457200" cy="457200"/>
          </a:xfrm>
          <a:prstGeom prst="ellipse">
            <a:avLst/>
          </a:prstGeom>
          <a:solidFill>
            <a:srgbClr val="B83227"/>
          </a:solidFill>
          <a:ln w="12700">
            <a:solidFill>
              <a:srgbClr val="B83227"/>
            </a:solidFill>
            <a:prstDash val="solid"/>
          </a:ln>
        </p:spPr>
      </p:sp>
      <p:sp>
        <p:nvSpPr>
          <p:cNvPr id="3" name="Text 1"/>
          <p:cNvSpPr txBox="1"/>
          <p:nvPr/>
        </p:nvSpPr>
        <p:spPr>
          <a:xfrm>
            <a:off x="411480" y="274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17</a:t>
            </a:r>
            <a:endParaRPr lang="en-US" sz="1400" dirty="0"/>
          </a:p>
        </p:txBody>
      </p:sp>
      <p:sp>
        <p:nvSpPr>
          <p:cNvPr id="4" name="Text 2"/>
          <p:cNvSpPr txBox="1"/>
          <p:nvPr/>
        </p:nvSpPr>
        <p:spPr>
          <a:xfrm>
            <a:off x="1005840" y="228600"/>
            <a:ext cx="7772400" cy="54864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Respuestas a las preguntas del proyecto</a:t>
            </a:r>
            <a:endParaRPr lang="en-US" sz="2600" dirty="0"/>
          </a:p>
        </p:txBody>
      </p:sp>
      <p:sp>
        <p:nvSpPr>
          <p:cNvPr id="5" name="Shape 3"/>
          <p:cNvSpPr/>
          <p:nvPr/>
        </p:nvSpPr>
        <p:spPr>
          <a:xfrm>
            <a:off x="457200" y="914400"/>
            <a:ext cx="2651760" cy="1188720"/>
          </a:xfrm>
          <a:prstGeom prst="roundRect">
            <a:avLst>
              <a:gd name="adj" fmla="val 6154"/>
            </a:avLst>
          </a:prstGeom>
          <a:solidFill>
            <a:srgbClr val="F3F5F6"/>
          </a:solidFill>
          <a:ln w="12700">
            <a:solidFill>
              <a:srgbClr val="F3F5F6"/>
            </a:solidFill>
            <a:prstDash val="solid"/>
          </a:ln>
        </p:spPr>
      </p:sp>
      <p:sp>
        <p:nvSpPr>
          <p:cNvPr id="6" name="Text 4"/>
          <p:cNvSpPr txBox="1"/>
          <p:nvPr/>
        </p:nvSpPr>
        <p:spPr>
          <a:xfrm>
            <a:off x="594360" y="1005840"/>
            <a:ext cx="237744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1. Mejor combinación</a:t>
            </a:r>
            <a:endParaRPr lang="en-US" sz="1300" dirty="0"/>
          </a:p>
        </p:txBody>
      </p:sp>
      <p:sp>
        <p:nvSpPr>
          <p:cNvPr id="7" name="Text 5"/>
          <p:cNvSpPr txBox="1"/>
          <p:nvPr/>
        </p:nvSpPr>
        <p:spPr>
          <a:xfrm>
            <a:off x="594360" y="1325880"/>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RB: J = 0.568 (0.606 con post-proceso).</a:t>
            </a:r>
            <a:endParaRPr lang="en-US" sz="1100" dirty="0"/>
          </a:p>
        </p:txBody>
      </p:sp>
      <p:sp>
        <p:nvSpPr>
          <p:cNvPr id="8" name="Shape 6"/>
          <p:cNvSpPr/>
          <p:nvPr/>
        </p:nvSpPr>
        <p:spPr>
          <a:xfrm>
            <a:off x="3246120" y="914400"/>
            <a:ext cx="2651760" cy="1188720"/>
          </a:xfrm>
          <a:prstGeom prst="roundRect">
            <a:avLst>
              <a:gd name="adj" fmla="val 6154"/>
            </a:avLst>
          </a:prstGeom>
          <a:solidFill>
            <a:srgbClr val="F3F5F6"/>
          </a:solidFill>
          <a:ln w="12700">
            <a:solidFill>
              <a:srgbClr val="F3F5F6"/>
            </a:solidFill>
            <a:prstDash val="solid"/>
          </a:ln>
        </p:spPr>
      </p:sp>
      <p:sp>
        <p:nvSpPr>
          <p:cNvPr id="9" name="Text 7"/>
          <p:cNvSpPr txBox="1"/>
          <p:nvPr/>
        </p:nvSpPr>
        <p:spPr>
          <a:xfrm>
            <a:off x="3383280" y="1005840"/>
            <a:ext cx="237744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2. ¿Por qué?</a:t>
            </a:r>
            <a:endParaRPr lang="en-US" sz="1300" dirty="0"/>
          </a:p>
        </p:txBody>
      </p:sp>
      <p:sp>
        <p:nvSpPr>
          <p:cNvPr id="10" name="Text 8"/>
          <p:cNvSpPr txBox="1"/>
          <p:nvPr/>
        </p:nvSpPr>
        <p:spPr>
          <a:xfrm>
            <a:off x="3383280" y="1325880"/>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R separa rojo/verde; B separa fruto saturado de fondos claros.</a:t>
            </a:r>
            <a:endParaRPr lang="en-US" sz="1100" dirty="0"/>
          </a:p>
        </p:txBody>
      </p:sp>
      <p:sp>
        <p:nvSpPr>
          <p:cNvPr id="11" name="Shape 9"/>
          <p:cNvSpPr/>
          <p:nvPr/>
        </p:nvSpPr>
        <p:spPr>
          <a:xfrm>
            <a:off x="6035040" y="914400"/>
            <a:ext cx="2651760" cy="1188720"/>
          </a:xfrm>
          <a:prstGeom prst="roundRect">
            <a:avLst>
              <a:gd name="adj" fmla="val 6154"/>
            </a:avLst>
          </a:prstGeom>
          <a:solidFill>
            <a:srgbClr val="F3F5F6"/>
          </a:solidFill>
          <a:ln w="12700">
            <a:solidFill>
              <a:srgbClr val="F3F5F6"/>
            </a:solidFill>
            <a:prstDash val="solid"/>
          </a:ln>
        </p:spPr>
      </p:sp>
      <p:sp>
        <p:nvSpPr>
          <p:cNvPr id="12" name="Text 10"/>
          <p:cNvSpPr txBox="1"/>
          <p:nvPr/>
        </p:nvSpPr>
        <p:spPr>
          <a:xfrm>
            <a:off x="6172200" y="1005840"/>
            <a:ext cx="237744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3. Variables (EDA)</a:t>
            </a:r>
            <a:endParaRPr lang="en-US" sz="1300" dirty="0"/>
          </a:p>
        </p:txBody>
      </p:sp>
      <p:sp>
        <p:nvSpPr>
          <p:cNvPr id="13" name="Text 11"/>
          <p:cNvSpPr txBox="1"/>
          <p:nvPr/>
        </p:nvSpPr>
        <p:spPr>
          <a:xfrm>
            <a:off x="6172200" y="1325880"/>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H circular y a* (|d| &gt; 3), luego G y R.</a:t>
            </a:r>
            <a:endParaRPr lang="en-US" sz="1100" dirty="0"/>
          </a:p>
        </p:txBody>
      </p:sp>
      <p:sp>
        <p:nvSpPr>
          <p:cNvPr id="14" name="Shape 12"/>
          <p:cNvSpPr/>
          <p:nvPr/>
        </p:nvSpPr>
        <p:spPr>
          <a:xfrm>
            <a:off x="457200" y="2221992"/>
            <a:ext cx="2651760" cy="1188720"/>
          </a:xfrm>
          <a:prstGeom prst="roundRect">
            <a:avLst>
              <a:gd name="adj" fmla="val 6154"/>
            </a:avLst>
          </a:prstGeom>
          <a:solidFill>
            <a:srgbClr val="F3F5F6"/>
          </a:solidFill>
          <a:ln w="12700">
            <a:solidFill>
              <a:srgbClr val="F3F5F6"/>
            </a:solidFill>
            <a:prstDash val="solid"/>
          </a:ln>
        </p:spPr>
      </p:sp>
      <p:sp>
        <p:nvSpPr>
          <p:cNvPr id="15" name="Text 13"/>
          <p:cNvSpPr txBox="1"/>
          <p:nvPr/>
        </p:nvSpPr>
        <p:spPr>
          <a:xfrm>
            <a:off x="594360" y="2313432"/>
            <a:ext cx="237744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4. SFS</a:t>
            </a:r>
            <a:endParaRPr lang="en-US" sz="1300" dirty="0"/>
          </a:p>
        </p:txBody>
      </p:sp>
      <p:sp>
        <p:nvSpPr>
          <p:cNvPr id="16" name="Text 14"/>
          <p:cNvSpPr txBox="1"/>
          <p:nvPr/>
        </p:nvSpPr>
        <p:spPr>
          <a:xfrm>
            <a:off x="594360" y="2633472"/>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H, S, V. Coincide solo en H con el análisis.</a:t>
            </a:r>
            <a:endParaRPr lang="en-US" sz="1100" dirty="0"/>
          </a:p>
        </p:txBody>
      </p:sp>
      <p:sp>
        <p:nvSpPr>
          <p:cNvPr id="17" name="Shape 15"/>
          <p:cNvSpPr/>
          <p:nvPr/>
        </p:nvSpPr>
        <p:spPr>
          <a:xfrm>
            <a:off x="3246120" y="2221992"/>
            <a:ext cx="2651760" cy="1188720"/>
          </a:xfrm>
          <a:prstGeom prst="roundRect">
            <a:avLst>
              <a:gd name="adj" fmla="val 6154"/>
            </a:avLst>
          </a:prstGeom>
          <a:solidFill>
            <a:srgbClr val="F3F5F6"/>
          </a:solidFill>
          <a:ln w="12700">
            <a:solidFill>
              <a:srgbClr val="F3F5F6"/>
            </a:solidFill>
            <a:prstDash val="solid"/>
          </a:ln>
        </p:spPr>
      </p:sp>
      <p:sp>
        <p:nvSpPr>
          <p:cNvPr id="18" name="Text 16"/>
          <p:cNvSpPr txBox="1"/>
          <p:nvPr/>
        </p:nvSpPr>
        <p:spPr>
          <a:xfrm>
            <a:off x="3383280" y="2313432"/>
            <a:ext cx="237744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5. Mejor estrategia</a:t>
            </a:r>
            <a:endParaRPr lang="en-US" sz="1300" dirty="0"/>
          </a:p>
        </p:txBody>
      </p:sp>
      <p:sp>
        <p:nvSpPr>
          <p:cNvPr id="19" name="Text 17"/>
          <p:cNvSpPr txBox="1"/>
          <p:nvPr/>
        </p:nvSpPr>
        <p:spPr>
          <a:xfrm>
            <a:off x="3383280" y="2633472"/>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Equivalentes dentro de la variabilidad; análisis es menos inestable e interpretable.</a:t>
            </a:r>
            <a:endParaRPr lang="en-US" sz="1100" dirty="0"/>
          </a:p>
        </p:txBody>
      </p:sp>
      <p:sp>
        <p:nvSpPr>
          <p:cNvPr id="20" name="Shape 18"/>
          <p:cNvSpPr/>
          <p:nvPr/>
        </p:nvSpPr>
        <p:spPr>
          <a:xfrm>
            <a:off x="6035040" y="2221992"/>
            <a:ext cx="2651760" cy="1188720"/>
          </a:xfrm>
          <a:prstGeom prst="roundRect">
            <a:avLst>
              <a:gd name="adj" fmla="val 6154"/>
            </a:avLst>
          </a:prstGeom>
          <a:solidFill>
            <a:srgbClr val="F3F5F6"/>
          </a:solidFill>
          <a:ln w="12700">
            <a:solidFill>
              <a:srgbClr val="F3F5F6"/>
            </a:solidFill>
            <a:prstDash val="solid"/>
          </a:ln>
        </p:spPr>
      </p:sp>
      <p:sp>
        <p:nvSpPr>
          <p:cNvPr id="21" name="Text 19"/>
          <p:cNvSpPr txBox="1"/>
          <p:nvPr/>
        </p:nvSpPr>
        <p:spPr>
          <a:xfrm>
            <a:off x="6172200" y="2313432"/>
            <a:ext cx="237744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6. Punto de operación</a:t>
            </a:r>
            <a:endParaRPr lang="en-US" sz="1300" dirty="0"/>
          </a:p>
        </p:txBody>
      </p:sp>
      <p:sp>
        <p:nvSpPr>
          <p:cNvPr id="22" name="Text 20"/>
          <p:cNvSpPr txBox="1"/>
          <p:nvPr/>
        </p:nvSpPr>
        <p:spPr>
          <a:xfrm>
            <a:off x="6172200" y="2633472"/>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Youden en validación: sin costos, clases balanceadas.</a:t>
            </a:r>
            <a:endParaRPr lang="en-US" sz="1100" dirty="0"/>
          </a:p>
        </p:txBody>
      </p:sp>
      <p:sp>
        <p:nvSpPr>
          <p:cNvPr id="23" name="Shape 21"/>
          <p:cNvSpPr/>
          <p:nvPr/>
        </p:nvSpPr>
        <p:spPr>
          <a:xfrm>
            <a:off x="457200" y="3529584"/>
            <a:ext cx="2651760" cy="1188720"/>
          </a:xfrm>
          <a:prstGeom prst="roundRect">
            <a:avLst>
              <a:gd name="adj" fmla="val 6154"/>
            </a:avLst>
          </a:prstGeom>
          <a:solidFill>
            <a:srgbClr val="F3F5F6"/>
          </a:solidFill>
          <a:ln w="12700">
            <a:solidFill>
              <a:srgbClr val="F3F5F6"/>
            </a:solidFill>
            <a:prstDash val="solid"/>
          </a:ln>
        </p:spPr>
      </p:sp>
      <p:sp>
        <p:nvSpPr>
          <p:cNvPr id="24" name="Text 22"/>
          <p:cNvSpPr txBox="1"/>
          <p:nvPr/>
        </p:nvSpPr>
        <p:spPr>
          <a:xfrm>
            <a:off x="594360" y="3621024"/>
            <a:ext cx="2377440" cy="292608"/>
          </a:xfrm>
          <a:prstGeom prst="rect">
            <a:avLst/>
          </a:prstGeom>
          <a:noFill/>
          <a:ln/>
        </p:spPr>
        <p:txBody>
          <a:bodyPr wrap="square" lIns="0" tIns="0" rIns="0" bIns="0" rtlCol="0" anchor="ctr"/>
          <a:lstStyle/>
          <a:p>
            <a:pPr indent="0" marL="0">
              <a:buNone/>
            </a:pPr>
            <a:r>
              <a:rPr lang="en-US" sz="1300" b="1" dirty="0">
                <a:solidFill>
                  <a:srgbClr val="B83227"/>
                </a:solidFill>
                <a:latin typeface="Calibri" pitchFamily="34" charset="0"/>
                <a:ea typeface="Calibri" pitchFamily="34" charset="-122"/>
                <a:cs typeface="Calibri" pitchFamily="34" charset="-120"/>
              </a:rPr>
              <a:t>7. Componentes</a:t>
            </a:r>
            <a:endParaRPr lang="en-US" sz="1300" dirty="0"/>
          </a:p>
        </p:txBody>
      </p:sp>
      <p:sp>
        <p:nvSpPr>
          <p:cNvPr id="25" name="Text 23"/>
          <p:cNvSpPr txBox="1"/>
          <p:nvPr/>
        </p:nvSpPr>
        <p:spPr>
          <a:xfrm>
            <a:off x="594360" y="3941064"/>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3 PCs: ≥ 95 % varianza (97.9 %), codo y Kaiser.</a:t>
            </a:r>
            <a:endParaRPr lang="en-US" sz="1100" dirty="0"/>
          </a:p>
        </p:txBody>
      </p:sp>
      <p:sp>
        <p:nvSpPr>
          <p:cNvPr id="26" name="Shape 24"/>
          <p:cNvSpPr/>
          <p:nvPr/>
        </p:nvSpPr>
        <p:spPr>
          <a:xfrm>
            <a:off x="3246120" y="3529584"/>
            <a:ext cx="2651760" cy="1188720"/>
          </a:xfrm>
          <a:prstGeom prst="roundRect">
            <a:avLst>
              <a:gd name="adj" fmla="val 6154"/>
            </a:avLst>
          </a:prstGeom>
          <a:solidFill>
            <a:srgbClr val="F3F5F6"/>
          </a:solidFill>
          <a:ln w="12700">
            <a:solidFill>
              <a:srgbClr val="F3F5F6"/>
            </a:solidFill>
            <a:prstDash val="solid"/>
          </a:ln>
        </p:spPr>
      </p:sp>
      <p:sp>
        <p:nvSpPr>
          <p:cNvPr id="27" name="Text 25"/>
          <p:cNvSpPr txBox="1"/>
          <p:nvPr/>
        </p:nvSpPr>
        <p:spPr>
          <a:xfrm>
            <a:off x="3383280" y="3621024"/>
            <a:ext cx="2377440" cy="292608"/>
          </a:xfrm>
          <a:prstGeom prst="rect">
            <a:avLst/>
          </a:prstGeom>
          <a:noFill/>
          <a:ln/>
        </p:spPr>
        <p:txBody>
          <a:bodyPr wrap="square" lIns="0" tIns="0" rIns="0" bIns="0" rtlCol="0" anchor="ctr"/>
          <a:lstStyle/>
          <a:p>
            <a:pPr indent="0" marL="0">
              <a:buNone/>
            </a:pPr>
            <a:r>
              <a:rPr lang="en-US" sz="1300" b="1" dirty="0">
                <a:solidFill>
                  <a:srgbClr val="4F7A28"/>
                </a:solidFill>
                <a:latin typeface="Calibri" pitchFamily="34" charset="0"/>
                <a:ea typeface="Calibri" pitchFamily="34" charset="-122"/>
                <a:cs typeface="Calibri" pitchFamily="34" charset="-120"/>
              </a:rPr>
              <a:t>8. ¿PCA mejora?</a:t>
            </a:r>
            <a:endParaRPr lang="en-US" sz="1300" dirty="0"/>
          </a:p>
        </p:txBody>
      </p:sp>
      <p:sp>
        <p:nvSpPr>
          <p:cNvPr id="28" name="Text 26"/>
          <p:cNvSpPr txBox="1"/>
          <p:nvPr/>
        </p:nvSpPr>
        <p:spPr>
          <a:xfrm>
            <a:off x="3383280" y="3941064"/>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No: empata en el test principal y al repetir (0.964 de exactitud media).</a:t>
            </a:r>
            <a:endParaRPr lang="en-US" sz="1100" dirty="0"/>
          </a:p>
        </p:txBody>
      </p:sp>
      <p:sp>
        <p:nvSpPr>
          <p:cNvPr id="29" name="Shape 27"/>
          <p:cNvSpPr/>
          <p:nvPr/>
        </p:nvSpPr>
        <p:spPr>
          <a:xfrm>
            <a:off x="6035040" y="3529584"/>
            <a:ext cx="2651760" cy="1188720"/>
          </a:xfrm>
          <a:prstGeom prst="roundRect">
            <a:avLst>
              <a:gd name="adj" fmla="val 6154"/>
            </a:avLst>
          </a:prstGeom>
          <a:solidFill>
            <a:srgbClr val="F3F5F6"/>
          </a:solidFill>
          <a:ln w="12700">
            <a:solidFill>
              <a:srgbClr val="F3F5F6"/>
            </a:solidFill>
            <a:prstDash val="solid"/>
          </a:ln>
        </p:spPr>
      </p:sp>
      <p:sp>
        <p:nvSpPr>
          <p:cNvPr id="30" name="Text 28"/>
          <p:cNvSpPr txBox="1"/>
          <p:nvPr/>
        </p:nvSpPr>
        <p:spPr>
          <a:xfrm>
            <a:off x="6172200" y="3621024"/>
            <a:ext cx="2377440" cy="292608"/>
          </a:xfrm>
          <a:prstGeom prst="rect">
            <a:avLst/>
          </a:prstGeom>
          <a:noFill/>
          <a:ln/>
        </p:spPr>
        <p:txBody>
          <a:bodyPr wrap="square" lIns="0" tIns="0" rIns="0" bIns="0" rtlCol="0" anchor="ctr"/>
          <a:lstStyle/>
          <a:p>
            <a:pPr indent="0" marL="0">
              <a:buNone/>
            </a:pPr>
            <a:r>
              <a:rPr lang="en-US" sz="1300" b="1" dirty="0">
                <a:solidFill>
                  <a:srgbClr val="D9822B"/>
                </a:solidFill>
                <a:latin typeface="Calibri" pitchFamily="34" charset="0"/>
                <a:ea typeface="Calibri" pitchFamily="34" charset="-122"/>
                <a:cs typeface="Calibri" pitchFamily="34" charset="-120"/>
              </a:rPr>
              <a:t>9. Segmentación</a:t>
            </a:r>
            <a:endParaRPr lang="en-US" sz="1300" dirty="0"/>
          </a:p>
        </p:txBody>
      </p:sp>
      <p:sp>
        <p:nvSpPr>
          <p:cNvPr id="31" name="Text 29"/>
          <p:cNvSpPr txBox="1"/>
          <p:nvPr/>
        </p:nvSpPr>
        <p:spPr>
          <a:xfrm>
            <a:off x="6172200" y="3941064"/>
            <a:ext cx="2377440" cy="68580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Principal fuente de errores: con máscara ideal 12/11/13 → 0. Pero el fondo correlaciona con la clase.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A30"/>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Conclusiones</a:t>
            </a:r>
            <a:endParaRPr lang="en-US" sz="3200" dirty="0"/>
          </a:p>
        </p:txBody>
      </p:sp>
      <p:sp>
        <p:nvSpPr>
          <p:cNvPr id="3" name="Shape 1"/>
          <p:cNvSpPr/>
          <p:nvPr/>
        </p:nvSpPr>
        <p:spPr>
          <a:xfrm>
            <a:off x="548640" y="1234440"/>
            <a:ext cx="3931920" cy="1600200"/>
          </a:xfrm>
          <a:prstGeom prst="roundRect">
            <a:avLst>
              <a:gd name="adj" fmla="val 4571"/>
            </a:avLst>
          </a:prstGeom>
          <a:solidFill>
            <a:srgbClr val="2B3A42"/>
          </a:solidFill>
          <a:ln w="12700">
            <a:solidFill>
              <a:srgbClr val="2B3A42"/>
            </a:solidFill>
            <a:prstDash val="solid"/>
          </a:ln>
        </p:spPr>
      </p:sp>
      <p:sp>
        <p:nvSpPr>
          <p:cNvPr id="4" name="Text 2"/>
          <p:cNvSpPr txBox="1"/>
          <p:nvPr/>
        </p:nvSpPr>
        <p:spPr>
          <a:xfrm>
            <a:off x="731520" y="1371600"/>
            <a:ext cx="3566160" cy="365760"/>
          </a:xfrm>
          <a:prstGeom prst="rect">
            <a:avLst/>
          </a:prstGeom>
          <a:noFill/>
          <a:ln/>
        </p:spPr>
        <p:txBody>
          <a:bodyPr wrap="square" lIns="0" tIns="0" rIns="0" bIns="0" rtlCol="0" anchor="ctr"/>
          <a:lstStyle/>
          <a:p>
            <a:pPr indent="0" marL="0">
              <a:buNone/>
            </a:pPr>
            <a:r>
              <a:rPr lang="en-US" sz="1500" b="1" dirty="0">
                <a:solidFill>
                  <a:srgbClr val="D9822B"/>
                </a:solidFill>
                <a:latin typeface="Calibri" pitchFamily="34" charset="0"/>
                <a:ea typeface="Calibri" pitchFamily="34" charset="-122"/>
                <a:cs typeface="Calibri" pitchFamily="34" charset="-120"/>
              </a:rPr>
              <a:t>Segmentación</a:t>
            </a:r>
            <a:endParaRPr lang="en-US" sz="1500" dirty="0"/>
          </a:p>
        </p:txBody>
      </p:sp>
      <p:sp>
        <p:nvSpPr>
          <p:cNvPr id="5" name="Text 3"/>
          <p:cNvSpPr txBox="1"/>
          <p:nvPr/>
        </p:nvSpPr>
        <p:spPr>
          <a:xfrm>
            <a:off x="731520" y="1783080"/>
            <a:ext cx="356616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K-Means k=2 con RB + post-proceso: J ≈ 0.606. Es el eslabón débil del sistema.</a:t>
            </a:r>
            <a:endParaRPr lang="en-US" sz="1300" dirty="0"/>
          </a:p>
        </p:txBody>
      </p:sp>
      <p:sp>
        <p:nvSpPr>
          <p:cNvPr id="6" name="Shape 4"/>
          <p:cNvSpPr/>
          <p:nvPr/>
        </p:nvSpPr>
        <p:spPr>
          <a:xfrm>
            <a:off x="4663440" y="1234440"/>
            <a:ext cx="3931920" cy="1600200"/>
          </a:xfrm>
          <a:prstGeom prst="roundRect">
            <a:avLst>
              <a:gd name="adj" fmla="val 4571"/>
            </a:avLst>
          </a:prstGeom>
          <a:solidFill>
            <a:srgbClr val="2B3A42"/>
          </a:solidFill>
          <a:ln w="12700">
            <a:solidFill>
              <a:srgbClr val="2B3A42"/>
            </a:solidFill>
            <a:prstDash val="solid"/>
          </a:ln>
        </p:spPr>
      </p:sp>
      <p:sp>
        <p:nvSpPr>
          <p:cNvPr id="7" name="Text 5"/>
          <p:cNvSpPr txBox="1"/>
          <p:nvPr/>
        </p:nvSpPr>
        <p:spPr>
          <a:xfrm>
            <a:off x="4846320" y="1371600"/>
            <a:ext cx="3566160" cy="365760"/>
          </a:xfrm>
          <a:prstGeom prst="rect">
            <a:avLst/>
          </a:prstGeom>
          <a:noFill/>
          <a:ln/>
        </p:spPr>
        <p:txBody>
          <a:bodyPr wrap="square" lIns="0" tIns="0" rIns="0" bIns="0" rtlCol="0" anchor="ctr"/>
          <a:lstStyle/>
          <a:p>
            <a:pPr indent="0" marL="0">
              <a:buNone/>
            </a:pPr>
            <a:r>
              <a:rPr lang="en-US" sz="1500" b="1" dirty="0">
                <a:solidFill>
                  <a:srgbClr val="D9822B"/>
                </a:solidFill>
                <a:latin typeface="Calibri" pitchFamily="34" charset="0"/>
                <a:ea typeface="Calibri" pitchFamily="34" charset="-122"/>
                <a:cs typeface="Calibri" pitchFamily="34" charset="-120"/>
              </a:rPr>
              <a:t>Madurez = tono</a:t>
            </a:r>
            <a:endParaRPr lang="en-US" sz="1500" dirty="0"/>
          </a:p>
        </p:txBody>
      </p:sp>
      <p:sp>
        <p:nvSpPr>
          <p:cNvPr id="8" name="Text 6"/>
          <p:cNvSpPr txBox="1"/>
          <p:nvPr/>
        </p:nvSpPr>
        <p:spPr>
          <a:xfrm>
            <a:off x="4846320" y="1783080"/>
            <a:ext cx="356616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Con H como media circular, un Bayes con 3 variables clasifica casi perfectamente.</a:t>
            </a:r>
            <a:endParaRPr lang="en-US" sz="1300" dirty="0"/>
          </a:p>
        </p:txBody>
      </p:sp>
      <p:sp>
        <p:nvSpPr>
          <p:cNvPr id="9" name="Shape 7"/>
          <p:cNvSpPr/>
          <p:nvPr/>
        </p:nvSpPr>
        <p:spPr>
          <a:xfrm>
            <a:off x="548640" y="3017520"/>
            <a:ext cx="3931920" cy="1600200"/>
          </a:xfrm>
          <a:prstGeom prst="roundRect">
            <a:avLst>
              <a:gd name="adj" fmla="val 4571"/>
            </a:avLst>
          </a:prstGeom>
          <a:solidFill>
            <a:srgbClr val="2B3A42"/>
          </a:solidFill>
          <a:ln w="12700">
            <a:solidFill>
              <a:srgbClr val="2B3A42"/>
            </a:solidFill>
            <a:prstDash val="solid"/>
          </a:ln>
        </p:spPr>
      </p:sp>
      <p:sp>
        <p:nvSpPr>
          <p:cNvPr id="10" name="Text 8"/>
          <p:cNvSpPr txBox="1"/>
          <p:nvPr/>
        </p:nvSpPr>
        <p:spPr>
          <a:xfrm>
            <a:off x="731520" y="3154680"/>
            <a:ext cx="3566160" cy="365760"/>
          </a:xfrm>
          <a:prstGeom prst="rect">
            <a:avLst/>
          </a:prstGeom>
          <a:noFill/>
          <a:ln/>
        </p:spPr>
        <p:txBody>
          <a:bodyPr wrap="square" lIns="0" tIns="0" rIns="0" bIns="0" rtlCol="0" anchor="ctr"/>
          <a:lstStyle/>
          <a:p>
            <a:pPr indent="0" marL="0">
              <a:buNone/>
            </a:pPr>
            <a:r>
              <a:rPr lang="en-US" sz="1500" b="1" dirty="0">
                <a:solidFill>
                  <a:srgbClr val="D9822B"/>
                </a:solidFill>
                <a:latin typeface="Calibri" pitchFamily="34" charset="0"/>
                <a:ea typeface="Calibri" pitchFamily="34" charset="-122"/>
                <a:cs typeface="Calibri" pitchFamily="34" charset="-120"/>
              </a:rPr>
              <a:t>Selección</a:t>
            </a:r>
            <a:endParaRPr lang="en-US" sz="1500" dirty="0"/>
          </a:p>
        </p:txBody>
      </p:sp>
      <p:sp>
        <p:nvSpPr>
          <p:cNvPr id="11" name="Text 9"/>
          <p:cNvSpPr txBox="1"/>
          <p:nvPr/>
        </p:nvSpPr>
        <p:spPr>
          <a:xfrm>
            <a:off x="731520" y="3566160"/>
            <a:ext cx="356616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Análisis, SFS y PCA equivalentes en este experimento; el análisis es menos inestable. PCA no mejora.</a:t>
            </a:r>
            <a:endParaRPr lang="en-US" sz="1300" dirty="0"/>
          </a:p>
        </p:txBody>
      </p:sp>
      <p:sp>
        <p:nvSpPr>
          <p:cNvPr id="12" name="Shape 10"/>
          <p:cNvSpPr/>
          <p:nvPr/>
        </p:nvSpPr>
        <p:spPr>
          <a:xfrm>
            <a:off x="4663440" y="3017520"/>
            <a:ext cx="3931920" cy="1600200"/>
          </a:xfrm>
          <a:prstGeom prst="roundRect">
            <a:avLst>
              <a:gd name="adj" fmla="val 4571"/>
            </a:avLst>
          </a:prstGeom>
          <a:solidFill>
            <a:srgbClr val="2B3A42"/>
          </a:solidFill>
          <a:ln w="12700">
            <a:solidFill>
              <a:srgbClr val="2B3A42"/>
            </a:solidFill>
            <a:prstDash val="solid"/>
          </a:ln>
        </p:spPr>
      </p:sp>
      <p:sp>
        <p:nvSpPr>
          <p:cNvPr id="13" name="Text 11"/>
          <p:cNvSpPr txBox="1"/>
          <p:nvPr/>
        </p:nvSpPr>
        <p:spPr>
          <a:xfrm>
            <a:off x="4846320" y="3154680"/>
            <a:ext cx="3566160" cy="365760"/>
          </a:xfrm>
          <a:prstGeom prst="rect">
            <a:avLst/>
          </a:prstGeom>
          <a:noFill/>
          <a:ln/>
        </p:spPr>
        <p:txBody>
          <a:bodyPr wrap="square" lIns="0" tIns="0" rIns="0" bIns="0" rtlCol="0" anchor="ctr"/>
          <a:lstStyle/>
          <a:p>
            <a:pPr indent="0" marL="0">
              <a:buNone/>
            </a:pPr>
            <a:r>
              <a:rPr lang="en-US" sz="1500" b="1" dirty="0">
                <a:solidFill>
                  <a:srgbClr val="D9822B"/>
                </a:solidFill>
                <a:latin typeface="Calibri" pitchFamily="34" charset="0"/>
                <a:ea typeface="Calibri" pitchFamily="34" charset="-122"/>
                <a:cs typeface="Calibri" pitchFamily="34" charset="-120"/>
              </a:rPr>
              <a:t>Limitaciones</a:t>
            </a:r>
            <a:endParaRPr lang="en-US" sz="1500" dirty="0"/>
          </a:p>
        </p:txBody>
      </p:sp>
      <p:sp>
        <p:nvSpPr>
          <p:cNvPr id="14" name="Text 12"/>
          <p:cNvSpPr txBox="1"/>
          <p:nvPr/>
        </p:nvSpPr>
        <p:spPr>
          <a:xfrm>
            <a:off x="4846320" y="3566160"/>
            <a:ext cx="356616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60 imágenes y test de 12: techo de desempeño. El fondo correlaciona con la clase; sin textura ni forma.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1 — Segmentación y clasificación de madurez de tomates</dc:title>
  <dc:subject>PptxGenJS Presentation</dc:subject>
  <dc:creator>PptxGenJS</dc:creator>
  <cp:lastModifiedBy>PptxGenJS</cp:lastModifiedBy>
  <cp:revision>1</cp:revision>
  <dcterms:created xsi:type="dcterms:W3CDTF">2026-09-15T20:39:04Z</dcterms:created>
  <dcterms:modified xsi:type="dcterms:W3CDTF">2026-09-15T20:39:04Z</dcterms:modified>
</cp:coreProperties>
</file>