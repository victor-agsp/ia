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sz="1300" b="0" u="none" strike="noStrike">
                <a:solidFill>
                  <a:srgbClr val="000000"/>
                </a:solidFill>
                <a:uFillTx/>
                <a:latin typeface="Noto Sans"/>
              </a:defRPr>
            </a:pPr>
            <a:r>
              <a:rPr sz="1200" b="0" u="none" strike="noStrike">
                <a:solidFill>
                  <a:srgbClr val="1F2933"/>
                </a:solidFill>
                <a:uFillTx/>
                <a:latin typeface="Arial"/>
              </a:rPr>
              <a:t>Jaccard medio en desarrollo</a:t>
            </a:r>
          </a:p>
        </c:rich>
      </c:tx>
      <c:overlay val="0"/>
      <c:spPr>
        <a:noFill/>
        <a:ln w="0">
          <a:noFill/>
        </a:ln>
      </c:spPr>
    </c:title>
    <c:autoTitleDeleted val="0"/>
    <c:plotArea>
      <c:barChart>
        <c:barDir val="col"/>
        <c:grouping val="clustered"/>
        <c:varyColors val="0"/>
        <c:ser>
          <c:idx val="0"/>
          <c:order val="0"/>
          <c:tx>
            <c:strRef>
              <c:f>label 0</c:f>
              <c:strCache>
                <c:ptCount val="1"/>
                <c:pt idx="0">
                  <c:v>K-Means</c:v>
                </c:pt>
              </c:strCache>
            </c:strRef>
          </c:tx>
          <c:spPr>
            <a:solidFill>
              <a:srgbClr val="B83227"/>
            </a:solidFill>
            <a:ln w="0">
              <a:noFill/>
            </a:ln>
          </c:spPr>
          <c:invertIfNegative val="0"/>
          <c:dLbls>
            <c:txPr>
              <a:bodyPr wrap="square"/>
              <a:lstStyle/>
              <a:p>
                <a:pPr>
                  <a:defRPr sz="1200" b="0" u="none" strike="noStrike">
                    <a:solidFill>
                      <a:srgbClr val="000000"/>
                    </a:solidFill>
                    <a:uFillTx/>
                    <a:latin typeface="Arial"/>
                  </a:defRPr>
                </a:pPr>
              </a:p>
            </c:txPr>
            <c:dLblPos val="outEnd"/>
            <c:showLegendKey val="0"/>
            <c:showVal val="0"/>
            <c:showCatName val="0"/>
            <c:showSerName val="0"/>
            <c:showPercent val="0"/>
            <c:separator>; </c:separator>
            <c:extLst>
              <c:ext xmlns:c15="http://schemas.microsoft.com/office/drawing/2012/chart" uri="{CE6537A1-D6FC-4f65-9D91-7224C49458BB}">
                <c15:showLeaderLines val="0"/>
              </c:ext>
            </c:extLst>
          </c:dLbls>
          <c:cat>
            <c:strRef>
              <c:f>categories</c:f>
              <c:strCache>
                <c:ptCount val="7"/>
                <c:pt idx="0">
                  <c:v>R</c:v>
                </c:pt>
                <c:pt idx="1">
                  <c:v>G</c:v>
                </c:pt>
                <c:pt idx="2">
                  <c:v>B</c:v>
                </c:pt>
                <c:pt idx="3">
                  <c:v>RG</c:v>
                </c:pt>
                <c:pt idx="4">
                  <c:v>RB</c:v>
                </c:pt>
                <c:pt idx="5">
                  <c:v>GB</c:v>
                </c:pt>
                <c:pt idx="6">
                  <c:v>RGB</c:v>
                </c:pt>
              </c:strCache>
            </c:strRef>
          </c:cat>
          <c:val>
            <c:numRef>
              <c:f>0</c:f>
              <c:numCache>
                <c:formatCode>General</c:formatCode>
                <c:ptCount val="7"/>
                <c:pt idx="0">
                  <c:v>0.527701230833992</c:v>
                </c:pt>
                <c:pt idx="1">
                  <c:v>0.51019725556597</c:v>
                </c:pt>
                <c:pt idx="2">
                  <c:v>0.542716366132017</c:v>
                </c:pt>
                <c:pt idx="3">
                  <c:v>0.55688489202134</c:v>
                </c:pt>
                <c:pt idx="4">
                  <c:v>0.56768443969776</c:v>
                </c:pt>
                <c:pt idx="5">
                  <c:v>0.537793392244778</c:v>
                </c:pt>
                <c:pt idx="6">
                  <c:v>0.552456305072121</c:v>
                </c:pt>
              </c:numCache>
            </c:numRef>
          </c:val>
        </c:ser>
        <c:ser>
          <c:idx val="1"/>
          <c:order val="1"/>
          <c:tx>
            <c:strRef>
              <c:f>label 1</c:f>
              <c:strCache>
                <c:ptCount val="1"/>
                <c:pt idx="0">
                  <c:v>+ post-procesado</c:v>
                </c:pt>
              </c:strCache>
            </c:strRef>
          </c:tx>
          <c:spPr>
            <a:solidFill>
              <a:srgbClr val="D9822B"/>
            </a:solidFill>
            <a:ln w="0">
              <a:noFill/>
            </a:ln>
          </c:spPr>
          <c:invertIfNegative val="0"/>
          <c:dLbls>
            <c:txPr>
              <a:bodyPr wrap="square"/>
              <a:lstStyle/>
              <a:p>
                <a:pPr>
                  <a:defRPr sz="1200" b="0" u="none" strike="noStrike">
                    <a:solidFill>
                      <a:srgbClr val="000000"/>
                    </a:solidFill>
                    <a:uFillTx/>
                    <a:latin typeface="Arial"/>
                  </a:defRPr>
                </a:pPr>
              </a:p>
            </c:txPr>
            <c:dLblPos val="outEnd"/>
            <c:showLegendKey val="0"/>
            <c:showVal val="0"/>
            <c:showCatName val="0"/>
            <c:showSerName val="0"/>
            <c:showPercent val="0"/>
            <c:separator>; </c:separator>
            <c:extLst>
              <c:ext xmlns:c15="http://schemas.microsoft.com/office/drawing/2012/chart" uri="{CE6537A1-D6FC-4f65-9D91-7224C49458BB}">
                <c15:showLeaderLines val="0"/>
              </c:ext>
            </c:extLst>
          </c:dLbls>
          <c:cat>
            <c:strRef>
              <c:f>categories</c:f>
              <c:strCache>
                <c:ptCount val="7"/>
                <c:pt idx="0">
                  <c:v>R</c:v>
                </c:pt>
                <c:pt idx="1">
                  <c:v>G</c:v>
                </c:pt>
                <c:pt idx="2">
                  <c:v>B</c:v>
                </c:pt>
                <c:pt idx="3">
                  <c:v>RG</c:v>
                </c:pt>
                <c:pt idx="4">
                  <c:v>RB</c:v>
                </c:pt>
                <c:pt idx="5">
                  <c:v>GB</c:v>
                </c:pt>
                <c:pt idx="6">
                  <c:v>RGB</c:v>
                </c:pt>
              </c:strCache>
            </c:strRef>
          </c:cat>
          <c:val>
            <c:numRef>
              <c:f>1</c:f>
              <c:numCache>
                <c:formatCode>General</c:formatCode>
                <c:ptCount val="7"/>
                <c:pt idx="0">
                  <c:v>0.570733135796052</c:v>
                </c:pt>
                <c:pt idx="1">
                  <c:v>0.534976780872054</c:v>
                </c:pt>
                <c:pt idx="2">
                  <c:v>0.582523093853072</c:v>
                </c:pt>
                <c:pt idx="3">
                  <c:v>0.592726160078122</c:v>
                </c:pt>
                <c:pt idx="4">
                  <c:v>0.605686422670475</c:v>
                </c:pt>
                <c:pt idx="5">
                  <c:v>0.57695963105311</c:v>
                </c:pt>
                <c:pt idx="6">
                  <c:v>0.588910150913706</c:v>
                </c:pt>
              </c:numCache>
            </c:numRef>
          </c:val>
        </c:ser>
        <c:ser>
          <c:idx val="2"/>
          <c:order val="2"/>
          <c:tx>
            <c:strRef>
              <c:f>label 2</c:f>
              <c:strCache>
                <c:ptCount val="1"/>
                <c:pt idx="0">
                  <c:v>Oráculo de cluster</c:v>
                </c:pt>
              </c:strCache>
            </c:strRef>
          </c:tx>
          <c:spPr>
            <a:solidFill>
              <a:srgbClr val="AEB6BC"/>
            </a:solidFill>
            <a:ln w="0">
              <a:noFill/>
            </a:ln>
          </c:spPr>
          <c:invertIfNegative val="0"/>
          <c:dLbls>
            <c:txPr>
              <a:bodyPr wrap="square"/>
              <a:lstStyle/>
              <a:p>
                <a:pPr>
                  <a:defRPr sz="1200" b="0" u="none" strike="noStrike">
                    <a:solidFill>
                      <a:srgbClr val="000000"/>
                    </a:solidFill>
                    <a:uFillTx/>
                    <a:latin typeface="Arial"/>
                  </a:defRPr>
                </a:pPr>
              </a:p>
            </c:txPr>
            <c:dLblPos val="outEnd"/>
            <c:showLegendKey val="0"/>
            <c:showVal val="0"/>
            <c:showCatName val="0"/>
            <c:showSerName val="0"/>
            <c:showPercent val="0"/>
            <c:separator>; </c:separator>
            <c:extLst>
              <c:ext xmlns:c15="http://schemas.microsoft.com/office/drawing/2012/chart" uri="{CE6537A1-D6FC-4f65-9D91-7224C49458BB}">
                <c15:showLeaderLines val="0"/>
              </c:ext>
            </c:extLst>
          </c:dLbls>
          <c:cat>
            <c:strRef>
              <c:f>categories</c:f>
              <c:strCache>
                <c:ptCount val="7"/>
                <c:pt idx="0">
                  <c:v>R</c:v>
                </c:pt>
                <c:pt idx="1">
                  <c:v>G</c:v>
                </c:pt>
                <c:pt idx="2">
                  <c:v>B</c:v>
                </c:pt>
                <c:pt idx="3">
                  <c:v>RG</c:v>
                </c:pt>
                <c:pt idx="4">
                  <c:v>RB</c:v>
                </c:pt>
                <c:pt idx="5">
                  <c:v>GB</c:v>
                </c:pt>
                <c:pt idx="6">
                  <c:v>RGB</c:v>
                </c:pt>
              </c:strCache>
            </c:strRef>
          </c:cat>
          <c:val>
            <c:numRef>
              <c:f>2</c:f>
              <c:numCache>
                <c:formatCode>General</c:formatCode>
                <c:ptCount val="7"/>
                <c:pt idx="0">
                  <c:v>0.541216808489848</c:v>
                </c:pt>
                <c:pt idx="1">
                  <c:v>0.543437605069103</c:v>
                </c:pt>
                <c:pt idx="2">
                  <c:v>0.559012241363447</c:v>
                </c:pt>
                <c:pt idx="3">
                  <c:v>0.574667327522209</c:v>
                </c:pt>
                <c:pt idx="4">
                  <c:v>0.577741909272567</c:v>
                </c:pt>
                <c:pt idx="5">
                  <c:v>0.564517750400402</c:v>
                </c:pt>
                <c:pt idx="6">
                  <c:v>0.574387780727959</c:v>
                </c:pt>
              </c:numCache>
            </c:numRef>
          </c:val>
        </c:ser>
        <c:gapWidth val="150"/>
        <c:overlap val="0"/>
        <c:axId val="61074546"/>
        <c:axId val="82560535"/>
      </c:barChart>
      <c:catAx>
        <c:axId val="61074546"/>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sz="1100" b="0" u="none" strike="noStrike">
                <a:solidFill>
                  <a:srgbClr val="5B6770"/>
                </a:solidFill>
                <a:uFillTx/>
                <a:latin typeface="Arial"/>
              </a:defRPr>
            </a:pPr>
          </a:p>
        </c:txPr>
        <c:crossAx val="82560535"/>
        <c:crosses val="autoZero"/>
        <c:auto val="1"/>
        <c:lblAlgn val="ctr"/>
        <c:lblOffset val="100"/>
        <c:noMultiLvlLbl val="0"/>
      </c:catAx>
      <c:valAx>
        <c:axId val="82560535"/>
        <c:scaling>
          <c:orientation val="minMax"/>
          <c:max val="0.65"/>
          <c:min val="0.4"/>
        </c:scaling>
        <c:delete val="0"/>
        <c:axPos val="l"/>
        <c:majorGridlines>
          <c:spPr>
            <a:ln w="6480">
              <a:solidFill>
                <a:srgbClr val="E3E6E8"/>
              </a:solidFill>
              <a:round/>
            </a:ln>
          </c:spPr>
        </c:majorGridlines>
        <c:numFmt formatCode="0.00" sourceLinked="0"/>
        <c:majorTickMark val="out"/>
        <c:minorTickMark val="none"/>
        <c:tickLblPos val="nextTo"/>
        <c:spPr>
          <a:ln w="12600">
            <a:solidFill>
              <a:srgbClr val="888888"/>
            </a:solidFill>
            <a:round/>
          </a:ln>
        </c:spPr>
        <c:txPr>
          <a:bodyPr/>
          <a:lstStyle/>
          <a:p>
            <a:pPr>
              <a:defRPr sz="900" b="0" u="none" strike="noStrike">
                <a:solidFill>
                  <a:srgbClr val="5B6770"/>
                </a:solidFill>
                <a:uFillTx/>
                <a:latin typeface="Arial"/>
              </a:defRPr>
            </a:pPr>
          </a:p>
        </c:txPr>
        <c:crossAx val="61074546"/>
        <c:crosses val="autoZero"/>
        <c:crossBetween val="between"/>
        <c:majorUnit val="0.05"/>
      </c:valAx>
      <c:spPr>
        <a:noFill/>
        <a:ln w="0">
          <a:noFill/>
        </a:ln>
      </c:spPr>
    </c:plotArea>
    <c:legend>
      <c:legendPos val="t"/>
      <c:overlay val="0"/>
      <c:spPr>
        <a:noFill/>
        <a:ln w="0">
          <a:noFill/>
        </a:ln>
      </c:spPr>
      <c:txPr>
        <a:bodyPr/>
        <a:lstStyle/>
        <a:p>
          <a:pPr>
            <a:defRPr sz="1000" b="0" u="none" strike="noStrike">
              <a:solidFill>
                <a:srgbClr val="000000"/>
              </a:solidFill>
              <a:uFillTx/>
              <a:latin typeface="Calibri"/>
            </a:defRPr>
          </a:pPr>
        </a:p>
      </c:txPr>
    </c:legend>
    <c:plotVisOnly val="1"/>
    <c:dispBlanksAs val="span"/>
  </c:chart>
  <c:spPr>
    <a:noFill/>
    <a:ln w="0">
      <a:noFill/>
    </a:ln>
  </c:sp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s-ES" sz="1800" b="0" u="none" strike="noStrike">
                <a:solidFill>
                  <a:schemeClr val="dk1"/>
                </a:solidFill>
                <a:effectLst/>
                <a:uFillTx/>
                <a:latin typeface="Calibri"/>
              </a:rPr>
              <a:t>Click to move the slide</a:t>
            </a:r>
            <a:endParaRPr lang="es-ES"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s-ES" sz="2000" b="0" u="none" strike="noStrike">
                <a:solidFill>
                  <a:srgbClr val="000000"/>
                </a:solidFill>
                <a:effectLst/>
                <a:uFillTx/>
                <a:latin typeface="Noto Sans"/>
              </a:rPr>
              <a:t>Click to edit the notes format</a:t>
            </a:r>
            <a:endParaRPr lang="es-ES" sz="2000" b="0" u="none" strike="noStrike">
              <a:solidFill>
                <a:srgbClr val="000000"/>
              </a:solidFill>
              <a:effectLst/>
              <a:uFillTx/>
              <a:latin typeface="Noto Sans"/>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s-ES" sz="1400" b="0" u="none" strike="noStrike">
                <a:solidFill>
                  <a:srgbClr val="000000"/>
                </a:solidFill>
                <a:effectLst/>
                <a:uFillTx/>
                <a:latin typeface="Noto Serif"/>
              </a:rPr>
              <a:t> </a:t>
            </a:r>
            <a:endParaRPr lang="es-ES" sz="1400" b="0" u="none" strike="noStrike">
              <a:solidFill>
                <a:srgbClr val="000000"/>
              </a:solidFill>
              <a:effectLst/>
              <a:uFillTx/>
              <a:latin typeface="Noto Serif"/>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s-ES" sz="1400" b="0" u="none" strike="noStrike">
                <a:solidFill>
                  <a:srgbClr val="000000"/>
                </a:solidFill>
                <a:effectLst/>
                <a:uFillTx/>
                <a:latin typeface="Noto Serif"/>
              </a:defRPr>
            </a:lvl1pPr>
          </a:lstStyle>
          <a:p>
            <a:pPr indent="0" algn="r">
              <a:buNone/>
            </a:pPr>
            <a:r>
              <a:rPr lang="es-ES" sz="1400" b="0" u="none" strike="noStrike">
                <a:solidFill>
                  <a:srgbClr val="000000"/>
                </a:solidFill>
                <a:effectLst/>
                <a:uFillTx/>
                <a:latin typeface="Noto Serif"/>
              </a:rPr>
              <a:t> </a:t>
            </a:r>
            <a:endParaRPr lang="es-ES" sz="1400" b="0" u="none" strike="noStrike">
              <a:solidFill>
                <a:srgbClr val="000000"/>
              </a:solidFill>
              <a:effectLst/>
              <a:uFillTx/>
              <a:latin typeface="Noto Serif"/>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s-ES" sz="1400" b="0" u="none" strike="noStrike">
                <a:solidFill>
                  <a:srgbClr val="000000"/>
                </a:solidFill>
                <a:effectLst/>
                <a:uFillTx/>
                <a:latin typeface="Noto Serif"/>
              </a:defRPr>
            </a:lvl1pPr>
          </a:lstStyle>
          <a:p>
            <a:pPr indent="0" algn="l">
              <a:buNone/>
            </a:pPr>
            <a:r>
              <a:rPr lang="es-ES" sz="1400" b="0" u="none" strike="noStrike">
                <a:solidFill>
                  <a:srgbClr val="000000"/>
                </a:solidFill>
                <a:effectLst/>
                <a:uFillTx/>
                <a:latin typeface="Noto Serif"/>
              </a:rPr>
              <a:t> </a:t>
            </a:r>
            <a:endParaRPr lang="es-ES" sz="1400" b="0" u="none" strike="noStrike">
              <a:solidFill>
                <a:srgbClr val="000000"/>
              </a:solidFill>
              <a:effectLst/>
              <a:uFillTx/>
              <a:latin typeface="Noto Serif"/>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u="none" strike="noStrike">
                <a:solidFill>
                  <a:srgbClr val="000000"/>
                </a:solidFill>
                <a:effectLst/>
                <a:uFillTx/>
                <a:latin typeface="Noto Serif"/>
              </a:defRPr>
            </a:lvl1pPr>
          </a:lstStyle>
          <a:p>
            <a:pPr indent="0" algn="r">
              <a:buNone/>
            </a:pPr>
            <a:fld id="{6820CE3B-D393-4F93-AC22-E04EE980D527}" type="slidenum">
              <a:rPr lang="es-ES" sz="1400" b="0" u="none" strike="noStrike">
                <a:solidFill>
                  <a:srgbClr val="000000"/>
                </a:solidFill>
                <a:effectLst/>
                <a:uFillTx/>
                <a:latin typeface="Noto Serif"/>
              </a:rPr>
              <a:t>1</a:t>
            </a:fld>
            <a:endParaRPr lang="es-E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6040" cy="3085920"/>
          </a:xfrm>
          <a:prstGeom prst="rect">
            <a:avLst/>
          </a:prstGeom>
          <a:ln w="0">
            <a:noFill/>
          </a:ln>
        </p:spPr>
      </p:sp>
      <p:sp>
        <p:nvSpPr>
          <p:cNvPr id="23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Presentar el problema en una frase: decidir maduro/inmaduro usando solo los píxeles que K-Means identifica como fruto.</a:t>
            </a:r>
            <a:endParaRPr lang="es-ES" sz="2000" b="0" u="none" strike="noStrike">
              <a:solidFill>
                <a:srgbClr val="000000"/>
              </a:solidFill>
              <a:effectLst/>
              <a:uFillTx/>
              <a:latin typeface="Noto Sans"/>
            </a:endParaRPr>
          </a:p>
        </p:txBody>
      </p:sp>
      <p:sp>
        <p:nvSpPr>
          <p:cNvPr id="235"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B49CFD1-3331-4DFB-98A3-212645D52238}"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6040" cy="3085920"/>
          </a:xfrm>
          <a:prstGeom prst="rect">
            <a:avLst/>
          </a:prstGeom>
          <a:ln w="0">
            <a:noFill/>
          </a:ln>
        </p:spPr>
      </p:sp>
      <p:sp>
        <p:nvSpPr>
          <p:cNvPr id="23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Etapas: segmentación no supervisada, extracción de características, dos estrategias de selección, PCA y comparación final.</a:t>
            </a:r>
            <a:endParaRPr lang="es-ES" sz="2000" b="0" u="none" strike="noStrike">
              <a:solidFill>
                <a:srgbClr val="000000"/>
              </a:solidFill>
              <a:effectLst/>
              <a:uFillTx/>
              <a:latin typeface="Noto Sans"/>
            </a:endParaRPr>
          </a:p>
        </p:txBody>
      </p:sp>
      <p:sp>
        <p:nvSpPr>
          <p:cNvPr id="238"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871F9CF-AB41-49CE-8FB3-A5D97CEAD4A8}"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6040" cy="3085920"/>
          </a:xfrm>
          <a:prstGeom prst="rect">
            <a:avLst/>
          </a:prstGeom>
          <a:ln w="0">
            <a:noFill/>
          </a:ln>
        </p:spPr>
      </p:sp>
      <p:sp>
        <p:nvSpPr>
          <p:cNvPr id="24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Destacar el control de duplicados: sin él una misma imagen podía estar en entrenamiento y validación. Dos imágenes RGBA se convierten a RGB.</a:t>
            </a:r>
            <a:endParaRPr lang="es-ES" sz="2000" b="0" u="none" strike="noStrike">
              <a:solidFill>
                <a:srgbClr val="000000"/>
              </a:solidFill>
              <a:effectLst/>
              <a:uFillTx/>
              <a:latin typeface="Noto Sans"/>
            </a:endParaRPr>
          </a:p>
        </p:txBody>
      </p:sp>
      <p:sp>
        <p:nvSpPr>
          <p:cNvPr id="241"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689255F-32B1-46BF-A187-8AE6CCFBC2DB}"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6040" cy="3085920"/>
          </a:xfrm>
          <a:prstGeom prst="rect">
            <a:avLst/>
          </a:prstGeom>
          <a:ln w="0">
            <a:noFill/>
          </a:ln>
        </p:spPr>
      </p:sp>
      <p:sp>
        <p:nvSpPr>
          <p:cNvPr id="24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Regla: el test nunca participa en decisiones. El umbral se aplica al mismo modelo con el que se eligió en validación.</a:t>
            </a:r>
            <a:endParaRPr lang="es-ES" sz="2000" b="0" u="none" strike="noStrike">
              <a:solidFill>
                <a:srgbClr val="000000"/>
              </a:solidFill>
              <a:effectLst/>
              <a:uFillTx/>
              <a:latin typeface="Noto Sans"/>
            </a:endParaRPr>
          </a:p>
        </p:txBody>
      </p:sp>
      <p:sp>
        <p:nvSpPr>
          <p:cNvPr id="244"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FCE5E5B-8793-45CA-9FF0-3D179CE54E90}"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6040" cy="3085920"/>
          </a:xfrm>
          <a:prstGeom prst="rect">
            <a:avLst/>
          </a:prstGeom>
          <a:ln w="0">
            <a:noFill/>
          </a:ln>
        </p:spPr>
      </p:sp>
      <p:sp>
        <p:nvSpPr>
          <p:cNvPr id="24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Este análisis explica por qué R y B aparecen en las mejores combinaciones de K-Means.</a:t>
            </a:r>
            <a:endParaRPr lang="es-ES" sz="2000" b="0" u="none" strike="noStrike">
              <a:solidFill>
                <a:srgbClr val="000000"/>
              </a:solidFill>
              <a:effectLst/>
              <a:uFillTx/>
              <a:latin typeface="Noto Sans"/>
            </a:endParaRPr>
          </a:p>
        </p:txBody>
      </p:sp>
      <p:sp>
        <p:nvSpPr>
          <p:cNvPr id="247"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10677B8-6974-418D-9795-5D4F53A929E6}"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685800" y="1143000"/>
            <a:ext cx="5486040" cy="3085920"/>
          </a:xfrm>
          <a:prstGeom prst="rect">
            <a:avLst/>
          </a:prstGeom>
          <a:ln w="0">
            <a:noFill/>
          </a:ln>
        </p:spPr>
      </p:sp>
      <p:sp>
        <p:nvSpPr>
          <p:cNvPr id="24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La media circular del tono es clave: la media aritmética produce tonos espurios en tomates rojos (ver ablación).</a:t>
            </a:r>
            <a:endParaRPr lang="es-ES" sz="2000" b="0" u="none" strike="noStrike">
              <a:solidFill>
                <a:srgbClr val="000000"/>
              </a:solidFill>
              <a:effectLst/>
              <a:uFillTx/>
              <a:latin typeface="Noto Sans"/>
            </a:endParaRPr>
          </a:p>
        </p:txBody>
      </p:sp>
      <p:sp>
        <p:nvSpPr>
          <p:cNvPr id="250"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94F5965-0FA9-4B41-B02B-14E0CD46607E}"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685800" y="1143000"/>
            <a:ext cx="5486040" cy="3085920"/>
          </a:xfrm>
          <a:prstGeom prst="rect">
            <a:avLst/>
          </a:prstGeom>
          <a:ln w="0">
            <a:noFill/>
          </a:ln>
        </p:spPr>
      </p:sp>
      <p:sp>
        <p:nvSpPr>
          <p:cNvPr id="25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El oráculo elige el cluster con mayor Jaccard: es la cota superior con esos clusters. Los pesos del puntaje y el prior de área se fijaron a priori a mano, sin usar máscaras de test (limitación).</a:t>
            </a:r>
            <a:endParaRPr lang="es-ES" sz="2000" b="0" u="none" strike="noStrike">
              <a:solidFill>
                <a:srgbClr val="000000"/>
              </a:solidFill>
              <a:effectLst/>
              <a:uFillTx/>
              <a:latin typeface="Noto Sans"/>
            </a:endParaRPr>
          </a:p>
        </p:txBody>
      </p:sp>
      <p:sp>
        <p:nvSpPr>
          <p:cNvPr id="253"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38C31CE-230D-49B8-8EBD-C749FF0F12B9}"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685800" y="1143000"/>
            <a:ext cx="5486040" cy="3085920"/>
          </a:xfrm>
          <a:prstGeom prst="rect">
            <a:avLst/>
          </a:prstGeom>
          <a:ln w="0">
            <a:noFill/>
          </a:ln>
        </p:spPr>
      </p:sp>
      <p:sp>
        <p:nvSpPr>
          <p:cNvPr id="25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El eje empieza en 0.40 para ver diferencias; son pequeñas. G solo es la peor porque el tomate verde y el follaje tienen G parecido.</a:t>
            </a:r>
            <a:endParaRPr lang="es-ES" sz="2000" b="0" u="none" strike="noStrike">
              <a:solidFill>
                <a:srgbClr val="000000"/>
              </a:solidFill>
              <a:effectLst/>
              <a:uFillTx/>
              <a:latin typeface="Noto Sans"/>
            </a:endParaRPr>
          </a:p>
        </p:txBody>
      </p:sp>
      <p:sp>
        <p:nvSpPr>
          <p:cNvPr id="256"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7AF511B-075B-4F0E-80E9-B16CAD6369D3}"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685800" y="1143000"/>
            <a:ext cx="5486040" cy="3085920"/>
          </a:xfrm>
          <a:prstGeom prst="rect">
            <a:avLst/>
          </a:prstGeom>
          <a:ln w="0">
            <a:noFill/>
          </a:ln>
        </p:spPr>
      </p:sp>
      <p:sp>
        <p:nvSpPr>
          <p:cNvPr id="2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Filas: peor, mediana y mejor imagen de desarrollo. Mostrar que Jaccard alto requiere fondos simples.</a:t>
            </a:r>
            <a:endParaRPr lang="es-ES" sz="2000" b="0" u="none" strike="noStrike">
              <a:solidFill>
                <a:srgbClr val="000000"/>
              </a:solidFill>
              <a:effectLst/>
              <a:uFillTx/>
              <a:latin typeface="Noto Sans"/>
            </a:endParaRPr>
          </a:p>
        </p:txBody>
      </p:sp>
      <p:sp>
        <p:nvSpPr>
          <p:cNvPr id="259"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F1B3500-4041-4192-A22A-3D1D549F2100}"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685800" y="1143000"/>
            <a:ext cx="5486040" cy="3085920"/>
          </a:xfrm>
          <a:prstGeom prst="rect">
            <a:avLst/>
          </a:prstGeom>
          <a:ln w="0">
            <a:noFill/>
          </a:ln>
        </p:spPr>
      </p:sp>
      <p:sp>
        <p:nvSpPr>
          <p:cNvPr id="2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Todas las características se calculan con la máscara estimada, no con la de referencia: se evalúa el sistema real.</a:t>
            </a:r>
            <a:endParaRPr lang="es-ES" sz="2000" b="0" u="none" strike="noStrike">
              <a:solidFill>
                <a:srgbClr val="000000"/>
              </a:solidFill>
              <a:effectLst/>
              <a:uFillTx/>
              <a:latin typeface="Noto Sans"/>
            </a:endParaRPr>
          </a:p>
        </p:txBody>
      </p:sp>
      <p:sp>
        <p:nvSpPr>
          <p:cNvPr id="262"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8F384E0-3214-4ABE-BB32-4F8EF206156D}"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685800" y="1143000"/>
            <a:ext cx="5486040" cy="3085920"/>
          </a:xfrm>
          <a:prstGeom prst="rect">
            <a:avLst/>
          </a:prstGeom>
          <a:ln w="0">
            <a:noFill/>
          </a:ln>
        </p:spPr>
      </p:sp>
      <p:sp>
        <p:nvSpPr>
          <p:cNvPr id="2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H es la más separable (maduro ≈ 20°, inmaduro ≈ 80°). a* es la segunda pero redundante con H. G y R aportan intensidad por canal.</a:t>
            </a:r>
            <a:endParaRPr lang="es-ES" sz="2000" b="0" u="none" strike="noStrike">
              <a:solidFill>
                <a:srgbClr val="000000"/>
              </a:solidFill>
              <a:effectLst/>
              <a:uFillTx/>
              <a:latin typeface="Noto Sans"/>
            </a:endParaRPr>
          </a:p>
        </p:txBody>
      </p:sp>
      <p:sp>
        <p:nvSpPr>
          <p:cNvPr id="265"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69A56A-0485-4075-BB4B-5A5765A4C578}"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685800" y="1143000"/>
            <a:ext cx="5486040" cy="3085920"/>
          </a:xfrm>
          <a:prstGeom prst="rect">
            <a:avLst/>
          </a:prstGeom>
          <a:ln w="0">
            <a:noFill/>
          </a:ln>
        </p:spPr>
      </p:sp>
      <p:sp>
        <p:nvSpPr>
          <p:cNvPr id="2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Mensaje: SFS confirma que H es la variable principal, pero su elección posterior es inestable con 36 imágenes. Incluso diferencias de menos de un nivel de gris entre entornos cambiaron el subconjunto (H,B,S,R en una versión previa) sin cambiar el desempeño en test.</a:t>
            </a:r>
            <a:endParaRPr lang="es-ES" sz="2000" b="0" u="none" strike="noStrike">
              <a:solidFill>
                <a:srgbClr val="000000"/>
              </a:solidFill>
              <a:effectLst/>
              <a:uFillTx/>
              <a:latin typeface="Noto Sans"/>
            </a:endParaRPr>
          </a:p>
        </p:txBody>
      </p:sp>
      <p:sp>
        <p:nvSpPr>
          <p:cNvPr id="268"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06BE4F1-357C-45AA-A235-75915086CAE6}"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sldImg"/>
          </p:nvPr>
        </p:nvSpPr>
        <p:spPr>
          <a:xfrm>
            <a:off x="685800" y="1143000"/>
            <a:ext cx="5486040" cy="3085920"/>
          </a:xfrm>
          <a:prstGeom prst="rect">
            <a:avLst/>
          </a:prstGeom>
          <a:ln w="0">
            <a:noFill/>
          </a:ln>
        </p:spPr>
      </p:sp>
      <p:sp>
        <p:nvSpPr>
          <p:cNvPr id="2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La salida del modelo es un log-cociente de verosimilitudes sin priors; el prior y los costos quedan en el umbral.</a:t>
            </a:r>
            <a:endParaRPr lang="es-ES" sz="2000" b="0" u="none" strike="noStrike">
              <a:solidFill>
                <a:srgbClr val="000000"/>
              </a:solidFill>
              <a:effectLst/>
              <a:uFillTx/>
              <a:latin typeface="Noto Sans"/>
            </a:endParaRPr>
          </a:p>
        </p:txBody>
      </p:sp>
      <p:sp>
        <p:nvSpPr>
          <p:cNvPr id="271"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E5D54DF-11E2-4E76-BC00-2D1EAD9C32D0}"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sldImg"/>
          </p:nvPr>
        </p:nvSpPr>
        <p:spPr>
          <a:xfrm>
            <a:off x="685800" y="1143000"/>
            <a:ext cx="5486040" cy="3085920"/>
          </a:xfrm>
          <a:prstGeom prst="rect">
            <a:avLst/>
          </a:prstGeom>
          <a:ln w="0">
            <a:noFill/>
          </a:ln>
        </p:spPr>
      </p:sp>
      <p:sp>
        <p:nvSpPr>
          <p:cNvPr id="2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Los tres umbrales quedan sobre ln θ = 0. Con θ = 1 habría errores de validación en análisis (1 FP, 0 FN), SFS (1 FP, 0 FN); PCA sin errores. La validación es separable: Youden da J = 1 en un intervalo y se toma su punto medio.</a:t>
            </a:r>
            <a:endParaRPr lang="es-ES" sz="2000" b="0" u="none" strike="noStrike">
              <a:solidFill>
                <a:srgbClr val="000000"/>
              </a:solidFill>
              <a:effectLst/>
              <a:uFillTx/>
              <a:latin typeface="Noto Sans"/>
            </a:endParaRPr>
          </a:p>
        </p:txBody>
      </p:sp>
      <p:sp>
        <p:nvSpPr>
          <p:cNvPr id="274"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24B4438-27B1-44C5-8E15-C1604BD9B349}"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sldImg"/>
          </p:nvPr>
        </p:nvSpPr>
        <p:spPr>
          <a:xfrm>
            <a:off x="685800" y="1143000"/>
            <a:ext cx="5486040" cy="3085920"/>
          </a:xfrm>
          <a:prstGeom prst="rect">
            <a:avLst/>
          </a:prstGeom>
          <a:ln w="0">
            <a:noFill/>
          </a:ln>
        </p:spPr>
      </p:sp>
      <p:sp>
        <p:nvSpPr>
          <p:cNvPr id="2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Solo PC1 está alineada con la madurez; PC2 y PC3 capturan brillo y amarillo, que dependen del fondo y la iluminación.</a:t>
            </a:r>
            <a:endParaRPr lang="es-ES" sz="2000" b="0" u="none" strike="noStrike">
              <a:solidFill>
                <a:srgbClr val="000000"/>
              </a:solidFill>
              <a:effectLst/>
              <a:uFillTx/>
              <a:latin typeface="Noto Sans"/>
            </a:endParaRPr>
          </a:p>
        </p:txBody>
      </p:sp>
      <p:sp>
        <p:nvSpPr>
          <p:cNvPr id="277"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E1900BF-E205-4E0F-B84F-770DC9DF62E7}"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sldImg"/>
          </p:nvPr>
        </p:nvSpPr>
        <p:spPr>
          <a:xfrm>
            <a:off x="685800" y="1143000"/>
            <a:ext cx="5486040" cy="3085920"/>
          </a:xfrm>
          <a:prstGeom prst="rect">
            <a:avLst/>
          </a:prstGeom>
          <a:ln w="0">
            <a:noFill/>
          </a:ln>
        </p:spPr>
      </p:sp>
      <p:sp>
        <p:nvSpPr>
          <p:cNvPr id="2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Mismas condiciones: mismas particiones, mismo umbral de Youden, mismas métricas. Cada partición elige también la combinación de canales y el post-procesado con su propio desarrollo. Las particiones comparten imágenes (incluidas las del test principal): miden estabilidad, no significancia, y son 360 predicciones sobre 60 imágenes, no 360 casos nuevos.</a:t>
            </a:r>
            <a:endParaRPr lang="es-ES" sz="2000" b="0" u="none" strike="noStrike">
              <a:solidFill>
                <a:srgbClr val="000000"/>
              </a:solidFill>
              <a:effectLst/>
              <a:uFillTx/>
              <a:latin typeface="Noto Sans"/>
            </a:endParaRPr>
          </a:p>
        </p:txBody>
      </p:sp>
      <p:sp>
        <p:nvSpPr>
          <p:cNvPr id="280"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8BDD9E-376F-40D7-8BFB-3F279E9DDA15}"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sldImg"/>
          </p:nvPr>
        </p:nvSpPr>
        <p:spPr>
          <a:xfrm>
            <a:off x="685800" y="1143000"/>
            <a:ext cx="5486040" cy="3085920"/>
          </a:xfrm>
          <a:prstGeom prst="rect">
            <a:avLst/>
          </a:prstGeom>
          <a:ln w="0">
            <a:noFill/>
          </a:ln>
        </p:spPr>
      </p:sp>
      <p:sp>
        <p:nvSpPr>
          <p:cNvPr id="2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Ablación controlada: se cambia una sola cosa. Ideal solo en test mantiene variables, modelo y umbral. Diseño fijo mantiene variables y reajusta modelo y umbral. El rediseño completo no es controlado y no se usa para concluir.</a:t>
            </a:r>
            <a:endParaRPr lang="es-ES" sz="2000" b="0" u="none" strike="noStrike">
              <a:solidFill>
                <a:srgbClr val="000000"/>
              </a:solidFill>
              <a:effectLst/>
              <a:uFillTx/>
              <a:latin typeface="Noto Sans"/>
            </a:endParaRPr>
          </a:p>
        </p:txBody>
      </p:sp>
      <p:sp>
        <p:nvSpPr>
          <p:cNvPr id="283"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89D1BD8-BEE7-409D-9987-A048C9193107}"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685800" y="1143000"/>
            <a:ext cx="5486040" cy="3085920"/>
          </a:xfrm>
          <a:prstGeom prst="rect">
            <a:avLst/>
          </a:prstGeom>
          <a:ln w="0">
            <a:noFill/>
          </a:ln>
        </p:spPr>
      </p:sp>
      <p:sp>
        <p:nvSpPr>
          <p:cNvPr id="2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Tener cada respuesta lista en menos de un minuto para la entrevista.</a:t>
            </a:r>
            <a:endParaRPr lang="es-ES" sz="2000" b="0" u="none" strike="noStrike">
              <a:solidFill>
                <a:srgbClr val="000000"/>
              </a:solidFill>
              <a:effectLst/>
              <a:uFillTx/>
              <a:latin typeface="Noto Sans"/>
            </a:endParaRPr>
          </a:p>
        </p:txBody>
      </p:sp>
      <p:sp>
        <p:nvSpPr>
          <p:cNvPr id="286"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F80E0F0-7C39-4065-9A7B-423A73CBEAE1}"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sldImg"/>
          </p:nvPr>
        </p:nvSpPr>
        <p:spPr>
          <a:xfrm>
            <a:off x="685800" y="1143000"/>
            <a:ext cx="5486040" cy="3085920"/>
          </a:xfrm>
          <a:prstGeom prst="rect">
            <a:avLst/>
          </a:prstGeom>
          <a:ln w="0">
            <a:noFill/>
          </a:ln>
        </p:spPr>
      </p:sp>
      <p:sp>
        <p:nvSpPr>
          <p:cNvPr id="28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n-US" sz="2000" b="0" u="none" strike="noStrike">
                <a:solidFill>
                  <a:srgbClr val="000000"/>
                </a:solidFill>
                <a:effectLst/>
                <a:uFillTx/>
                <a:latin typeface="Noto Sans"/>
              </a:rPr>
              <a:t>Trabajo futuro: k&gt;2 con varios clusters de fruto, textura y forma, Bayes con covarianza completa, más datos.</a:t>
            </a:r>
            <a:endParaRPr lang="es-ES" sz="2000" b="0" u="none" strike="noStrike">
              <a:solidFill>
                <a:srgbClr val="000000"/>
              </a:solidFill>
              <a:effectLst/>
              <a:uFillTx/>
              <a:latin typeface="Noto Sans"/>
            </a:endParaRPr>
          </a:p>
        </p:txBody>
      </p:sp>
      <p:sp>
        <p:nvSpPr>
          <p:cNvPr id="289"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A9F662F-089C-4CF9-8039-DC693AB663E4}" type="slidenum">
              <a:rPr lang="en-US" sz="1200" b="0" u="none" strike="noStrike">
                <a:solidFill>
                  <a:schemeClr val="dk1"/>
                </a:solidFill>
                <a:effectLst/>
                <a:uFillTx/>
                <a:latin typeface="+mn-lt"/>
                <a:ea typeface="+mn-ea"/>
              </a:rPr>
              <a:t>&lt;number&gt;</a:t>
            </a:fld>
            <a:endParaRPr lang="es-E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lvl1pPr indent="0" algn="l">
              <a:buNone/>
              <a:defRPr lang="es-ES" sz="1800" b="0" u="none" strike="noStrike">
                <a:solidFill>
                  <a:schemeClr val="dk1"/>
                </a:solidFill>
                <a:effectLst/>
                <a:uFillTx/>
                <a:latin typeface="Calibri"/>
              </a:defRPr>
            </a:lvl1pPr>
          </a:lstStyle>
          <a:p>
            <a:pPr indent="0" algn="l">
              <a:buNone/>
            </a:pPr>
            <a:r>
              <a:rPr lang="es-ES" sz="1800" b="0" u="none" strike="noStrike">
                <a:solidFill>
                  <a:schemeClr val="dk1"/>
                </a:solidFill>
                <a:effectLst/>
                <a:uFillTx/>
                <a:latin typeface="Calibri"/>
              </a:rPr>
              <a:t>Click to edit the title text format</a:t>
            </a:r>
            <a:endParaRPr lang="es-ES"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lnSpcReduction="9999"/>
          </a:bodyPr>
          <a:lstStyle>
            <a:lvl1pPr algn="l">
              <a:spcBef>
                <a:spcPts val="1417"/>
              </a:spcBef>
              <a:buClr>
                <a:srgbClr val="000000"/>
              </a:buClr>
              <a:buSzPct val="45000"/>
              <a:buFont typeface="Wingdings" charset="2"/>
              <a:buChar char=""/>
              <a:defRPr lang="es-E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s-E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s-E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s-E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s-E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s-E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s-E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s-ES" sz="3200" b="0" u="none" strike="noStrike">
                <a:solidFill>
                  <a:schemeClr val="dk1"/>
                </a:solidFill>
                <a:effectLst/>
                <a:uFillTx/>
                <a:latin typeface="Calibri"/>
              </a:rPr>
              <a:t>Click to edit the outline text format</a:t>
            </a:r>
            <a:endParaRPr lang="es-E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s-ES" sz="2400" b="0" u="none" strike="noStrike">
                <a:solidFill>
                  <a:schemeClr val="dk1"/>
                </a:solidFill>
                <a:effectLst/>
                <a:uFillTx/>
                <a:latin typeface="Calibri"/>
              </a:rPr>
              <a:t>Second Outline Level</a:t>
            </a:r>
            <a:endParaRPr lang="es-E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s-ES" sz="2000" b="0" u="none" strike="noStrike">
                <a:solidFill>
                  <a:schemeClr val="dk1"/>
                </a:solidFill>
                <a:effectLst/>
                <a:uFillTx/>
                <a:latin typeface="Calibri"/>
              </a:rPr>
              <a:t>Third Outline Level</a:t>
            </a:r>
            <a:endParaRPr lang="es-E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s-ES" sz="2000" b="0" u="none" strike="noStrike">
                <a:solidFill>
                  <a:schemeClr val="dk1"/>
                </a:solidFill>
                <a:effectLst/>
                <a:uFillTx/>
                <a:latin typeface="Calibri"/>
              </a:rPr>
              <a:t>Fourth Outline Level</a:t>
            </a:r>
            <a:endParaRPr lang="es-E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s-ES" sz="2000" b="0" u="none" strike="noStrike">
                <a:solidFill>
                  <a:schemeClr val="dk1"/>
                </a:solidFill>
                <a:effectLst/>
                <a:uFillTx/>
                <a:latin typeface="Calibri"/>
              </a:rPr>
              <a:t>Fifth Outline Level</a:t>
            </a:r>
            <a:endParaRPr lang="es-E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s-ES" sz="2000" b="0" u="none" strike="noStrike">
                <a:solidFill>
                  <a:schemeClr val="dk1"/>
                </a:solidFill>
                <a:effectLst/>
                <a:uFillTx/>
                <a:latin typeface="Calibri"/>
              </a:rPr>
              <a:t>Sixth Outline Level</a:t>
            </a:r>
            <a:endParaRPr lang="es-E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s-ES" sz="2000" b="0" u="none" strike="noStrike">
                <a:solidFill>
                  <a:schemeClr val="dk1"/>
                </a:solidFill>
                <a:effectLst/>
                <a:uFillTx/>
                <a:latin typeface="Calibri"/>
              </a:rPr>
              <a:t>Seventh Outline Level</a:t>
            </a:r>
            <a:endParaRPr lang="es-E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A30"/>
        </a:solidFill>
      </p:bgPr>
    </p:bg>
    <p:spTree>
      <p:nvGrpSpPr>
        <p:cNvPr id="1" name=""/>
        <p:cNvGrpSpPr/>
        <p:nvPr/>
      </p:nvGrpSpPr>
      <p:grpSpPr>
        <a:xfrm>
          <a:off x="0" y="0"/>
          <a:ext cx="0" cy="0"/>
          <a:chOff x="0" y="0"/>
          <a:chExt cx="0" cy="0"/>
        </a:xfrm>
      </p:grpSpPr>
      <p:pic>
        <p:nvPicPr>
          <p:cNvPr id="10" name="Image 0" descr="/home/victor/Documents/Proyectos/ia/results/segmentation_examples.png"/>
          <p:cNvPicPr/>
          <p:nvPr/>
        </p:nvPicPr>
        <p:blipFill>
          <a:blip r:embed="rId1"/>
          <a:stretch/>
        </p:blipFill>
        <p:spPr>
          <a:xfrm>
            <a:off x="5120640" y="1485360"/>
            <a:ext cx="3748680" cy="2149560"/>
          </a:xfrm>
          <a:prstGeom prst="rect">
            <a:avLst/>
          </a:prstGeom>
          <a:noFill/>
          <a:ln w="0">
            <a:noFill/>
          </a:ln>
        </p:spPr>
      </p:pic>
      <p:sp>
        <p:nvSpPr>
          <p:cNvPr id="11" name="Text 0"/>
          <p:cNvSpPr/>
          <p:nvPr/>
        </p:nvSpPr>
        <p:spPr>
          <a:xfrm>
            <a:off x="548640" y="914400"/>
            <a:ext cx="43887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D9822B"/>
                </a:solidFill>
                <a:effectLst/>
                <a:uFillTx/>
                <a:latin typeface="Calibri"/>
                <a:ea typeface="Calibri"/>
              </a:rPr>
              <a:t>Proyecto 1</a:t>
            </a:r>
            <a:endParaRPr lang="es-ES" sz="1600" b="0" u="none" strike="noStrike">
              <a:solidFill>
                <a:srgbClr val="FFFFFF"/>
              </a:solidFill>
              <a:effectLst/>
              <a:uFillTx/>
              <a:latin typeface="Noto Sans"/>
            </a:endParaRPr>
          </a:p>
        </p:txBody>
      </p:sp>
      <p:sp>
        <p:nvSpPr>
          <p:cNvPr id="12" name="Text 1"/>
          <p:cNvSpPr/>
          <p:nvPr/>
        </p:nvSpPr>
        <p:spPr>
          <a:xfrm>
            <a:off x="548640" y="1325880"/>
            <a:ext cx="4388760" cy="1737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3000" b="1" u="none" strike="noStrike">
                <a:solidFill>
                  <a:srgbClr val="FFFFFF"/>
                </a:solidFill>
                <a:effectLst/>
                <a:uFillTx/>
                <a:latin typeface="Cambria"/>
                <a:ea typeface="Cambria"/>
              </a:rPr>
              <a:t>Segmentación y clasificación del estado de madurez de tomates</a:t>
            </a:r>
            <a:endParaRPr lang="es-ES" sz="3000" b="0" u="none" strike="noStrike">
              <a:solidFill>
                <a:srgbClr val="FFFFFF"/>
              </a:solidFill>
              <a:effectLst/>
              <a:uFillTx/>
              <a:latin typeface="Noto Sans"/>
            </a:endParaRPr>
          </a:p>
        </p:txBody>
      </p:sp>
      <p:sp>
        <p:nvSpPr>
          <p:cNvPr id="13" name="Text 2"/>
          <p:cNvSpPr/>
          <p:nvPr/>
        </p:nvSpPr>
        <p:spPr>
          <a:xfrm>
            <a:off x="548640" y="3200400"/>
            <a:ext cx="438876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D6DCE0"/>
                </a:solidFill>
                <a:effectLst/>
                <a:uFillTx/>
                <a:latin typeface="Calibri"/>
                <a:ea typeface="Calibri"/>
              </a:rPr>
              <a:t>K-Means · Bayes con razón de verosimilitudes · SFS · PCA</a:t>
            </a:r>
            <a:endParaRPr lang="es-ES" sz="1400" b="0" u="none" strike="noStrike">
              <a:solidFill>
                <a:srgbClr val="FFFFFF"/>
              </a:solidFill>
              <a:effectLst/>
              <a:uFillTx/>
              <a:latin typeface="Noto Sans"/>
            </a:endParaRPr>
          </a:p>
        </p:txBody>
      </p:sp>
      <p:sp>
        <p:nvSpPr>
          <p:cNvPr id="14" name="Text 3"/>
          <p:cNvSpPr/>
          <p:nvPr/>
        </p:nvSpPr>
        <p:spPr>
          <a:xfrm>
            <a:off x="548640" y="4206240"/>
            <a:ext cx="4388760" cy="319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9AA5AD"/>
                </a:solidFill>
                <a:effectLst/>
                <a:uFillTx/>
                <a:latin typeface="Calibri"/>
                <a:ea typeface="Calibri"/>
              </a:rPr>
              <a:t>Alexa Galeano y Victor Sepulveda · INFO1185 Inteligencia Artificial · Septiembre 2026</a:t>
            </a:r>
            <a:endParaRPr lang="es-ES" sz="1200" b="0" u="none" strike="noStrike">
              <a:solidFill>
                <a:srgbClr val="FFFFFF"/>
              </a:solidFill>
              <a:effectLst/>
              <a:uFillTx/>
              <a:latin typeface="Noto Sans"/>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16"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a:t>
            </a:r>
            <a:endParaRPr lang="es-ES" sz="1400" b="0" u="none" strike="noStrike">
              <a:solidFill>
                <a:srgbClr val="000000"/>
              </a:solidFill>
              <a:effectLst/>
              <a:uFillTx/>
              <a:latin typeface="Noto Sans"/>
            </a:endParaRPr>
          </a:p>
        </p:txBody>
      </p:sp>
      <p:sp>
        <p:nvSpPr>
          <p:cNvPr id="17"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Problema y objetivo</a:t>
            </a:r>
            <a:endParaRPr lang="es-ES" sz="2600" b="0" u="none" strike="noStrike">
              <a:solidFill>
                <a:srgbClr val="000000"/>
              </a:solidFill>
              <a:effectLst/>
              <a:uFillTx/>
              <a:latin typeface="Noto Sans"/>
            </a:endParaRPr>
          </a:p>
        </p:txBody>
      </p:sp>
      <p:sp>
        <p:nvSpPr>
          <p:cNvPr id="18" name="Text 3"/>
          <p:cNvSpPr/>
          <p:nvPr/>
        </p:nvSpPr>
        <p:spPr>
          <a:xfrm>
            <a:off x="457200" y="960120"/>
            <a:ext cx="822924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500" b="0" u="none" strike="noStrike">
                <a:solidFill>
                  <a:srgbClr val="1F2933"/>
                </a:solidFill>
                <a:effectLst/>
                <a:uFillTx/>
                <a:latin typeface="Calibri"/>
                <a:ea typeface="Calibri"/>
              </a:rPr>
              <a:t>Decidir si un tomate está maduro o inmaduro a partir de una imagen RGB, usando únicamente los píxeles que un método no supervisado identifica como fruto.</a:t>
            </a:r>
            <a:endParaRPr lang="es-ES" sz="1500" b="0" u="none" strike="noStrike">
              <a:solidFill>
                <a:srgbClr val="000000"/>
              </a:solidFill>
              <a:effectLst/>
              <a:uFillTx/>
              <a:latin typeface="Noto Sans"/>
            </a:endParaRPr>
          </a:p>
        </p:txBody>
      </p:sp>
      <p:sp>
        <p:nvSpPr>
          <p:cNvPr id="19" name="Shape 4"/>
          <p:cNvSpPr/>
          <p:nvPr/>
        </p:nvSpPr>
        <p:spPr>
          <a:xfrm>
            <a:off x="457200" y="1783080"/>
            <a:ext cx="1188360" cy="822600"/>
          </a:xfrm>
          <a:prstGeom prst="roundRect">
            <a:avLst>
              <a:gd name="adj" fmla="val 8889"/>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20" name="Text 5"/>
          <p:cNvSpPr/>
          <p:nvPr/>
        </p:nvSpPr>
        <p:spPr>
          <a:xfrm>
            <a:off x="457200" y="1783080"/>
            <a:ext cx="1188360" cy="82260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1150" b="1" u="none" strike="noStrike">
                <a:solidFill>
                  <a:srgbClr val="FFFFFF"/>
                </a:solidFill>
                <a:effectLst/>
                <a:uFillTx/>
                <a:latin typeface="Calibri"/>
                <a:ea typeface="Calibri"/>
              </a:rPr>
              <a:t>Imagen RGB</a:t>
            </a:r>
            <a:endParaRPr lang="es-ES" sz="1150" b="0" u="none" strike="noStrike">
              <a:solidFill>
                <a:srgbClr val="000000"/>
              </a:solidFill>
              <a:effectLst/>
              <a:uFillTx/>
              <a:latin typeface="Noto Sans"/>
            </a:endParaRPr>
          </a:p>
        </p:txBody>
      </p:sp>
      <p:sp>
        <p:nvSpPr>
          <p:cNvPr id="21" name="Shape 6"/>
          <p:cNvSpPr/>
          <p:nvPr/>
        </p:nvSpPr>
        <p:spPr>
          <a:xfrm>
            <a:off x="1673280" y="2194560"/>
            <a:ext cx="182880" cy="360"/>
          </a:xfrm>
          <a:prstGeom prst="line">
            <a:avLst/>
          </a:prstGeom>
          <a:ln w="19050">
            <a:solidFill>
              <a:srgbClr val="5B6770"/>
            </a:solidFill>
            <a:round/>
            <a:tailEnd len="med" type="triangle" w="med"/>
          </a:ln>
        </p:spPr>
        <p:style>
          <a:lnRef idx="0"/>
          <a:fillRef idx="0"/>
          <a:effectRef idx="0"/>
          <a:fontRef idx="minor"/>
        </p:style>
        <p:txBody>
          <a:bodyPr lIns="90000" tIns="-44640" rIns="90000" bIns="-44640" anchor="t" anchorCtr="1">
            <a:noAutofit/>
          </a:bodyPr>
          <a:p>
            <a:pPr/>
            <a:endParaRPr lang="es-ES" sz="1800" b="0" u="none" strike="noStrike">
              <a:solidFill>
                <a:srgbClr val="000000"/>
              </a:solidFill>
              <a:effectLst/>
              <a:uFillTx/>
              <a:latin typeface="Noto Sans"/>
            </a:endParaRPr>
          </a:p>
        </p:txBody>
      </p:sp>
      <p:sp>
        <p:nvSpPr>
          <p:cNvPr id="22" name="Shape 7"/>
          <p:cNvSpPr/>
          <p:nvPr/>
        </p:nvSpPr>
        <p:spPr>
          <a:xfrm>
            <a:off x="1883520" y="1783080"/>
            <a:ext cx="1188360" cy="822600"/>
          </a:xfrm>
          <a:prstGeom prst="roundRect">
            <a:avLst>
              <a:gd name="adj" fmla="val 8889"/>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23" name="Text 8"/>
          <p:cNvSpPr/>
          <p:nvPr/>
        </p:nvSpPr>
        <p:spPr>
          <a:xfrm>
            <a:off x="1883520" y="1783080"/>
            <a:ext cx="1188360" cy="82260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1150" b="1" u="none" strike="noStrike">
                <a:solidFill>
                  <a:srgbClr val="FFFFFF"/>
                </a:solidFill>
                <a:effectLst/>
                <a:uFillTx/>
                <a:latin typeface="Calibri"/>
                <a:ea typeface="Calibri"/>
              </a:rPr>
              <a:t>K-Means k=2</a:t>
            </a:r>
            <a:endParaRPr lang="es-ES" sz="1150" b="0" u="none" strike="noStrike">
              <a:solidFill>
                <a:srgbClr val="000000"/>
              </a:solidFill>
              <a:effectLst/>
              <a:uFillTx/>
              <a:latin typeface="Noto Sans"/>
            </a:endParaRPr>
          </a:p>
          <a:p>
            <a:pPr algn="ctr" defTabSz="914400">
              <a:lnSpc>
                <a:spcPct val="100000"/>
              </a:lnSpc>
              <a:tabLst>
                <a:tab pos="0" algn="l"/>
              </a:tabLst>
            </a:pPr>
            <a:r>
              <a:rPr lang="en-US" sz="1150" b="1" u="none" strike="noStrike">
                <a:solidFill>
                  <a:srgbClr val="FFFFFF"/>
                </a:solidFill>
                <a:effectLst/>
                <a:uFillTx/>
                <a:latin typeface="Calibri"/>
                <a:ea typeface="Calibri"/>
              </a:rPr>
              <a:t>7 combinaciones</a:t>
            </a:r>
            <a:endParaRPr lang="es-ES" sz="1150" b="0" u="none" strike="noStrike">
              <a:solidFill>
                <a:srgbClr val="000000"/>
              </a:solidFill>
              <a:effectLst/>
              <a:uFillTx/>
              <a:latin typeface="Noto Sans"/>
            </a:endParaRPr>
          </a:p>
        </p:txBody>
      </p:sp>
      <p:sp>
        <p:nvSpPr>
          <p:cNvPr id="24" name="Shape 9"/>
          <p:cNvSpPr/>
          <p:nvPr/>
        </p:nvSpPr>
        <p:spPr>
          <a:xfrm>
            <a:off x="3099600" y="2194560"/>
            <a:ext cx="182880" cy="360"/>
          </a:xfrm>
          <a:prstGeom prst="line">
            <a:avLst/>
          </a:prstGeom>
          <a:ln w="19050">
            <a:solidFill>
              <a:srgbClr val="5B6770"/>
            </a:solidFill>
            <a:round/>
            <a:tailEnd len="med" type="triangle" w="med"/>
          </a:ln>
        </p:spPr>
        <p:style>
          <a:lnRef idx="0"/>
          <a:fillRef idx="0"/>
          <a:effectRef idx="0"/>
          <a:fontRef idx="minor"/>
        </p:style>
        <p:txBody>
          <a:bodyPr lIns="90000" tIns="-44640" rIns="90000" bIns="-44640" anchor="t" anchorCtr="1">
            <a:noAutofit/>
          </a:bodyPr>
          <a:p>
            <a:pPr/>
            <a:endParaRPr lang="es-ES" sz="1800" b="0" u="none" strike="noStrike">
              <a:solidFill>
                <a:srgbClr val="000000"/>
              </a:solidFill>
              <a:effectLst/>
              <a:uFillTx/>
              <a:latin typeface="Noto Sans"/>
            </a:endParaRPr>
          </a:p>
        </p:txBody>
      </p:sp>
      <p:sp>
        <p:nvSpPr>
          <p:cNvPr id="25" name="Shape 10"/>
          <p:cNvSpPr/>
          <p:nvPr/>
        </p:nvSpPr>
        <p:spPr>
          <a:xfrm>
            <a:off x="3310200" y="1783080"/>
            <a:ext cx="1188360" cy="822600"/>
          </a:xfrm>
          <a:prstGeom prst="roundRect">
            <a:avLst>
              <a:gd name="adj" fmla="val 8889"/>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26" name="Text 11"/>
          <p:cNvSpPr/>
          <p:nvPr/>
        </p:nvSpPr>
        <p:spPr>
          <a:xfrm>
            <a:off x="3310200" y="1783080"/>
            <a:ext cx="1188360" cy="82260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1150" b="1" u="none" strike="noStrike">
                <a:solidFill>
                  <a:srgbClr val="FFFFFF"/>
                </a:solidFill>
                <a:effectLst/>
                <a:uFillTx/>
                <a:latin typeface="Calibri"/>
                <a:ea typeface="Calibri"/>
              </a:rPr>
              <a:t>Cluster fruto</a:t>
            </a:r>
            <a:endParaRPr lang="es-ES" sz="1150" b="0" u="none" strike="noStrike">
              <a:solidFill>
                <a:srgbClr val="000000"/>
              </a:solidFill>
              <a:effectLst/>
              <a:uFillTx/>
              <a:latin typeface="Noto Sans"/>
            </a:endParaRPr>
          </a:p>
          <a:p>
            <a:pPr algn="ctr" defTabSz="914400">
              <a:lnSpc>
                <a:spcPct val="100000"/>
              </a:lnSpc>
              <a:tabLst>
                <a:tab pos="0" algn="l"/>
              </a:tabLst>
            </a:pPr>
            <a:r>
              <a:rPr lang="en-US" sz="1150" b="1" u="none" strike="noStrike">
                <a:solidFill>
                  <a:srgbClr val="FFFFFF"/>
                </a:solidFill>
                <a:effectLst/>
                <a:uFillTx/>
                <a:latin typeface="Calibri"/>
                <a:ea typeface="Calibri"/>
              </a:rPr>
              <a:t>+ post-proceso</a:t>
            </a:r>
            <a:endParaRPr lang="es-ES" sz="1150" b="0" u="none" strike="noStrike">
              <a:solidFill>
                <a:srgbClr val="000000"/>
              </a:solidFill>
              <a:effectLst/>
              <a:uFillTx/>
              <a:latin typeface="Noto Sans"/>
            </a:endParaRPr>
          </a:p>
        </p:txBody>
      </p:sp>
      <p:sp>
        <p:nvSpPr>
          <p:cNvPr id="27" name="Shape 12"/>
          <p:cNvSpPr/>
          <p:nvPr/>
        </p:nvSpPr>
        <p:spPr>
          <a:xfrm>
            <a:off x="4526280" y="2194560"/>
            <a:ext cx="182880" cy="360"/>
          </a:xfrm>
          <a:prstGeom prst="line">
            <a:avLst/>
          </a:prstGeom>
          <a:ln w="19050">
            <a:solidFill>
              <a:srgbClr val="5B6770"/>
            </a:solidFill>
            <a:round/>
            <a:tailEnd len="med" type="triangle" w="med"/>
          </a:ln>
        </p:spPr>
        <p:style>
          <a:lnRef idx="0"/>
          <a:fillRef idx="0"/>
          <a:effectRef idx="0"/>
          <a:fontRef idx="minor"/>
        </p:style>
        <p:txBody>
          <a:bodyPr lIns="90000" tIns="-44640" rIns="90000" bIns="-44640" anchor="t" anchorCtr="1">
            <a:noAutofit/>
          </a:bodyPr>
          <a:p>
            <a:pPr/>
            <a:endParaRPr lang="es-ES" sz="1800" b="0" u="none" strike="noStrike">
              <a:solidFill>
                <a:srgbClr val="000000"/>
              </a:solidFill>
              <a:effectLst/>
              <a:uFillTx/>
              <a:latin typeface="Noto Sans"/>
            </a:endParaRPr>
          </a:p>
        </p:txBody>
      </p:sp>
      <p:sp>
        <p:nvSpPr>
          <p:cNvPr id="28" name="Shape 13"/>
          <p:cNvSpPr/>
          <p:nvPr/>
        </p:nvSpPr>
        <p:spPr>
          <a:xfrm>
            <a:off x="4736520" y="1783080"/>
            <a:ext cx="1188360" cy="822600"/>
          </a:xfrm>
          <a:prstGeom prst="roundRect">
            <a:avLst>
              <a:gd name="adj" fmla="val 8889"/>
            </a:avLst>
          </a:prstGeom>
          <a:solidFill>
            <a:srgbClr val="D9822B"/>
          </a:solidFill>
          <a:ln w="12700">
            <a:solidFill>
              <a:srgbClr val="D9822B"/>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29" name="Text 14"/>
          <p:cNvSpPr/>
          <p:nvPr/>
        </p:nvSpPr>
        <p:spPr>
          <a:xfrm>
            <a:off x="4736520" y="1783080"/>
            <a:ext cx="1188360" cy="82260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1150" b="1" u="none" strike="noStrike">
                <a:solidFill>
                  <a:srgbClr val="FFFFFF"/>
                </a:solidFill>
                <a:effectLst/>
                <a:uFillTx/>
                <a:latin typeface="Calibri"/>
                <a:ea typeface="Calibri"/>
              </a:rPr>
              <a:t>Descriptores</a:t>
            </a:r>
            <a:endParaRPr lang="es-ES" sz="1150" b="0" u="none" strike="noStrike">
              <a:solidFill>
                <a:srgbClr val="000000"/>
              </a:solidFill>
              <a:effectLst/>
              <a:uFillTx/>
              <a:latin typeface="Noto Sans"/>
            </a:endParaRPr>
          </a:p>
          <a:p>
            <a:pPr algn="ctr" defTabSz="914400">
              <a:lnSpc>
                <a:spcPct val="100000"/>
              </a:lnSpc>
              <a:tabLst>
                <a:tab pos="0" algn="l"/>
              </a:tabLst>
            </a:pPr>
            <a:r>
              <a:rPr lang="en-US" sz="1150" b="1" u="none" strike="noStrike">
                <a:solidFill>
                  <a:srgbClr val="FFFFFF"/>
                </a:solidFill>
                <a:effectLst/>
                <a:uFillTx/>
                <a:latin typeface="Calibri"/>
                <a:ea typeface="Calibri"/>
              </a:rPr>
              <a:t>de color</a:t>
            </a:r>
            <a:endParaRPr lang="es-ES" sz="1150" b="0" u="none" strike="noStrike">
              <a:solidFill>
                <a:srgbClr val="000000"/>
              </a:solidFill>
              <a:effectLst/>
              <a:uFillTx/>
              <a:latin typeface="Noto Sans"/>
            </a:endParaRPr>
          </a:p>
        </p:txBody>
      </p:sp>
      <p:sp>
        <p:nvSpPr>
          <p:cNvPr id="30" name="Shape 15"/>
          <p:cNvSpPr/>
          <p:nvPr/>
        </p:nvSpPr>
        <p:spPr>
          <a:xfrm>
            <a:off x="5952600" y="2194560"/>
            <a:ext cx="182880" cy="360"/>
          </a:xfrm>
          <a:prstGeom prst="line">
            <a:avLst/>
          </a:prstGeom>
          <a:ln w="19050">
            <a:solidFill>
              <a:srgbClr val="5B6770"/>
            </a:solidFill>
            <a:round/>
            <a:tailEnd len="med" type="triangle" w="med"/>
          </a:ln>
        </p:spPr>
        <p:style>
          <a:lnRef idx="0"/>
          <a:fillRef idx="0"/>
          <a:effectRef idx="0"/>
          <a:fontRef idx="minor"/>
        </p:style>
        <p:txBody>
          <a:bodyPr lIns="90000" tIns="-44640" rIns="90000" bIns="-44640" anchor="t" anchorCtr="1">
            <a:noAutofit/>
          </a:bodyPr>
          <a:p>
            <a:pPr/>
            <a:endParaRPr lang="es-ES" sz="1800" b="0" u="none" strike="noStrike">
              <a:solidFill>
                <a:srgbClr val="000000"/>
              </a:solidFill>
              <a:effectLst/>
              <a:uFillTx/>
              <a:latin typeface="Noto Sans"/>
            </a:endParaRPr>
          </a:p>
        </p:txBody>
      </p:sp>
      <p:sp>
        <p:nvSpPr>
          <p:cNvPr id="31" name="Shape 16"/>
          <p:cNvSpPr/>
          <p:nvPr/>
        </p:nvSpPr>
        <p:spPr>
          <a:xfrm>
            <a:off x="6163200" y="1783080"/>
            <a:ext cx="1188360" cy="822600"/>
          </a:xfrm>
          <a:prstGeom prst="roundRect">
            <a:avLst>
              <a:gd name="adj" fmla="val 8889"/>
            </a:avLst>
          </a:prstGeom>
          <a:solidFill>
            <a:srgbClr val="D9822B"/>
          </a:solidFill>
          <a:ln w="12700">
            <a:solidFill>
              <a:srgbClr val="D9822B"/>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32" name="Text 17"/>
          <p:cNvSpPr/>
          <p:nvPr/>
        </p:nvSpPr>
        <p:spPr>
          <a:xfrm>
            <a:off x="6163200" y="1783080"/>
            <a:ext cx="1188360" cy="82260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1150" b="1" u="none" strike="noStrike">
                <a:solidFill>
                  <a:srgbClr val="FFFFFF"/>
                </a:solidFill>
                <a:effectLst/>
                <a:uFillTx/>
                <a:latin typeface="Calibri"/>
                <a:ea typeface="Calibri"/>
              </a:rPr>
              <a:t>Análisis · SFS</a:t>
            </a:r>
            <a:endParaRPr lang="es-ES" sz="1150" b="0" u="none" strike="noStrike">
              <a:solidFill>
                <a:srgbClr val="000000"/>
              </a:solidFill>
              <a:effectLst/>
              <a:uFillTx/>
              <a:latin typeface="Noto Sans"/>
            </a:endParaRPr>
          </a:p>
          <a:p>
            <a:pPr algn="ctr" defTabSz="914400">
              <a:lnSpc>
                <a:spcPct val="100000"/>
              </a:lnSpc>
              <a:tabLst>
                <a:tab pos="0" algn="l"/>
              </a:tabLst>
            </a:pPr>
            <a:r>
              <a:rPr lang="en-US" sz="1150" b="1" u="none" strike="noStrike">
                <a:solidFill>
                  <a:srgbClr val="FFFFFF"/>
                </a:solidFill>
                <a:effectLst/>
                <a:uFillTx/>
                <a:latin typeface="Calibri"/>
                <a:ea typeface="Calibri"/>
              </a:rPr>
              <a:t>· PCA</a:t>
            </a:r>
            <a:endParaRPr lang="es-ES" sz="1150" b="0" u="none" strike="noStrike">
              <a:solidFill>
                <a:srgbClr val="000000"/>
              </a:solidFill>
              <a:effectLst/>
              <a:uFillTx/>
              <a:latin typeface="Noto Sans"/>
            </a:endParaRPr>
          </a:p>
        </p:txBody>
      </p:sp>
      <p:sp>
        <p:nvSpPr>
          <p:cNvPr id="33" name="Shape 18"/>
          <p:cNvSpPr/>
          <p:nvPr/>
        </p:nvSpPr>
        <p:spPr>
          <a:xfrm>
            <a:off x="7378920" y="2194560"/>
            <a:ext cx="182880" cy="360"/>
          </a:xfrm>
          <a:prstGeom prst="line">
            <a:avLst/>
          </a:prstGeom>
          <a:ln w="19050">
            <a:solidFill>
              <a:srgbClr val="5B6770"/>
            </a:solidFill>
            <a:round/>
            <a:tailEnd len="med" type="triangle" w="med"/>
          </a:ln>
        </p:spPr>
        <p:style>
          <a:lnRef idx="0"/>
          <a:fillRef idx="0"/>
          <a:effectRef idx="0"/>
          <a:fontRef idx="minor"/>
        </p:style>
        <p:txBody>
          <a:bodyPr lIns="90000" tIns="-44640" rIns="90000" bIns="-44640" anchor="t" anchorCtr="1">
            <a:noAutofit/>
          </a:bodyPr>
          <a:p>
            <a:pPr/>
            <a:endParaRPr lang="es-ES" sz="1800" b="0" u="none" strike="noStrike">
              <a:solidFill>
                <a:srgbClr val="000000"/>
              </a:solidFill>
              <a:effectLst/>
              <a:uFillTx/>
              <a:latin typeface="Noto Sans"/>
            </a:endParaRPr>
          </a:p>
        </p:txBody>
      </p:sp>
      <p:sp>
        <p:nvSpPr>
          <p:cNvPr id="34" name="Shape 19"/>
          <p:cNvSpPr/>
          <p:nvPr/>
        </p:nvSpPr>
        <p:spPr>
          <a:xfrm>
            <a:off x="7589520" y="1783080"/>
            <a:ext cx="1188360" cy="822600"/>
          </a:xfrm>
          <a:prstGeom prst="roundRect">
            <a:avLst>
              <a:gd name="adj" fmla="val 8889"/>
            </a:avLst>
          </a:prstGeom>
          <a:solidFill>
            <a:srgbClr val="4F7A28"/>
          </a:solidFill>
          <a:ln w="12700">
            <a:solidFill>
              <a:srgbClr val="4F7A28"/>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35" name="Text 20"/>
          <p:cNvSpPr/>
          <p:nvPr/>
        </p:nvSpPr>
        <p:spPr>
          <a:xfrm>
            <a:off x="7589520" y="1783080"/>
            <a:ext cx="1188360" cy="822600"/>
          </a:xfrm>
          <a:prstGeom prst="rect">
            <a:avLst/>
          </a:prstGeom>
          <a:noFill/>
          <a:ln w="0">
            <a:noFill/>
          </a:ln>
        </p:spPr>
        <p:style>
          <a:lnRef idx="0"/>
          <a:fillRef idx="0"/>
          <a:effectRef idx="0"/>
          <a:fontRef idx="minor"/>
        </p:style>
        <p:txBody>
          <a:bodyPr lIns="25560" tIns="25560" rIns="25560" bIns="25560" anchor="ctr">
            <a:noAutofit/>
          </a:bodyPr>
          <a:p>
            <a:pPr algn="ctr" defTabSz="914400">
              <a:lnSpc>
                <a:spcPct val="100000"/>
              </a:lnSpc>
              <a:tabLst>
                <a:tab pos="0" algn="l"/>
              </a:tabLst>
            </a:pPr>
            <a:r>
              <a:rPr lang="en-US" sz="1150" b="1" u="none" strike="noStrike">
                <a:solidFill>
                  <a:srgbClr val="FFFFFF"/>
                </a:solidFill>
                <a:effectLst/>
                <a:uFillTx/>
                <a:latin typeface="Calibri"/>
                <a:ea typeface="Calibri"/>
              </a:rPr>
              <a:t>Bayes</a:t>
            </a:r>
            <a:endParaRPr lang="es-ES" sz="1150" b="0" u="none" strike="noStrike">
              <a:solidFill>
                <a:srgbClr val="000000"/>
              </a:solidFill>
              <a:effectLst/>
              <a:uFillTx/>
              <a:latin typeface="Noto Sans"/>
            </a:endParaRPr>
          </a:p>
          <a:p>
            <a:pPr algn="ctr" defTabSz="914400">
              <a:lnSpc>
                <a:spcPct val="100000"/>
              </a:lnSpc>
              <a:tabLst>
                <a:tab pos="0" algn="l"/>
              </a:tabLst>
            </a:pPr>
            <a:r>
              <a:rPr lang="en-US" sz="1150" b="1" u="none" strike="noStrike">
                <a:solidFill>
                  <a:srgbClr val="FFFFFF"/>
                </a:solidFill>
                <a:effectLst/>
                <a:uFillTx/>
                <a:latin typeface="Calibri"/>
                <a:ea typeface="Calibri"/>
              </a:rPr>
              <a:t>ln Λ ≥ ln θ*</a:t>
            </a:r>
            <a:endParaRPr lang="es-ES" sz="1150" b="0" u="none" strike="noStrike">
              <a:solidFill>
                <a:srgbClr val="000000"/>
              </a:solidFill>
              <a:effectLst/>
              <a:uFillTx/>
              <a:latin typeface="Noto Sans"/>
            </a:endParaRPr>
          </a:p>
        </p:txBody>
      </p:sp>
      <p:sp>
        <p:nvSpPr>
          <p:cNvPr id="36" name="Shape 21"/>
          <p:cNvSpPr/>
          <p:nvPr/>
        </p:nvSpPr>
        <p:spPr>
          <a:xfrm>
            <a:off x="457200" y="2926080"/>
            <a:ext cx="2651400" cy="1737000"/>
          </a:xfrm>
          <a:prstGeom prst="roundRect">
            <a:avLst>
              <a:gd name="adj" fmla="val 4211"/>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37" name="Text 22"/>
          <p:cNvSpPr/>
          <p:nvPr/>
        </p:nvSpPr>
        <p:spPr>
          <a:xfrm>
            <a:off x="594360" y="301752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3227"/>
                </a:solidFill>
                <a:effectLst/>
                <a:uFillTx/>
                <a:latin typeface="Calibri"/>
                <a:ea typeface="Calibri"/>
              </a:rPr>
              <a:t>No supervisado</a:t>
            </a:r>
            <a:endParaRPr lang="es-ES" sz="1300" b="0" u="none" strike="noStrike">
              <a:solidFill>
                <a:srgbClr val="000000"/>
              </a:solidFill>
              <a:effectLst/>
              <a:uFillTx/>
              <a:latin typeface="Noto Sans"/>
            </a:endParaRPr>
          </a:p>
        </p:txBody>
      </p:sp>
      <p:sp>
        <p:nvSpPr>
          <p:cNvPr id="38" name="Text 23"/>
          <p:cNvSpPr/>
          <p:nvPr/>
        </p:nvSpPr>
        <p:spPr>
          <a:xfrm>
            <a:off x="594360" y="3337560"/>
            <a:ext cx="2377080" cy="1234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F2933"/>
                </a:solidFill>
                <a:effectLst/>
                <a:uFillTx/>
                <a:latin typeface="Calibri"/>
                <a:ea typeface="Calibri"/>
              </a:rPr>
              <a:t>K-Means separa fruto y fondo por color; se evalúa con Jaccard contra la máscara anotada.</a:t>
            </a:r>
            <a:endParaRPr lang="es-ES" sz="1200" b="0" u="none" strike="noStrike">
              <a:solidFill>
                <a:srgbClr val="000000"/>
              </a:solidFill>
              <a:effectLst/>
              <a:uFillTx/>
              <a:latin typeface="Noto Sans"/>
            </a:endParaRPr>
          </a:p>
        </p:txBody>
      </p:sp>
      <p:sp>
        <p:nvSpPr>
          <p:cNvPr id="39" name="Shape 24"/>
          <p:cNvSpPr/>
          <p:nvPr/>
        </p:nvSpPr>
        <p:spPr>
          <a:xfrm>
            <a:off x="3246120" y="2926080"/>
            <a:ext cx="2651400" cy="1737000"/>
          </a:xfrm>
          <a:prstGeom prst="roundRect">
            <a:avLst>
              <a:gd name="adj" fmla="val 4211"/>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40" name="Text 25"/>
          <p:cNvSpPr/>
          <p:nvPr/>
        </p:nvSpPr>
        <p:spPr>
          <a:xfrm>
            <a:off x="3383280" y="301752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4F7A28"/>
                </a:solidFill>
                <a:effectLst/>
                <a:uFillTx/>
                <a:latin typeface="Calibri"/>
                <a:ea typeface="Calibri"/>
              </a:rPr>
              <a:t>Supervisado</a:t>
            </a:r>
            <a:endParaRPr lang="es-ES" sz="1300" b="0" u="none" strike="noStrike">
              <a:solidFill>
                <a:srgbClr val="000000"/>
              </a:solidFill>
              <a:effectLst/>
              <a:uFillTx/>
              <a:latin typeface="Noto Sans"/>
            </a:endParaRPr>
          </a:p>
        </p:txBody>
      </p:sp>
      <p:sp>
        <p:nvSpPr>
          <p:cNvPr id="41" name="Text 26"/>
          <p:cNvSpPr/>
          <p:nvPr/>
        </p:nvSpPr>
        <p:spPr>
          <a:xfrm>
            <a:off x="3383280" y="3337560"/>
            <a:ext cx="2377080" cy="1234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F2933"/>
                </a:solidFill>
                <a:effectLst/>
                <a:uFillTx/>
                <a:latin typeface="Calibri"/>
                <a:ea typeface="Calibri"/>
              </a:rPr>
              <a:t>Clasificador bayesiano gaussiano sobre descriptores del fruto; umbral por Youden.</a:t>
            </a:r>
            <a:endParaRPr lang="es-ES" sz="1200" b="0" u="none" strike="noStrike">
              <a:solidFill>
                <a:srgbClr val="000000"/>
              </a:solidFill>
              <a:effectLst/>
              <a:uFillTx/>
              <a:latin typeface="Noto Sans"/>
            </a:endParaRPr>
          </a:p>
        </p:txBody>
      </p:sp>
      <p:sp>
        <p:nvSpPr>
          <p:cNvPr id="42" name="Shape 27"/>
          <p:cNvSpPr/>
          <p:nvPr/>
        </p:nvSpPr>
        <p:spPr>
          <a:xfrm>
            <a:off x="6035040" y="2926080"/>
            <a:ext cx="2651400" cy="1737000"/>
          </a:xfrm>
          <a:prstGeom prst="roundRect">
            <a:avLst>
              <a:gd name="adj" fmla="val 4211"/>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43" name="Text 28"/>
          <p:cNvSpPr/>
          <p:nvPr/>
        </p:nvSpPr>
        <p:spPr>
          <a:xfrm>
            <a:off x="6172200" y="301752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D9822B"/>
                </a:solidFill>
                <a:effectLst/>
                <a:uFillTx/>
                <a:latin typeface="Calibri"/>
                <a:ea typeface="Calibri"/>
              </a:rPr>
              <a:t>Preguntas</a:t>
            </a:r>
            <a:endParaRPr lang="es-ES" sz="1300" b="0" u="none" strike="noStrike">
              <a:solidFill>
                <a:srgbClr val="000000"/>
              </a:solidFill>
              <a:effectLst/>
              <a:uFillTx/>
              <a:latin typeface="Noto Sans"/>
            </a:endParaRPr>
          </a:p>
        </p:txBody>
      </p:sp>
      <p:sp>
        <p:nvSpPr>
          <p:cNvPr id="44" name="Text 29"/>
          <p:cNvSpPr/>
          <p:nvPr/>
        </p:nvSpPr>
        <p:spPr>
          <a:xfrm>
            <a:off x="6172200" y="3337560"/>
            <a:ext cx="2377080" cy="12340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F2933"/>
                </a:solidFill>
                <a:effectLst/>
                <a:uFillTx/>
                <a:latin typeface="Calibri"/>
                <a:ea typeface="Calibri"/>
              </a:rPr>
              <a:t>¿Qué canales segmentan mejor? ¿Qué variables distinguen la madurez? ¿Ayuda PCA? ¿Cuánto pesa la segmentación?</a:t>
            </a:r>
            <a:endParaRPr lang="es-ES" sz="12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46"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2</a:t>
            </a:r>
            <a:endParaRPr lang="es-ES" sz="1400" b="0" u="none" strike="noStrike">
              <a:solidFill>
                <a:srgbClr val="000000"/>
              </a:solidFill>
              <a:effectLst/>
              <a:uFillTx/>
              <a:latin typeface="Noto Sans"/>
            </a:endParaRPr>
          </a:p>
        </p:txBody>
      </p:sp>
      <p:sp>
        <p:nvSpPr>
          <p:cNvPr id="47"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Descripción de los datos</a:t>
            </a:r>
            <a:endParaRPr lang="es-ES" sz="2600" b="0" u="none" strike="noStrike">
              <a:solidFill>
                <a:srgbClr val="000000"/>
              </a:solidFill>
              <a:effectLst/>
              <a:uFillTx/>
              <a:latin typeface="Noto Sans"/>
            </a:endParaRPr>
          </a:p>
        </p:txBody>
      </p:sp>
      <p:sp>
        <p:nvSpPr>
          <p:cNvPr id="48" name="Text 3"/>
          <p:cNvSpPr/>
          <p:nvPr/>
        </p:nvSpPr>
        <p:spPr>
          <a:xfrm>
            <a:off x="457200" y="960120"/>
            <a:ext cx="19198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B83227"/>
                </a:solidFill>
                <a:effectLst/>
                <a:uFillTx/>
                <a:latin typeface="Cambria"/>
                <a:ea typeface="Cambria"/>
              </a:rPr>
              <a:t>60</a:t>
            </a:r>
            <a:endParaRPr lang="es-ES" sz="3000" b="0" u="none" strike="noStrike">
              <a:solidFill>
                <a:srgbClr val="000000"/>
              </a:solidFill>
              <a:effectLst/>
              <a:uFillTx/>
              <a:latin typeface="Noto Sans"/>
            </a:endParaRPr>
          </a:p>
        </p:txBody>
      </p:sp>
      <p:sp>
        <p:nvSpPr>
          <p:cNvPr id="49" name="Text 4"/>
          <p:cNvSpPr/>
          <p:nvPr/>
        </p:nvSpPr>
        <p:spPr>
          <a:xfrm>
            <a:off x="457200" y="1508760"/>
            <a:ext cx="1919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B6770"/>
                </a:solidFill>
                <a:effectLst/>
                <a:uFillTx/>
                <a:latin typeface="Calibri"/>
                <a:ea typeface="Calibri"/>
              </a:rPr>
              <a:t>imágenes útiles (31 maduras / 29 inmaduras)</a:t>
            </a:r>
            <a:endParaRPr lang="es-ES" sz="1100" b="0" u="none" strike="noStrike">
              <a:solidFill>
                <a:srgbClr val="000000"/>
              </a:solidFill>
              <a:effectLst/>
              <a:uFillTx/>
              <a:latin typeface="Noto Sans"/>
            </a:endParaRPr>
          </a:p>
        </p:txBody>
      </p:sp>
      <p:sp>
        <p:nvSpPr>
          <p:cNvPr id="50" name="Text 5"/>
          <p:cNvSpPr/>
          <p:nvPr/>
        </p:nvSpPr>
        <p:spPr>
          <a:xfrm>
            <a:off x="2514600" y="960120"/>
            <a:ext cx="19198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B83227"/>
                </a:solidFill>
                <a:effectLst/>
                <a:uFillTx/>
                <a:latin typeface="Cambria"/>
                <a:ea typeface="Cambria"/>
              </a:rPr>
              <a:t>2</a:t>
            </a:r>
            <a:endParaRPr lang="es-ES" sz="3000" b="0" u="none" strike="noStrike">
              <a:solidFill>
                <a:srgbClr val="000000"/>
              </a:solidFill>
              <a:effectLst/>
              <a:uFillTx/>
              <a:latin typeface="Noto Sans"/>
            </a:endParaRPr>
          </a:p>
        </p:txBody>
      </p:sp>
      <p:sp>
        <p:nvSpPr>
          <p:cNvPr id="51" name="Text 6"/>
          <p:cNvSpPr/>
          <p:nvPr/>
        </p:nvSpPr>
        <p:spPr>
          <a:xfrm>
            <a:off x="2514600" y="1508760"/>
            <a:ext cx="1919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B6770"/>
                </a:solidFill>
                <a:effectLst/>
                <a:uFillTx/>
                <a:latin typeface="Calibri"/>
                <a:ea typeface="Calibri"/>
              </a:rPr>
              <a:t>duplicados exactos eliminados (MD5)</a:t>
            </a:r>
            <a:endParaRPr lang="es-ES" sz="1100" b="0" u="none" strike="noStrike">
              <a:solidFill>
                <a:srgbClr val="000000"/>
              </a:solidFill>
              <a:effectLst/>
              <a:uFillTx/>
              <a:latin typeface="Noto Sans"/>
            </a:endParaRPr>
          </a:p>
        </p:txBody>
      </p:sp>
      <p:sp>
        <p:nvSpPr>
          <p:cNvPr id="52" name="Text 7"/>
          <p:cNvSpPr/>
          <p:nvPr/>
        </p:nvSpPr>
        <p:spPr>
          <a:xfrm>
            <a:off x="4572000" y="960120"/>
            <a:ext cx="19198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4F7A28"/>
                </a:solidFill>
                <a:effectLst/>
                <a:uFillTx/>
                <a:latin typeface="Cambria"/>
                <a:ea typeface="Cambria"/>
              </a:rPr>
              <a:t>36/12/12</a:t>
            </a:r>
            <a:endParaRPr lang="es-ES" sz="3000" b="0" u="none" strike="noStrike">
              <a:solidFill>
                <a:srgbClr val="000000"/>
              </a:solidFill>
              <a:effectLst/>
              <a:uFillTx/>
              <a:latin typeface="Noto Sans"/>
            </a:endParaRPr>
          </a:p>
        </p:txBody>
      </p:sp>
      <p:sp>
        <p:nvSpPr>
          <p:cNvPr id="53" name="Text 8"/>
          <p:cNvSpPr/>
          <p:nvPr/>
        </p:nvSpPr>
        <p:spPr>
          <a:xfrm>
            <a:off x="4572000" y="1508760"/>
            <a:ext cx="1919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B6770"/>
                </a:solidFill>
                <a:effectLst/>
                <a:uFillTx/>
                <a:latin typeface="Calibri"/>
                <a:ea typeface="Calibri"/>
              </a:rPr>
              <a:t>entrenamiento / validación / test</a:t>
            </a:r>
            <a:endParaRPr lang="es-ES" sz="1100" b="0" u="none" strike="noStrike">
              <a:solidFill>
                <a:srgbClr val="000000"/>
              </a:solidFill>
              <a:effectLst/>
              <a:uFillTx/>
              <a:latin typeface="Noto Sans"/>
            </a:endParaRPr>
          </a:p>
        </p:txBody>
      </p:sp>
      <p:sp>
        <p:nvSpPr>
          <p:cNvPr id="54" name="Text 9"/>
          <p:cNvSpPr/>
          <p:nvPr/>
        </p:nvSpPr>
        <p:spPr>
          <a:xfrm>
            <a:off x="6629400" y="960120"/>
            <a:ext cx="210276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D9822B"/>
                </a:solidFill>
                <a:effectLst/>
                <a:uFillTx/>
                <a:latin typeface="Cambria"/>
                <a:ea typeface="Cambria"/>
              </a:rPr>
              <a:t>≤ 256 px</a:t>
            </a:r>
            <a:endParaRPr lang="es-ES" sz="3000" b="0" u="none" strike="noStrike">
              <a:solidFill>
                <a:srgbClr val="000000"/>
              </a:solidFill>
              <a:effectLst/>
              <a:uFillTx/>
              <a:latin typeface="Noto Sans"/>
            </a:endParaRPr>
          </a:p>
        </p:txBody>
      </p:sp>
      <p:sp>
        <p:nvSpPr>
          <p:cNvPr id="55" name="Text 10"/>
          <p:cNvSpPr/>
          <p:nvPr/>
        </p:nvSpPr>
        <p:spPr>
          <a:xfrm>
            <a:off x="6629400" y="1508760"/>
            <a:ext cx="210276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B6770"/>
                </a:solidFill>
                <a:effectLst/>
                <a:uFillTx/>
                <a:latin typeface="Calibri"/>
                <a:ea typeface="Calibri"/>
              </a:rPr>
              <a:t>lado máximo tras reducir (anchos originales 250–7792)</a:t>
            </a:r>
            <a:endParaRPr lang="es-ES" sz="1100" b="0" u="none" strike="noStrike">
              <a:solidFill>
                <a:srgbClr val="000000"/>
              </a:solidFill>
              <a:effectLst/>
              <a:uFillTx/>
              <a:latin typeface="Noto Sans"/>
            </a:endParaRPr>
          </a:p>
        </p:txBody>
      </p:sp>
      <p:pic>
        <p:nvPicPr>
          <p:cNvPr id="56" name="Image 0" descr="/home/victor/Documents/Proyectos/ia/results/dataset_montage.png"/>
          <p:cNvPicPr/>
          <p:nvPr/>
        </p:nvPicPr>
        <p:blipFill>
          <a:blip r:embed="rId1"/>
          <a:stretch/>
        </p:blipFill>
        <p:spPr>
          <a:xfrm>
            <a:off x="457200" y="2247840"/>
            <a:ext cx="8229240" cy="1904760"/>
          </a:xfrm>
          <a:prstGeom prst="rect">
            <a:avLst/>
          </a:prstGeom>
          <a:noFill/>
          <a:ln w="0">
            <a:noFill/>
          </a:ln>
        </p:spPr>
      </p:pic>
      <p:sp>
        <p:nvSpPr>
          <p:cNvPr id="57" name="Text 11"/>
          <p:cNvSpPr/>
          <p:nvPr/>
        </p:nvSpPr>
        <p:spPr>
          <a:xfrm>
            <a:off x="457200" y="4343400"/>
            <a:ext cx="822924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5B6770"/>
                </a:solidFill>
                <a:effectLst/>
                <a:uFillTx/>
                <a:latin typeface="Calibri"/>
                <a:ea typeface="Calibri"/>
              </a:rPr>
              <a:t>Partición estratificada por imagen, semilla 20260913. Antes de particionar se detectaron y eliminaron dos pares de imágenes idénticas. Fondos simples (blanco) y complejos (follaje, platos, madera); varios frutos por imagen.</a:t>
            </a:r>
            <a:endParaRPr lang="es-ES" sz="115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59"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3</a:t>
            </a:r>
            <a:endParaRPr lang="es-ES" sz="1400" b="0" u="none" strike="noStrike">
              <a:solidFill>
                <a:srgbClr val="000000"/>
              </a:solidFill>
              <a:effectLst/>
              <a:uFillTx/>
              <a:latin typeface="Noto Sans"/>
            </a:endParaRPr>
          </a:p>
        </p:txBody>
      </p:sp>
      <p:sp>
        <p:nvSpPr>
          <p:cNvPr id="60"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Metodología general y control de fuga</a:t>
            </a:r>
            <a:endParaRPr lang="es-ES" sz="2600" b="0" u="none" strike="noStrike">
              <a:solidFill>
                <a:srgbClr val="000000"/>
              </a:solidFill>
              <a:effectLst/>
              <a:uFillTx/>
              <a:latin typeface="Noto Sans"/>
            </a:endParaRPr>
          </a:p>
        </p:txBody>
      </p:sp>
      <p:graphicFrame>
        <p:nvGraphicFramePr>
          <p:cNvPr id="61" name="Table 0"/>
          <p:cNvGraphicFramePr/>
          <p:nvPr/>
        </p:nvGraphicFramePr>
        <p:xfrm>
          <a:off x="457200" y="1005840"/>
          <a:ext cx="5120280" cy="2743200"/>
        </p:xfrm>
        <a:graphic>
          <a:graphicData uri="http://schemas.openxmlformats.org/drawingml/2006/table">
            <a:tbl>
              <a:tblPr/>
              <a:tblGrid>
                <a:gridCol w="2834640"/>
                <a:gridCol w="2286000"/>
              </a:tblGrid>
              <a:tr h="457200">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Decisión</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Datos usados</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r>
              <a:tr h="4572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Combinación de canales y post-procesado</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Desarrollo (entrenamiento + validación)</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4572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Selección por análisis, SFS, estandarización, PCA</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Solo entrenamiento</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4572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Umbral de la razón de verosimilitudes (Youden)</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Validación, con el modelo de entrenamiento</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4572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Métricas finales (AUC, exactitud, sens., espec.)</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1" u="none" strike="noStrike">
                          <a:solidFill>
                            <a:srgbClr val="B83227"/>
                          </a:solidFill>
                          <a:effectLst/>
                          <a:uFillTx/>
                          <a:latin typeface="Calibri"/>
                          <a:ea typeface="Calibri"/>
                        </a:rPr>
                        <a:t>Test: no interviene en decisiones</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4572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Análisis complementarios (máscara, robustez)</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Test y 30 particiones; no cambian el sistema</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bl>
          </a:graphicData>
        </a:graphic>
      </p:graphicFrame>
      <p:sp>
        <p:nvSpPr>
          <p:cNvPr id="62" name="Shape 3"/>
          <p:cNvSpPr/>
          <p:nvPr/>
        </p:nvSpPr>
        <p:spPr>
          <a:xfrm>
            <a:off x="5852160" y="1005840"/>
            <a:ext cx="2834280" cy="1599840"/>
          </a:xfrm>
          <a:prstGeom prst="roundRect">
            <a:avLst>
              <a:gd name="adj" fmla="val 4571"/>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63" name="Text 4"/>
          <p:cNvSpPr/>
          <p:nvPr/>
        </p:nvSpPr>
        <p:spPr>
          <a:xfrm>
            <a:off x="5989320" y="1097280"/>
            <a:ext cx="2559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4F7A28"/>
                </a:solidFill>
                <a:effectLst/>
                <a:uFillTx/>
                <a:latin typeface="Calibri"/>
                <a:ea typeface="Calibri"/>
              </a:rPr>
              <a:t>Reproducible</a:t>
            </a:r>
            <a:endParaRPr lang="es-ES" sz="1300" b="0" u="none" strike="noStrike">
              <a:solidFill>
                <a:srgbClr val="000000"/>
              </a:solidFill>
              <a:effectLst/>
              <a:uFillTx/>
              <a:latin typeface="Noto Sans"/>
            </a:endParaRPr>
          </a:p>
        </p:txBody>
      </p:sp>
      <p:sp>
        <p:nvSpPr>
          <p:cNvPr id="64" name="Text 5"/>
          <p:cNvSpPr/>
          <p:nvPr/>
        </p:nvSpPr>
        <p:spPr>
          <a:xfrm>
            <a:off x="5989320" y="1417320"/>
            <a:ext cx="255996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F2933"/>
                </a:solidFill>
                <a:effectLst/>
                <a:uFillTx/>
                <a:latin typeface="Calibri"/>
                <a:ea typeface="Calibri"/>
              </a:rPr>
              <a:t>Semilla 20260913 en partición, muestreo de píxeles, K-Means y validación cruzada. Parámetros en tomato/config.py.</a:t>
            </a:r>
            <a:endParaRPr lang="es-ES" sz="1200" b="0" u="none" strike="noStrike">
              <a:solidFill>
                <a:srgbClr val="000000"/>
              </a:solidFill>
              <a:effectLst/>
              <a:uFillTx/>
              <a:latin typeface="Noto Sans"/>
            </a:endParaRPr>
          </a:p>
        </p:txBody>
      </p:sp>
      <p:sp>
        <p:nvSpPr>
          <p:cNvPr id="65" name="Shape 6"/>
          <p:cNvSpPr/>
          <p:nvPr/>
        </p:nvSpPr>
        <p:spPr>
          <a:xfrm>
            <a:off x="5852160" y="2743200"/>
            <a:ext cx="2834280" cy="1599840"/>
          </a:xfrm>
          <a:prstGeom prst="roundRect">
            <a:avLst>
              <a:gd name="adj" fmla="val 4571"/>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66" name="Text 7"/>
          <p:cNvSpPr/>
          <p:nvPr/>
        </p:nvSpPr>
        <p:spPr>
          <a:xfrm>
            <a:off x="5989320" y="2834640"/>
            <a:ext cx="25599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D9822B"/>
                </a:solidFill>
                <a:effectLst/>
                <a:uFillTx/>
                <a:latin typeface="Calibri"/>
                <a:ea typeface="Calibri"/>
              </a:rPr>
              <a:t>Trazable</a:t>
            </a:r>
            <a:endParaRPr lang="es-ES" sz="1300" b="0" u="none" strike="noStrike">
              <a:solidFill>
                <a:srgbClr val="000000"/>
              </a:solidFill>
              <a:effectLst/>
              <a:uFillTx/>
              <a:latin typeface="Noto Sans"/>
            </a:endParaRPr>
          </a:p>
        </p:txBody>
      </p:sp>
      <p:sp>
        <p:nvSpPr>
          <p:cNvPr id="67" name="Text 8"/>
          <p:cNvSpPr/>
          <p:nvPr/>
        </p:nvSpPr>
        <p:spPr>
          <a:xfrm>
            <a:off x="5989320" y="3154680"/>
            <a:ext cx="255996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F2933"/>
                </a:solidFill>
                <a:effectLst/>
                <a:uFillTx/>
                <a:latin typeface="Calibri"/>
                <a:ea typeface="Calibri"/>
              </a:rPr>
              <a:t>Las tablas y cifras del informe y de esta presentación se generan desde los resultados del código.</a:t>
            </a:r>
            <a:endParaRPr lang="es-ES" sz="12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69"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4</a:t>
            </a:r>
            <a:endParaRPr lang="es-ES" sz="1400" b="0" u="none" strike="noStrike">
              <a:solidFill>
                <a:srgbClr val="000000"/>
              </a:solidFill>
              <a:effectLst/>
              <a:uFillTx/>
              <a:latin typeface="Noto Sans"/>
            </a:endParaRPr>
          </a:p>
        </p:txBody>
      </p:sp>
      <p:sp>
        <p:nvSpPr>
          <p:cNvPr id="70"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Análisis exploratorio: fruto vs fondo</a:t>
            </a:r>
            <a:endParaRPr lang="es-ES" sz="2600" b="0" u="none" strike="noStrike">
              <a:solidFill>
                <a:srgbClr val="000000"/>
              </a:solidFill>
              <a:effectLst/>
              <a:uFillTx/>
              <a:latin typeface="Noto Sans"/>
            </a:endParaRPr>
          </a:p>
        </p:txBody>
      </p:sp>
      <p:pic>
        <p:nvPicPr>
          <p:cNvPr id="71" name="Image 0" descr="/home/victor/Documents/Proyectos/ia/results/pixel_hist_fruit_background.png"/>
          <p:cNvPicPr/>
          <p:nvPr/>
        </p:nvPicPr>
        <p:blipFill>
          <a:blip r:embed="rId1"/>
          <a:stretch/>
        </p:blipFill>
        <p:spPr>
          <a:xfrm>
            <a:off x="473400" y="868680"/>
            <a:ext cx="8197200" cy="3474360"/>
          </a:xfrm>
          <a:prstGeom prst="rect">
            <a:avLst/>
          </a:prstGeom>
          <a:noFill/>
          <a:ln w="0">
            <a:noFill/>
          </a:ln>
        </p:spPr>
      </p:pic>
      <p:sp>
        <p:nvSpPr>
          <p:cNvPr id="72" name="Shape 3"/>
          <p:cNvSpPr/>
          <p:nvPr/>
        </p:nvSpPr>
        <p:spPr>
          <a:xfrm>
            <a:off x="457200" y="4389120"/>
            <a:ext cx="2651400" cy="639720"/>
          </a:xfrm>
          <a:prstGeom prst="roundRect">
            <a:avLst>
              <a:gd name="adj" fmla="val 11429"/>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73" name="Text 4"/>
          <p:cNvSpPr/>
          <p:nvPr/>
        </p:nvSpPr>
        <p:spPr>
          <a:xfrm>
            <a:off x="594360" y="448056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3227"/>
                </a:solidFill>
                <a:effectLst/>
                <a:uFillTx/>
                <a:latin typeface="Calibri"/>
                <a:ea typeface="Calibri"/>
              </a:rPr>
              <a:t>Fruto: S alto, B bajo</a:t>
            </a:r>
            <a:endParaRPr lang="es-ES" sz="1300" b="0" u="none" strike="noStrike">
              <a:solidFill>
                <a:srgbClr val="000000"/>
              </a:solidFill>
              <a:effectLst/>
              <a:uFillTx/>
              <a:latin typeface="Noto Sans"/>
            </a:endParaRPr>
          </a:p>
        </p:txBody>
      </p:sp>
      <p:sp>
        <p:nvSpPr>
          <p:cNvPr id="74" name="Text 5"/>
          <p:cNvSpPr/>
          <p:nvPr/>
        </p:nvSpPr>
        <p:spPr>
          <a:xfrm>
            <a:off x="594360" y="4800600"/>
            <a:ext cx="2377080" cy="136800"/>
          </a:xfrm>
          <a:prstGeom prst="rect">
            <a:avLst/>
          </a:prstGeom>
          <a:noFill/>
          <a:ln w="0">
            <a:noFill/>
          </a:ln>
        </p:spPr>
        <p:style>
          <a:lnRef idx="0"/>
          <a:fillRef idx="0"/>
          <a:effectRef idx="0"/>
          <a:fontRef idx="minor"/>
        </p:style>
        <p:txBody>
          <a:bodyPr lIns="0" tIns="0" rIns="0" bIns="0" anchor="t">
            <a:noAutofit/>
          </a:bodyPr>
          <a:p>
            <a:pPr/>
            <a:endParaRPr lang="en-US" sz="1200" b="0" u="none" strike="noStrike">
              <a:solidFill>
                <a:schemeClr val="dk1"/>
              </a:solidFill>
              <a:effectLst/>
              <a:uFillTx/>
              <a:latin typeface="Calibri"/>
            </a:endParaRPr>
          </a:p>
        </p:txBody>
      </p:sp>
      <p:sp>
        <p:nvSpPr>
          <p:cNvPr id="75" name="Shape 6"/>
          <p:cNvSpPr/>
          <p:nvPr/>
        </p:nvSpPr>
        <p:spPr>
          <a:xfrm>
            <a:off x="3246120" y="4389120"/>
            <a:ext cx="2651400" cy="639720"/>
          </a:xfrm>
          <a:prstGeom prst="roundRect">
            <a:avLst>
              <a:gd name="adj" fmla="val 11429"/>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76" name="Text 7"/>
          <p:cNvSpPr/>
          <p:nvPr/>
        </p:nvSpPr>
        <p:spPr>
          <a:xfrm>
            <a:off x="3383280" y="448056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5B6770"/>
                </a:solidFill>
                <a:effectLst/>
                <a:uFillTx/>
                <a:latin typeface="Calibri"/>
                <a:ea typeface="Calibri"/>
              </a:rPr>
              <a:t>Fondo muy variable</a:t>
            </a:r>
            <a:endParaRPr lang="es-ES" sz="1300" b="0" u="none" strike="noStrike">
              <a:solidFill>
                <a:srgbClr val="000000"/>
              </a:solidFill>
              <a:effectLst/>
              <a:uFillTx/>
              <a:latin typeface="Noto Sans"/>
            </a:endParaRPr>
          </a:p>
        </p:txBody>
      </p:sp>
      <p:sp>
        <p:nvSpPr>
          <p:cNvPr id="77" name="Text 8"/>
          <p:cNvSpPr/>
          <p:nvPr/>
        </p:nvSpPr>
        <p:spPr>
          <a:xfrm>
            <a:off x="3383280" y="4800600"/>
            <a:ext cx="2377080" cy="136800"/>
          </a:xfrm>
          <a:prstGeom prst="rect">
            <a:avLst/>
          </a:prstGeom>
          <a:noFill/>
          <a:ln w="0">
            <a:noFill/>
          </a:ln>
        </p:spPr>
        <p:style>
          <a:lnRef idx="0"/>
          <a:fillRef idx="0"/>
          <a:effectRef idx="0"/>
          <a:fontRef idx="minor"/>
        </p:style>
        <p:txBody>
          <a:bodyPr lIns="0" tIns="0" rIns="0" bIns="0" anchor="t">
            <a:noAutofit/>
          </a:bodyPr>
          <a:p>
            <a:pPr/>
            <a:endParaRPr lang="en-US" sz="1200" b="0" u="none" strike="noStrike">
              <a:solidFill>
                <a:schemeClr val="dk1"/>
              </a:solidFill>
              <a:effectLst/>
              <a:uFillTx/>
              <a:latin typeface="Calibri"/>
            </a:endParaRPr>
          </a:p>
        </p:txBody>
      </p:sp>
      <p:sp>
        <p:nvSpPr>
          <p:cNvPr id="78" name="Shape 9"/>
          <p:cNvSpPr/>
          <p:nvPr/>
        </p:nvSpPr>
        <p:spPr>
          <a:xfrm>
            <a:off x="6035040" y="4389120"/>
            <a:ext cx="2651400" cy="639720"/>
          </a:xfrm>
          <a:prstGeom prst="roundRect">
            <a:avLst>
              <a:gd name="adj" fmla="val 11429"/>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79" name="Text 10"/>
          <p:cNvSpPr/>
          <p:nvPr/>
        </p:nvSpPr>
        <p:spPr>
          <a:xfrm>
            <a:off x="6172200" y="448056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4F7A28"/>
                </a:solidFill>
                <a:effectLst/>
                <a:uFillTx/>
                <a:latin typeface="Calibri"/>
                <a:ea typeface="Calibri"/>
              </a:rPr>
              <a:t>Tomate verde ≈ follaje</a:t>
            </a:r>
            <a:endParaRPr lang="es-ES" sz="1300" b="0" u="none" strike="noStrike">
              <a:solidFill>
                <a:srgbClr val="000000"/>
              </a:solidFill>
              <a:effectLst/>
              <a:uFillTx/>
              <a:latin typeface="Noto Sans"/>
            </a:endParaRPr>
          </a:p>
        </p:txBody>
      </p:sp>
      <p:sp>
        <p:nvSpPr>
          <p:cNvPr id="80" name="Text 11"/>
          <p:cNvSpPr/>
          <p:nvPr/>
        </p:nvSpPr>
        <p:spPr>
          <a:xfrm>
            <a:off x="6172200" y="4800600"/>
            <a:ext cx="2377080" cy="136800"/>
          </a:xfrm>
          <a:prstGeom prst="rect">
            <a:avLst/>
          </a:prstGeom>
          <a:noFill/>
          <a:ln w="0">
            <a:noFill/>
          </a:ln>
        </p:spPr>
        <p:style>
          <a:lnRef idx="0"/>
          <a:fillRef idx="0"/>
          <a:effectRef idx="0"/>
          <a:fontRef idx="minor"/>
        </p:style>
        <p:txBody>
          <a:bodyPr lIns="0" tIns="0" rIns="0" bIns="0" anchor="t">
            <a:noAutofit/>
          </a:bodyPr>
          <a:p>
            <a:pPr/>
            <a:endParaRPr lang="en-US" sz="12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82"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5</a:t>
            </a:r>
            <a:endParaRPr lang="es-ES" sz="1400" b="0" u="none" strike="noStrike">
              <a:solidFill>
                <a:srgbClr val="000000"/>
              </a:solidFill>
              <a:effectLst/>
              <a:uFillTx/>
              <a:latin typeface="Noto Sans"/>
            </a:endParaRPr>
          </a:p>
        </p:txBody>
      </p:sp>
      <p:sp>
        <p:nvSpPr>
          <p:cNvPr id="83"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Análisis exploratorio: maduro vs inmaduro</a:t>
            </a:r>
            <a:endParaRPr lang="es-ES" sz="2600" b="0" u="none" strike="noStrike">
              <a:solidFill>
                <a:srgbClr val="000000"/>
              </a:solidFill>
              <a:effectLst/>
              <a:uFillTx/>
              <a:latin typeface="Noto Sans"/>
            </a:endParaRPr>
          </a:p>
        </p:txBody>
      </p:sp>
      <p:pic>
        <p:nvPicPr>
          <p:cNvPr id="84" name="Image 0" descr="/home/victor/Documents/Proyectos/ia/results/pixel_hist_ripe_unripe.png"/>
          <p:cNvPicPr/>
          <p:nvPr/>
        </p:nvPicPr>
        <p:blipFill>
          <a:blip r:embed="rId1"/>
          <a:stretch/>
        </p:blipFill>
        <p:spPr>
          <a:xfrm>
            <a:off x="473400" y="868680"/>
            <a:ext cx="8197200" cy="3474360"/>
          </a:xfrm>
          <a:prstGeom prst="rect">
            <a:avLst/>
          </a:prstGeom>
          <a:noFill/>
          <a:ln w="0">
            <a:noFill/>
          </a:ln>
        </p:spPr>
      </p:pic>
      <p:sp>
        <p:nvSpPr>
          <p:cNvPr id="85" name="Shape 3"/>
          <p:cNvSpPr/>
          <p:nvPr/>
        </p:nvSpPr>
        <p:spPr>
          <a:xfrm>
            <a:off x="457200" y="4389120"/>
            <a:ext cx="4023000" cy="639720"/>
          </a:xfrm>
          <a:prstGeom prst="roundRect">
            <a:avLst>
              <a:gd name="adj" fmla="val 11429"/>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86" name="Text 4"/>
          <p:cNvSpPr/>
          <p:nvPr/>
        </p:nvSpPr>
        <p:spPr>
          <a:xfrm>
            <a:off x="594360" y="4480560"/>
            <a:ext cx="37486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4F7A28"/>
                </a:solidFill>
                <a:effectLst/>
                <a:uFillTx/>
                <a:latin typeface="Calibri"/>
                <a:ea typeface="Calibri"/>
              </a:rPr>
              <a:t>H y a* separan las clases; R sube y G baja</a:t>
            </a:r>
            <a:endParaRPr lang="es-ES" sz="1300" b="0" u="none" strike="noStrike">
              <a:solidFill>
                <a:srgbClr val="000000"/>
              </a:solidFill>
              <a:effectLst/>
              <a:uFillTx/>
              <a:latin typeface="Noto Sans"/>
            </a:endParaRPr>
          </a:p>
        </p:txBody>
      </p:sp>
      <p:sp>
        <p:nvSpPr>
          <p:cNvPr id="87" name="Text 5"/>
          <p:cNvSpPr/>
          <p:nvPr/>
        </p:nvSpPr>
        <p:spPr>
          <a:xfrm>
            <a:off x="594360" y="4800600"/>
            <a:ext cx="3748680" cy="136800"/>
          </a:xfrm>
          <a:prstGeom prst="rect">
            <a:avLst/>
          </a:prstGeom>
          <a:noFill/>
          <a:ln w="0">
            <a:noFill/>
          </a:ln>
        </p:spPr>
        <p:style>
          <a:lnRef idx="0"/>
          <a:fillRef idx="0"/>
          <a:effectRef idx="0"/>
          <a:fontRef idx="minor"/>
        </p:style>
        <p:txBody>
          <a:bodyPr lIns="0" tIns="0" rIns="0" bIns="0" anchor="t">
            <a:noAutofit/>
          </a:bodyPr>
          <a:p>
            <a:pPr/>
            <a:endParaRPr lang="en-US" sz="1200" b="0" u="none" strike="noStrike">
              <a:solidFill>
                <a:schemeClr val="dk1"/>
              </a:solidFill>
              <a:effectLst/>
              <a:uFillTx/>
              <a:latin typeface="Calibri"/>
            </a:endParaRPr>
          </a:p>
        </p:txBody>
      </p:sp>
      <p:sp>
        <p:nvSpPr>
          <p:cNvPr id="88" name="Shape 6"/>
          <p:cNvSpPr/>
          <p:nvPr/>
        </p:nvSpPr>
        <p:spPr>
          <a:xfrm>
            <a:off x="4617720" y="4389120"/>
            <a:ext cx="4068720" cy="639720"/>
          </a:xfrm>
          <a:prstGeom prst="roundRect">
            <a:avLst>
              <a:gd name="adj" fmla="val 11429"/>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89" name="Text 7"/>
          <p:cNvSpPr/>
          <p:nvPr/>
        </p:nvSpPr>
        <p:spPr>
          <a:xfrm>
            <a:off x="4754880" y="4480560"/>
            <a:ext cx="379440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3227"/>
                </a:solidFill>
                <a:effectLst/>
                <a:uFillTx/>
                <a:latin typeface="Calibri"/>
                <a:ea typeface="Calibri"/>
              </a:rPr>
              <a:t>H circular: media de 5° y 355° ≠ 180°</a:t>
            </a:r>
            <a:endParaRPr lang="es-ES" sz="1300" b="0" u="none" strike="noStrike">
              <a:solidFill>
                <a:srgbClr val="000000"/>
              </a:solidFill>
              <a:effectLst/>
              <a:uFillTx/>
              <a:latin typeface="Noto Sans"/>
            </a:endParaRPr>
          </a:p>
        </p:txBody>
      </p:sp>
      <p:sp>
        <p:nvSpPr>
          <p:cNvPr id="90" name="Text 8"/>
          <p:cNvSpPr/>
          <p:nvPr/>
        </p:nvSpPr>
        <p:spPr>
          <a:xfrm>
            <a:off x="4754880" y="4800600"/>
            <a:ext cx="3794400" cy="136800"/>
          </a:xfrm>
          <a:prstGeom prst="rect">
            <a:avLst/>
          </a:prstGeom>
          <a:noFill/>
          <a:ln w="0">
            <a:noFill/>
          </a:ln>
        </p:spPr>
        <p:style>
          <a:lnRef idx="0"/>
          <a:fillRef idx="0"/>
          <a:effectRef idx="0"/>
          <a:fontRef idx="minor"/>
        </p:style>
        <p:txBody>
          <a:bodyPr lIns="0" tIns="0" rIns="0" bIns="0" anchor="t">
            <a:noAutofit/>
          </a:bodyPr>
          <a:p>
            <a:pPr/>
            <a:endParaRPr lang="en-US" sz="12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1"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92"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6</a:t>
            </a:r>
            <a:endParaRPr lang="es-ES" sz="1400" b="0" u="none" strike="noStrike">
              <a:solidFill>
                <a:srgbClr val="000000"/>
              </a:solidFill>
              <a:effectLst/>
              <a:uFillTx/>
              <a:latin typeface="Noto Sans"/>
            </a:endParaRPr>
          </a:p>
        </p:txBody>
      </p:sp>
      <p:sp>
        <p:nvSpPr>
          <p:cNvPr id="93"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Segmentación con K-Means</a:t>
            </a:r>
            <a:endParaRPr lang="es-ES" sz="2600" b="0" u="none" strike="noStrike">
              <a:solidFill>
                <a:srgbClr val="000000"/>
              </a:solidFill>
              <a:effectLst/>
              <a:uFillTx/>
              <a:latin typeface="Noto Sans"/>
            </a:endParaRPr>
          </a:p>
        </p:txBody>
      </p:sp>
      <p:graphicFrame>
        <p:nvGraphicFramePr>
          <p:cNvPr id="94" name="Table 0"/>
          <p:cNvGraphicFramePr/>
          <p:nvPr/>
        </p:nvGraphicFramePr>
        <p:xfrm>
          <a:off x="457200" y="960120"/>
          <a:ext cx="4845960" cy="1954800"/>
        </p:xfrm>
        <a:graphic>
          <a:graphicData uri="http://schemas.openxmlformats.org/drawingml/2006/table">
            <a:tbl>
              <a:tblPr/>
              <a:tblGrid>
                <a:gridCol w="1234440"/>
                <a:gridCol w="3611880"/>
              </a:tblGrid>
              <a:tr h="38376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Clusters</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k = 2 (fruto / fondo), un modelo por imagen y combinación</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38376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Inicialización</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k-means++, 10 reinicios (menor inercia)</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38376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Convergencia</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Δ centroides &lt; 1e-4 o 300 iteraciones (máx. observado: 28)</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38376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Semilla</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20260913; ajuste con 12.000 píxeles, asignación de todos</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38376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Cluster fruto</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puntaje de objeto: brillo, saturación, compacidad, centralidad, área, borde</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bl>
          </a:graphicData>
        </a:graphic>
      </p:graphicFrame>
      <p:graphicFrame>
        <p:nvGraphicFramePr>
          <p:cNvPr id="95" name="Table 1"/>
          <p:cNvGraphicFramePr/>
          <p:nvPr/>
        </p:nvGraphicFramePr>
        <p:xfrm>
          <a:off x="5532120" y="960120"/>
          <a:ext cx="3154320" cy="2118960"/>
        </p:xfrm>
        <a:graphic>
          <a:graphicData uri="http://schemas.openxmlformats.org/drawingml/2006/table">
            <a:tbl>
              <a:tblPr/>
              <a:tblGrid>
                <a:gridCol w="594360"/>
                <a:gridCol w="640080"/>
                <a:gridCol w="640080"/>
                <a:gridCol w="640080"/>
                <a:gridCol w="640080"/>
              </a:tblGrid>
              <a:tr h="246600">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Canales</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Puntaje</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Mín. borde</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Máx. sat.</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Oráculo</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R</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0.528</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0.504</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0.416</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5B6770"/>
                          </a:solidFill>
                          <a:effectLst/>
                          <a:uFillTx/>
                          <a:latin typeface="Calibri"/>
                          <a:ea typeface="Calibri"/>
                        </a:rPr>
                        <a:t>0.541</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G</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0.510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0.470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0.477</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5B6770"/>
                          </a:solidFill>
                          <a:effectLst/>
                          <a:uFillTx/>
                          <a:latin typeface="Calibri"/>
                          <a:ea typeface="Calibri"/>
                        </a:rPr>
                        <a:t>0.543</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B</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0.543</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0.472</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0.545</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5B6770"/>
                          </a:solidFill>
                          <a:effectLst/>
                          <a:uFillTx/>
                          <a:latin typeface="Calibri"/>
                          <a:ea typeface="Calibri"/>
                        </a:rPr>
                        <a:t>0.559</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RG</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0.557</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0.550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0.471</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5B6770"/>
                          </a:solidFill>
                          <a:effectLst/>
                          <a:uFillTx/>
                          <a:latin typeface="Calibri"/>
                          <a:ea typeface="Calibri"/>
                        </a:rPr>
                        <a:t>0.575</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RB</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0.568</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0.552</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0.494</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5B6770"/>
                          </a:solidFill>
                          <a:effectLst/>
                          <a:uFillTx/>
                          <a:latin typeface="Calibri"/>
                          <a:ea typeface="Calibri"/>
                        </a:rPr>
                        <a:t>0.578</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GB</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0.538</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0.496</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0.516</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5B6770"/>
                          </a:solidFill>
                          <a:effectLst/>
                          <a:uFillTx/>
                          <a:latin typeface="Calibri"/>
                          <a:ea typeface="Calibri"/>
                        </a:rPr>
                        <a:t>0.565</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RGB</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0.552</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0.535</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0.499</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5B6770"/>
                          </a:solidFill>
                          <a:effectLst/>
                          <a:uFillTx/>
                          <a:latin typeface="Calibri"/>
                          <a:ea typeface="Calibri"/>
                        </a:rPr>
                        <a:t>0.574</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bl>
          </a:graphicData>
        </a:graphic>
      </p:graphicFrame>
      <p:sp>
        <p:nvSpPr>
          <p:cNvPr id="96" name="Text 3"/>
          <p:cNvSpPr/>
          <p:nvPr/>
        </p:nvSpPr>
        <p:spPr>
          <a:xfrm>
            <a:off x="5532120" y="3063240"/>
            <a:ext cx="315432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5B6770"/>
                </a:solidFill>
                <a:effectLst/>
                <a:uFillTx/>
                <a:latin typeface="Calibri"/>
                <a:ea typeface="Calibri"/>
              </a:rPr>
              <a:t>Jaccard medio en desarrollo según la regla para elegir el cluster fruto. El puntaje de objeto gana en 6 de 7 combinaciones y queda cerca del oráculo: el límite es K-Means, no la regla.</a:t>
            </a:r>
            <a:endParaRPr lang="es-ES" sz="1050" b="0" u="none" strike="noStrike">
              <a:solidFill>
                <a:srgbClr val="000000"/>
              </a:solidFill>
              <a:effectLst/>
              <a:uFillTx/>
              <a:latin typeface="Noto Sans"/>
            </a:endParaRPr>
          </a:p>
        </p:txBody>
      </p:sp>
      <p:sp>
        <p:nvSpPr>
          <p:cNvPr id="97" name="Text 4"/>
          <p:cNvSpPr/>
          <p:nvPr/>
        </p:nvSpPr>
        <p:spPr>
          <a:xfrm>
            <a:off x="457200" y="3063240"/>
            <a:ext cx="48459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i="1" u="none" strike="noStrike">
                <a:solidFill>
                  <a:srgbClr val="1F2933"/>
                </a:solidFill>
                <a:effectLst/>
                <a:uFillTx/>
                <a:latin typeface="Calibri"/>
                <a:ea typeface="Calibri"/>
              </a:rPr>
              <a:t>La máscara de referencia solo se usa para calcular J = |A∩B| / |A∪B|.</a:t>
            </a:r>
            <a:endParaRPr lang="es-ES" sz="12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99"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7</a:t>
            </a:r>
            <a:endParaRPr lang="es-ES" sz="1400" b="0" u="none" strike="noStrike">
              <a:solidFill>
                <a:srgbClr val="000000"/>
              </a:solidFill>
              <a:effectLst/>
              <a:uFillTx/>
              <a:latin typeface="Noto Sans"/>
            </a:endParaRPr>
          </a:p>
        </p:txBody>
      </p:sp>
      <p:sp>
        <p:nvSpPr>
          <p:cNvPr id="100"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Comparación de las siete combinaciones (Jaccard)</a:t>
            </a:r>
            <a:endParaRPr lang="es-ES" sz="2600" b="0" u="none" strike="noStrike">
              <a:solidFill>
                <a:srgbClr val="000000"/>
              </a:solidFill>
              <a:effectLst/>
              <a:uFillTx/>
              <a:latin typeface="Noto Sans"/>
            </a:endParaRPr>
          </a:p>
        </p:txBody>
      </p:sp>
      <p:graphicFrame>
        <p:nvGraphicFramePr>
          <p:cNvPr id="101" name="Chart 0"/>
          <p:cNvGraphicFramePr/>
          <p:nvPr/>
        </p:nvGraphicFramePr>
        <p:xfrm>
          <a:off x="365760" y="914400"/>
          <a:ext cx="5668920" cy="3840120"/>
        </p:xfrm>
        <a:graphic>
          <a:graphicData uri="http://schemas.openxmlformats.org/drawingml/2006/chart">
            <c:chart xmlns:c="http://schemas.openxmlformats.org/drawingml/2006/chart" xmlns:r="http://schemas.openxmlformats.org/officeDocument/2006/relationships" r:id="rId1"/>
          </a:graphicData>
        </a:graphic>
      </p:graphicFrame>
      <p:sp>
        <p:nvSpPr>
          <p:cNvPr id="102" name="Text 3"/>
          <p:cNvSpPr/>
          <p:nvPr/>
        </p:nvSpPr>
        <p:spPr>
          <a:xfrm>
            <a:off x="6309360" y="1005840"/>
            <a:ext cx="24685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B83227"/>
                </a:solidFill>
                <a:effectLst/>
                <a:uFillTx/>
                <a:latin typeface="Cambria"/>
                <a:ea typeface="Cambria"/>
              </a:rPr>
              <a:t>RB</a:t>
            </a:r>
            <a:endParaRPr lang="es-ES" sz="3000" b="0" u="none" strike="noStrike">
              <a:solidFill>
                <a:srgbClr val="000000"/>
              </a:solidFill>
              <a:effectLst/>
              <a:uFillTx/>
              <a:latin typeface="Noto Sans"/>
            </a:endParaRPr>
          </a:p>
        </p:txBody>
      </p:sp>
      <p:sp>
        <p:nvSpPr>
          <p:cNvPr id="103" name="Text 4"/>
          <p:cNvSpPr/>
          <p:nvPr/>
        </p:nvSpPr>
        <p:spPr>
          <a:xfrm>
            <a:off x="6309360" y="1554480"/>
            <a:ext cx="2468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B6770"/>
                </a:solidFill>
                <a:effectLst/>
                <a:uFillTx/>
                <a:latin typeface="Calibri"/>
                <a:ea typeface="Calibri"/>
              </a:rPr>
              <a:t>mejor combinación (J = 0.568)</a:t>
            </a:r>
            <a:endParaRPr lang="es-ES" sz="1100" b="0" u="none" strike="noStrike">
              <a:solidFill>
                <a:srgbClr val="000000"/>
              </a:solidFill>
              <a:effectLst/>
              <a:uFillTx/>
              <a:latin typeface="Noto Sans"/>
            </a:endParaRPr>
          </a:p>
        </p:txBody>
      </p:sp>
      <p:sp>
        <p:nvSpPr>
          <p:cNvPr id="104" name="Text 5"/>
          <p:cNvSpPr/>
          <p:nvPr/>
        </p:nvSpPr>
        <p:spPr>
          <a:xfrm>
            <a:off x="6309360" y="2011680"/>
            <a:ext cx="24685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D9822B"/>
                </a:solidFill>
                <a:effectLst/>
                <a:uFillTx/>
                <a:latin typeface="Cambria"/>
                <a:ea typeface="Cambria"/>
              </a:rPr>
              <a:t>0.606</a:t>
            </a:r>
            <a:endParaRPr lang="es-ES" sz="3000" b="0" u="none" strike="noStrike">
              <a:solidFill>
                <a:srgbClr val="000000"/>
              </a:solidFill>
              <a:effectLst/>
              <a:uFillTx/>
              <a:latin typeface="Noto Sans"/>
            </a:endParaRPr>
          </a:p>
        </p:txBody>
      </p:sp>
      <p:sp>
        <p:nvSpPr>
          <p:cNvPr id="105" name="Text 6"/>
          <p:cNvSpPr/>
          <p:nvPr/>
        </p:nvSpPr>
        <p:spPr>
          <a:xfrm>
            <a:off x="6309360" y="2560320"/>
            <a:ext cx="2468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B6770"/>
                </a:solidFill>
                <a:effectLst/>
                <a:uFillTx/>
                <a:latin typeface="Calibri"/>
                <a:ea typeface="Calibri"/>
              </a:rPr>
              <a:t>con post-procesado morfológico</a:t>
            </a:r>
            <a:endParaRPr lang="es-ES" sz="1100" b="0" u="none" strike="noStrike">
              <a:solidFill>
                <a:srgbClr val="000000"/>
              </a:solidFill>
              <a:effectLst/>
              <a:uFillTx/>
              <a:latin typeface="Noto Sans"/>
            </a:endParaRPr>
          </a:p>
        </p:txBody>
      </p:sp>
      <p:sp>
        <p:nvSpPr>
          <p:cNvPr id="106" name="Text 7"/>
          <p:cNvSpPr/>
          <p:nvPr/>
        </p:nvSpPr>
        <p:spPr>
          <a:xfrm>
            <a:off x="6309360" y="3063240"/>
            <a:ext cx="2468520" cy="1737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F2933"/>
                </a:solidFill>
                <a:effectLst/>
                <a:uFillTx/>
                <a:latin typeface="Calibri"/>
                <a:ea typeface="Calibri"/>
              </a:rPr>
              <a:t>Diferencia mejor–peor (G): 0.058, frente a DE entre imágenes ≈ 0.28: ranking débil. R separa rojo de verde; B separa objetos saturados de fondos claros. Test: J = 0.460 (máscara final con post-proceso: 0.457).</a:t>
            </a:r>
            <a:endParaRPr lang="es-ES" sz="11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108"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8</a:t>
            </a:r>
            <a:endParaRPr lang="es-ES" sz="1400" b="0" u="none" strike="noStrike">
              <a:solidFill>
                <a:srgbClr val="000000"/>
              </a:solidFill>
              <a:effectLst/>
              <a:uFillTx/>
              <a:latin typeface="Noto Sans"/>
            </a:endParaRPr>
          </a:p>
        </p:txBody>
      </p:sp>
      <p:sp>
        <p:nvSpPr>
          <p:cNvPr id="109"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Ejemplos de segmentación (RB)</a:t>
            </a:r>
            <a:endParaRPr lang="es-ES" sz="2600" b="0" u="none" strike="noStrike">
              <a:solidFill>
                <a:srgbClr val="000000"/>
              </a:solidFill>
              <a:effectLst/>
              <a:uFillTx/>
              <a:latin typeface="Noto Sans"/>
            </a:endParaRPr>
          </a:p>
        </p:txBody>
      </p:sp>
      <p:pic>
        <p:nvPicPr>
          <p:cNvPr id="110" name="Image 0" descr="/home/victor/Documents/Proyectos/ia/results/segmentation_examples.png"/>
          <p:cNvPicPr/>
          <p:nvPr/>
        </p:nvPicPr>
        <p:blipFill>
          <a:blip r:embed="rId1"/>
          <a:stretch/>
        </p:blipFill>
        <p:spPr>
          <a:xfrm>
            <a:off x="365760" y="1274400"/>
            <a:ext cx="5760360" cy="3303360"/>
          </a:xfrm>
          <a:prstGeom prst="rect">
            <a:avLst/>
          </a:prstGeom>
          <a:noFill/>
          <a:ln w="0">
            <a:noFill/>
          </a:ln>
        </p:spPr>
      </p:pic>
      <p:sp>
        <p:nvSpPr>
          <p:cNvPr id="111" name="Shape 3"/>
          <p:cNvSpPr/>
          <p:nvPr/>
        </p:nvSpPr>
        <p:spPr>
          <a:xfrm>
            <a:off x="6309360" y="960120"/>
            <a:ext cx="2422800" cy="1828440"/>
          </a:xfrm>
          <a:prstGeom prst="roundRect">
            <a:avLst>
              <a:gd name="adj" fmla="val 4000"/>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112" name="Text 4"/>
          <p:cNvSpPr/>
          <p:nvPr/>
        </p:nvSpPr>
        <p:spPr>
          <a:xfrm>
            <a:off x="6446520" y="1051560"/>
            <a:ext cx="21484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3227"/>
                </a:solidFill>
                <a:effectLst/>
                <a:uFillTx/>
                <a:latin typeface="Calibri"/>
                <a:ea typeface="Calibri"/>
              </a:rPr>
              <a:t>Fallo típico</a:t>
            </a:r>
            <a:endParaRPr lang="es-ES" sz="1300" b="0" u="none" strike="noStrike">
              <a:solidFill>
                <a:srgbClr val="000000"/>
              </a:solidFill>
              <a:effectLst/>
              <a:uFillTx/>
              <a:latin typeface="Noto Sans"/>
            </a:endParaRPr>
          </a:p>
        </p:txBody>
      </p:sp>
      <p:sp>
        <p:nvSpPr>
          <p:cNvPr id="113" name="Text 5"/>
          <p:cNvSpPr/>
          <p:nvPr/>
        </p:nvSpPr>
        <p:spPr>
          <a:xfrm>
            <a:off x="6446520" y="1371600"/>
            <a:ext cx="2148480" cy="1325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1F2933"/>
                </a:solidFill>
                <a:effectLst/>
                <a:uFillTx/>
                <a:latin typeface="Calibri"/>
                <a:ea typeface="Calibri"/>
              </a:rPr>
              <a:t>Fondo bimodal o follaje brillante: los dos clusters separan dos fondos y el tomate queda repartido.</a:t>
            </a:r>
            <a:endParaRPr lang="es-ES" sz="1150" b="0" u="none" strike="noStrike">
              <a:solidFill>
                <a:srgbClr val="000000"/>
              </a:solidFill>
              <a:effectLst/>
              <a:uFillTx/>
              <a:latin typeface="Noto Sans"/>
            </a:endParaRPr>
          </a:p>
        </p:txBody>
      </p:sp>
      <p:sp>
        <p:nvSpPr>
          <p:cNvPr id="114" name="Shape 6"/>
          <p:cNvSpPr/>
          <p:nvPr/>
        </p:nvSpPr>
        <p:spPr>
          <a:xfrm>
            <a:off x="6309360" y="2926080"/>
            <a:ext cx="2422800" cy="1828440"/>
          </a:xfrm>
          <a:prstGeom prst="roundRect">
            <a:avLst>
              <a:gd name="adj" fmla="val 4000"/>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115" name="Text 7"/>
          <p:cNvSpPr/>
          <p:nvPr/>
        </p:nvSpPr>
        <p:spPr>
          <a:xfrm>
            <a:off x="6446520" y="3017520"/>
            <a:ext cx="21484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D9822B"/>
                </a:solidFill>
                <a:effectLst/>
                <a:uFillTx/>
                <a:latin typeface="Calibri"/>
                <a:ea typeface="Calibri"/>
              </a:rPr>
              <a:t>Post-procesado</a:t>
            </a:r>
            <a:endParaRPr lang="es-ES" sz="1300" b="0" u="none" strike="noStrike">
              <a:solidFill>
                <a:srgbClr val="000000"/>
              </a:solidFill>
              <a:effectLst/>
              <a:uFillTx/>
              <a:latin typeface="Noto Sans"/>
            </a:endParaRPr>
          </a:p>
        </p:txBody>
      </p:sp>
      <p:sp>
        <p:nvSpPr>
          <p:cNvPr id="116" name="Text 8"/>
          <p:cNvSpPr/>
          <p:nvPr/>
        </p:nvSpPr>
        <p:spPr>
          <a:xfrm>
            <a:off x="6446520" y="3337560"/>
            <a:ext cx="2148480" cy="13255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1F2933"/>
                </a:solidFill>
                <a:effectLst/>
                <a:uFillTx/>
                <a:latin typeface="Calibri"/>
                <a:ea typeface="Calibri"/>
              </a:rPr>
              <a:t>Apertura + cierre (elipse 5×5), relleno de huecos y eliminación de componentes &lt; 1 %. Mejora la media de desarrollo en 7/7; en test 0.460 → 0.457.</a:t>
            </a:r>
            <a:endParaRPr lang="es-ES" sz="115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118"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9</a:t>
            </a:r>
            <a:endParaRPr lang="es-ES" sz="1400" b="0" u="none" strike="noStrike">
              <a:solidFill>
                <a:srgbClr val="000000"/>
              </a:solidFill>
              <a:effectLst/>
              <a:uFillTx/>
              <a:latin typeface="Noto Sans"/>
            </a:endParaRPr>
          </a:p>
        </p:txBody>
      </p:sp>
      <p:sp>
        <p:nvSpPr>
          <p:cNvPr id="119"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Características extraídas del fruto segmentado</a:t>
            </a:r>
            <a:endParaRPr lang="es-ES" sz="2600" b="0" u="none" strike="noStrike">
              <a:solidFill>
                <a:srgbClr val="000000"/>
              </a:solidFill>
              <a:effectLst/>
              <a:uFillTx/>
              <a:latin typeface="Noto Sans"/>
            </a:endParaRPr>
          </a:p>
        </p:txBody>
      </p:sp>
      <p:graphicFrame>
        <p:nvGraphicFramePr>
          <p:cNvPr id="120" name="Table 0"/>
          <p:cNvGraphicFramePr/>
          <p:nvPr/>
        </p:nvGraphicFramePr>
        <p:xfrm>
          <a:off x="457200" y="960120"/>
          <a:ext cx="3565800" cy="3017520"/>
        </p:xfrm>
        <a:graphic>
          <a:graphicData uri="http://schemas.openxmlformats.org/drawingml/2006/table">
            <a:tbl>
              <a:tblPr/>
              <a:tblGrid>
                <a:gridCol w="1005840"/>
                <a:gridCol w="2560320"/>
              </a:tblGrid>
              <a:tr h="502920">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Descriptor</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Justificación</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r>
              <a:tr h="50292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R̄, Ḡ, B̄</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Mínimo exigido; la madurez pasa energía de G a R</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50292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H̄ (circular)</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Cromaticidad independiente del brillo; media circular</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50292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S̄, V̄</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Saturación y brillo; separan color de iluminación</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50292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ā*</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Eje verde↔rojo CIELAB: índice clásico de madurez</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50292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b̄*</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Eje azul↔amarillo, variable de control</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bl>
          </a:graphicData>
        </a:graphic>
      </p:graphicFrame>
      <p:pic>
        <p:nvPicPr>
          <p:cNvPr id="121" name="Image 0" descr="/home/victor/Documents/Proyectos/ia/results/feature_distributions.png"/>
          <p:cNvPicPr/>
          <p:nvPr/>
        </p:nvPicPr>
        <p:blipFill>
          <a:blip r:embed="rId1"/>
          <a:stretch/>
        </p:blipFill>
        <p:spPr>
          <a:xfrm>
            <a:off x="4206240" y="1560240"/>
            <a:ext cx="4571640" cy="2000160"/>
          </a:xfrm>
          <a:prstGeom prst="rect">
            <a:avLst/>
          </a:prstGeom>
          <a:noFill/>
          <a:ln w="0">
            <a:noFill/>
          </a:ln>
        </p:spPr>
      </p:pic>
      <p:sp>
        <p:nvSpPr>
          <p:cNvPr id="122" name="Text 3"/>
          <p:cNvSpPr/>
          <p:nvPr/>
        </p:nvSpPr>
        <p:spPr>
          <a:xfrm>
            <a:off x="4206240" y="4297680"/>
            <a:ext cx="45716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5B6770"/>
                </a:solidFill>
                <a:effectLst/>
                <a:uFillTx/>
                <a:latin typeface="Calibri"/>
                <a:ea typeface="Calibri"/>
              </a:rPr>
              <a:t>Promedios calculados solo con los píxeles de la máscara K-Means final (entrenamiento).</a:t>
            </a:r>
            <a:endParaRPr lang="es-ES" sz="11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124"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10</a:t>
            </a:r>
            <a:endParaRPr lang="es-ES" sz="1400" b="0" u="none" strike="noStrike">
              <a:solidFill>
                <a:srgbClr val="000000"/>
              </a:solidFill>
              <a:effectLst/>
              <a:uFillTx/>
              <a:latin typeface="Noto Sans"/>
            </a:endParaRPr>
          </a:p>
        </p:txBody>
      </p:sp>
      <p:sp>
        <p:nvSpPr>
          <p:cNvPr id="125"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Selección basada en el análisis exploratorio</a:t>
            </a:r>
            <a:endParaRPr lang="es-ES" sz="2600" b="0" u="none" strike="noStrike">
              <a:solidFill>
                <a:srgbClr val="000000"/>
              </a:solidFill>
              <a:effectLst/>
              <a:uFillTx/>
              <a:latin typeface="Noto Sans"/>
            </a:endParaRPr>
          </a:p>
        </p:txBody>
      </p:sp>
      <p:graphicFrame>
        <p:nvGraphicFramePr>
          <p:cNvPr id="126" name="Table 0"/>
          <p:cNvGraphicFramePr/>
          <p:nvPr/>
        </p:nvGraphicFramePr>
        <p:xfrm>
          <a:off x="457200" y="960120"/>
          <a:ext cx="4205880" cy="2221560"/>
        </p:xfrm>
        <a:graphic>
          <a:graphicData uri="http://schemas.openxmlformats.org/drawingml/2006/table">
            <a:tbl>
              <a:tblPr/>
              <a:tblGrid>
                <a:gridCol w="914400"/>
                <a:gridCol w="914400"/>
                <a:gridCol w="914400"/>
                <a:gridCol w="1463040"/>
              </a:tblGrid>
              <a:tr h="246600">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Descriptor</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d de Cohen</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AUC univ.</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Elegida</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r>
              <a:tr h="246600">
                <a:tc>
                  <a:txBody>
                    <a:bodyPr lIns="36360" tIns="36360" rIns="36360" bIns="36360" anchor="ctr">
                      <a:noAutofit/>
                    </a:bodyPr>
                    <a:p>
                      <a:pPr defTabSz="914400">
                        <a:lnSpc>
                          <a:spcPct val="100000"/>
                        </a:lnSpc>
                        <a:tabLst>
                          <a:tab pos="0" algn="l"/>
                        </a:tabLst>
                      </a:pPr>
                      <a:r>
                        <a:rPr lang="en-US" sz="1050" b="1" u="none" strike="noStrike">
                          <a:solidFill>
                            <a:srgbClr val="B83227"/>
                          </a:solidFill>
                          <a:effectLst/>
                          <a:uFillTx/>
                          <a:latin typeface="Calibri"/>
                          <a:ea typeface="Calibri"/>
                        </a:rPr>
                        <a:t>H</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1" u="none" strike="noStrike">
                          <a:solidFill>
                            <a:srgbClr val="B83227"/>
                          </a:solidFill>
                          <a:effectLst/>
                          <a:uFillTx/>
                          <a:latin typeface="Calibri"/>
                          <a:ea typeface="Calibri"/>
                        </a:rPr>
                        <a:t>-4.04</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1" u="none" strike="noStrike">
                          <a:solidFill>
                            <a:srgbClr val="B83227"/>
                          </a:solidFill>
                          <a:effectLst/>
                          <a:uFillTx/>
                          <a:latin typeface="Calibri"/>
                          <a:ea typeface="Calibri"/>
                        </a:rPr>
                        <a:t>0.981</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1" u="none" strike="noStrike">
                          <a:solidFill>
                            <a:srgbClr val="B83227"/>
                          </a:solidFill>
                          <a:effectLst/>
                          <a:uFillTx/>
                          <a:latin typeface="Calibri"/>
                          <a:ea typeface="Calibri"/>
                        </a:rPr>
                        <a:t>sí</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a*</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3.28</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0.957</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no (|r|=0.92 con H)</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1" u="none" strike="noStrike">
                          <a:solidFill>
                            <a:srgbClr val="B83227"/>
                          </a:solidFill>
                          <a:effectLst/>
                          <a:uFillTx/>
                          <a:latin typeface="Calibri"/>
                          <a:ea typeface="Calibri"/>
                        </a:rPr>
                        <a:t>G</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1" u="none" strike="noStrike">
                          <a:solidFill>
                            <a:srgbClr val="B83227"/>
                          </a:solidFill>
                          <a:effectLst/>
                          <a:uFillTx/>
                          <a:latin typeface="Calibri"/>
                          <a:ea typeface="Calibri"/>
                        </a:rPr>
                        <a:t>-1.75</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1" u="none" strike="noStrike">
                          <a:solidFill>
                            <a:srgbClr val="B83227"/>
                          </a:solidFill>
                          <a:effectLst/>
                          <a:uFillTx/>
                          <a:latin typeface="Calibri"/>
                          <a:ea typeface="Calibri"/>
                        </a:rPr>
                        <a:t>0.885</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1" u="none" strike="noStrike">
                          <a:solidFill>
                            <a:srgbClr val="B83227"/>
                          </a:solidFill>
                          <a:effectLst/>
                          <a:uFillTx/>
                          <a:latin typeface="Calibri"/>
                          <a:ea typeface="Calibri"/>
                        </a:rPr>
                        <a:t>sí</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1" u="none" strike="noStrike">
                          <a:solidFill>
                            <a:srgbClr val="B83227"/>
                          </a:solidFill>
                          <a:effectLst/>
                          <a:uFillTx/>
                          <a:latin typeface="Calibri"/>
                          <a:ea typeface="Calibri"/>
                        </a:rPr>
                        <a:t>R</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1" u="none" strike="noStrike">
                          <a:solidFill>
                            <a:srgbClr val="B83227"/>
                          </a:solidFill>
                          <a:effectLst/>
                          <a:uFillTx/>
                          <a:latin typeface="Calibri"/>
                          <a:ea typeface="Calibri"/>
                        </a:rPr>
                        <a:t>1.65</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1" u="none" strike="noStrike">
                          <a:solidFill>
                            <a:srgbClr val="B83227"/>
                          </a:solidFill>
                          <a:effectLst/>
                          <a:uFillTx/>
                          <a:latin typeface="Calibri"/>
                          <a:ea typeface="Calibri"/>
                        </a:rPr>
                        <a:t>0.889</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1" u="none" strike="noStrike">
                          <a:solidFill>
                            <a:srgbClr val="B83227"/>
                          </a:solidFill>
                          <a:effectLst/>
                          <a:uFillTx/>
                          <a:latin typeface="Calibri"/>
                          <a:ea typeface="Calibri"/>
                        </a:rPr>
                        <a:t>sí</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V</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0.80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0.755</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no</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S</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0.67</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0.697</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no</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b*</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-0.36</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0.616</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no</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B</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-0.35</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0.641</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no</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bl>
          </a:graphicData>
        </a:graphic>
      </p:graphicFrame>
      <p:sp>
        <p:nvSpPr>
          <p:cNvPr id="127" name="Text 3"/>
          <p:cNvSpPr/>
          <p:nvPr/>
        </p:nvSpPr>
        <p:spPr>
          <a:xfrm>
            <a:off x="457200" y="3337560"/>
            <a:ext cx="420588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1" u="none" strike="noStrike">
                <a:solidFill>
                  <a:srgbClr val="1F2933"/>
                </a:solidFill>
                <a:effectLst/>
                <a:uFillTx/>
                <a:latin typeface="Calibri"/>
                <a:ea typeface="Calibri"/>
              </a:rPr>
              <a:t>Regla: ordenar por |d| y aceptar si |r| ≤ 0.85 con las ya elegidas (máx. 3). Resultado: H, G, R.</a:t>
            </a:r>
            <a:endParaRPr lang="es-ES" sz="1200" b="0" u="none" strike="noStrike">
              <a:solidFill>
                <a:srgbClr val="000000"/>
              </a:solidFill>
              <a:effectLst/>
              <a:uFillTx/>
              <a:latin typeface="Noto Sans"/>
            </a:endParaRPr>
          </a:p>
        </p:txBody>
      </p:sp>
      <p:sp>
        <p:nvSpPr>
          <p:cNvPr id="128" name="Text 4"/>
          <p:cNvSpPr/>
          <p:nvPr/>
        </p:nvSpPr>
        <p:spPr>
          <a:xfrm>
            <a:off x="457200" y="3977640"/>
            <a:ext cx="4205880" cy="548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5B6770"/>
                </a:solidFill>
                <a:effectLst/>
                <a:uFillTx/>
                <a:latin typeface="Calibri"/>
                <a:ea typeface="Calibri"/>
              </a:rPr>
              <a:t>Evita variables casi colineales: Bayes ingenuo contaría dos veces la misma evidencia.</a:t>
            </a:r>
            <a:endParaRPr lang="es-ES" sz="1100" b="0" u="none" strike="noStrike">
              <a:solidFill>
                <a:srgbClr val="000000"/>
              </a:solidFill>
              <a:effectLst/>
              <a:uFillTx/>
              <a:latin typeface="Noto Sans"/>
            </a:endParaRPr>
          </a:p>
        </p:txBody>
      </p:sp>
      <p:pic>
        <p:nvPicPr>
          <p:cNvPr id="129" name="Image 0" descr="/home/victor/Documents/Proyectos/ia/results/feature_correlation.png"/>
          <p:cNvPicPr/>
          <p:nvPr/>
        </p:nvPicPr>
        <p:blipFill>
          <a:blip r:embed="rId1"/>
          <a:stretch/>
        </p:blipFill>
        <p:spPr>
          <a:xfrm>
            <a:off x="4846320" y="1196280"/>
            <a:ext cx="3931560" cy="327636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0"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131"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11</a:t>
            </a:r>
            <a:endParaRPr lang="es-ES" sz="1400" b="0" u="none" strike="noStrike">
              <a:solidFill>
                <a:srgbClr val="000000"/>
              </a:solidFill>
              <a:effectLst/>
              <a:uFillTx/>
              <a:latin typeface="Noto Sans"/>
            </a:endParaRPr>
          </a:p>
        </p:txBody>
      </p:sp>
      <p:sp>
        <p:nvSpPr>
          <p:cNvPr id="132"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Selección mediante SFS</a:t>
            </a:r>
            <a:endParaRPr lang="es-ES" sz="2600" b="0" u="none" strike="noStrike">
              <a:solidFill>
                <a:srgbClr val="000000"/>
              </a:solidFill>
              <a:effectLst/>
              <a:uFillTx/>
              <a:latin typeface="Noto Sans"/>
            </a:endParaRPr>
          </a:p>
        </p:txBody>
      </p:sp>
      <p:pic>
        <p:nvPicPr>
          <p:cNvPr id="133" name="Image 0" descr="/home/victor/Documents/Proyectos/ia/results/sfs_trace.png"/>
          <p:cNvPicPr/>
          <p:nvPr/>
        </p:nvPicPr>
        <p:blipFill>
          <a:blip r:embed="rId1"/>
          <a:stretch/>
        </p:blipFill>
        <p:spPr>
          <a:xfrm>
            <a:off x="365760" y="1052640"/>
            <a:ext cx="4937400" cy="2741040"/>
          </a:xfrm>
          <a:prstGeom prst="rect">
            <a:avLst/>
          </a:prstGeom>
          <a:noFill/>
          <a:ln w="0">
            <a:noFill/>
          </a:ln>
        </p:spPr>
      </p:pic>
      <p:sp>
        <p:nvSpPr>
          <p:cNvPr id="134" name="Text 3"/>
          <p:cNvSpPr/>
          <p:nvPr/>
        </p:nvSpPr>
        <p:spPr>
          <a:xfrm>
            <a:off x="457200" y="4023360"/>
            <a:ext cx="48459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1F2933"/>
                </a:solidFill>
                <a:effectLst/>
                <a:uFillTx/>
                <a:latin typeface="Calibri"/>
                <a:ea typeface="Calibri"/>
              </a:rPr>
              <a:t>Wrapper: se añade la variable que maximiza el AUC de validación cruzada 5×10 del mismo Bayes (solo entrenamiento). Se elige el prefijo más corto a ≤ 0.001 del mejor.</a:t>
            </a:r>
            <a:endParaRPr lang="es-ES" sz="1150" b="0" u="none" strike="noStrike">
              <a:solidFill>
                <a:srgbClr val="000000"/>
              </a:solidFill>
              <a:effectLst/>
              <a:uFillTx/>
              <a:latin typeface="Noto Sans"/>
            </a:endParaRPr>
          </a:p>
        </p:txBody>
      </p:sp>
      <p:sp>
        <p:nvSpPr>
          <p:cNvPr id="135" name="Shape 4"/>
          <p:cNvSpPr/>
          <p:nvPr/>
        </p:nvSpPr>
        <p:spPr>
          <a:xfrm>
            <a:off x="5486400" y="960120"/>
            <a:ext cx="3245760" cy="1188360"/>
          </a:xfrm>
          <a:prstGeom prst="roundRect">
            <a:avLst>
              <a:gd name="adj" fmla="val 6154"/>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136" name="Text 5"/>
          <p:cNvSpPr/>
          <p:nvPr/>
        </p:nvSpPr>
        <p:spPr>
          <a:xfrm>
            <a:off x="5623560" y="1051560"/>
            <a:ext cx="29714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4F7A28"/>
                </a:solidFill>
                <a:effectLst/>
                <a:uFillTx/>
                <a:latin typeface="Calibri"/>
                <a:ea typeface="Calibri"/>
              </a:rPr>
              <a:t>Seleccionadas</a:t>
            </a:r>
            <a:endParaRPr lang="es-ES" sz="1300" b="0" u="none" strike="noStrike">
              <a:solidFill>
                <a:srgbClr val="000000"/>
              </a:solidFill>
              <a:effectLst/>
              <a:uFillTx/>
              <a:latin typeface="Noto Sans"/>
            </a:endParaRPr>
          </a:p>
        </p:txBody>
      </p:sp>
      <p:sp>
        <p:nvSpPr>
          <p:cNvPr id="137" name="Text 6"/>
          <p:cNvSpPr/>
          <p:nvPr/>
        </p:nvSpPr>
        <p:spPr>
          <a:xfrm>
            <a:off x="5623560" y="1371600"/>
            <a:ext cx="297144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50" b="0" u="none" strike="noStrike">
                <a:solidFill>
                  <a:srgbClr val="1F2933"/>
                </a:solidFill>
                <a:effectLst/>
                <a:uFillTx/>
                <a:latin typeface="Calibri"/>
                <a:ea typeface="Calibri"/>
              </a:rPr>
              <a:t>SFS: H, S, V</a:t>
            </a:r>
            <a:endParaRPr lang="es-ES" sz="1250" b="0" u="none" strike="noStrike">
              <a:solidFill>
                <a:srgbClr val="000000"/>
              </a:solidFill>
              <a:effectLst/>
              <a:uFillTx/>
              <a:latin typeface="Noto Sans"/>
            </a:endParaRPr>
          </a:p>
          <a:p>
            <a:pPr defTabSz="914400">
              <a:lnSpc>
                <a:spcPct val="100000"/>
              </a:lnSpc>
              <a:tabLst>
                <a:tab pos="0" algn="l"/>
              </a:tabLst>
            </a:pPr>
            <a:r>
              <a:rPr lang="en-US" sz="1250" b="0" u="none" strike="noStrike">
                <a:solidFill>
                  <a:srgbClr val="1F2933"/>
                </a:solidFill>
                <a:effectLst/>
                <a:uFillTx/>
                <a:latin typeface="Calibri"/>
                <a:ea typeface="Calibri"/>
              </a:rPr>
              <a:t>Análisis: H, G, R</a:t>
            </a:r>
            <a:endParaRPr lang="es-ES" sz="1250" b="0" u="none" strike="noStrike">
              <a:solidFill>
                <a:srgbClr val="000000"/>
              </a:solidFill>
              <a:effectLst/>
              <a:uFillTx/>
              <a:latin typeface="Noto Sans"/>
            </a:endParaRPr>
          </a:p>
        </p:txBody>
      </p:sp>
      <p:sp>
        <p:nvSpPr>
          <p:cNvPr id="138" name="Shape 7"/>
          <p:cNvSpPr/>
          <p:nvPr/>
        </p:nvSpPr>
        <p:spPr>
          <a:xfrm>
            <a:off x="5486400" y="2286000"/>
            <a:ext cx="3245760" cy="2514240"/>
          </a:xfrm>
          <a:prstGeom prst="roundRect">
            <a:avLst>
              <a:gd name="adj" fmla="val 2909"/>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139" name="Text 8"/>
          <p:cNvSpPr/>
          <p:nvPr/>
        </p:nvSpPr>
        <p:spPr>
          <a:xfrm>
            <a:off x="5623560" y="2377440"/>
            <a:ext cx="29714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3227"/>
                </a:solidFill>
                <a:effectLst/>
                <a:uFillTx/>
                <a:latin typeface="Calibri"/>
                <a:ea typeface="Calibri"/>
              </a:rPr>
              <a:t>¿Coinciden?</a:t>
            </a:r>
            <a:endParaRPr lang="es-ES" sz="1300" b="0" u="none" strike="noStrike">
              <a:solidFill>
                <a:srgbClr val="000000"/>
              </a:solidFill>
              <a:effectLst/>
              <a:uFillTx/>
              <a:latin typeface="Noto Sans"/>
            </a:endParaRPr>
          </a:p>
        </p:txBody>
      </p:sp>
      <p:sp>
        <p:nvSpPr>
          <p:cNvPr id="140" name="Text 9"/>
          <p:cNvSpPr/>
          <p:nvPr/>
        </p:nvSpPr>
        <p:spPr>
          <a:xfrm>
            <a:off x="5623560" y="2697480"/>
            <a:ext cx="2971440" cy="2011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F2933"/>
                </a:solidFill>
                <a:effectLst/>
                <a:uFillTx/>
                <a:latin typeface="Calibri"/>
                <a:ea typeface="Calibri"/>
              </a:rPr>
              <a:t>Solo en H (primera elegida). SFS cambia G y R por S y V: optimiza el AUC conjunto, no la separación individual, y el criterio está saturado (AUC ≈ 0.98, DE ≈ 0.04). En 30 particiones: SFS 11 conjuntos distintos; análisis 6.</a:t>
            </a:r>
            <a:endParaRPr lang="es-ES" sz="11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142"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12</a:t>
            </a:r>
            <a:endParaRPr lang="es-ES" sz="1400" b="0" u="none" strike="noStrike">
              <a:solidFill>
                <a:srgbClr val="000000"/>
              </a:solidFill>
              <a:effectLst/>
              <a:uFillTx/>
              <a:latin typeface="Noto Sans"/>
            </a:endParaRPr>
          </a:p>
        </p:txBody>
      </p:sp>
      <p:sp>
        <p:nvSpPr>
          <p:cNvPr id="143"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Clasificador bayesiano y razón de verosimilitudes</a:t>
            </a:r>
            <a:endParaRPr lang="es-ES" sz="2600" b="0" u="none" strike="noStrike">
              <a:solidFill>
                <a:srgbClr val="000000"/>
              </a:solidFill>
              <a:effectLst/>
              <a:uFillTx/>
              <a:latin typeface="Noto Sans"/>
            </a:endParaRPr>
          </a:p>
        </p:txBody>
      </p:sp>
      <p:sp>
        <p:nvSpPr>
          <p:cNvPr id="144" name="Shape 3"/>
          <p:cNvSpPr/>
          <p:nvPr/>
        </p:nvSpPr>
        <p:spPr>
          <a:xfrm>
            <a:off x="457200" y="960120"/>
            <a:ext cx="3931560" cy="1416960"/>
          </a:xfrm>
          <a:prstGeom prst="roundRect">
            <a:avLst>
              <a:gd name="adj" fmla="val 5161"/>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145" name="Text 4"/>
          <p:cNvSpPr/>
          <p:nvPr/>
        </p:nvSpPr>
        <p:spPr>
          <a:xfrm>
            <a:off x="594360" y="1051560"/>
            <a:ext cx="36572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3227"/>
                </a:solidFill>
                <a:effectLst/>
                <a:uFillTx/>
                <a:latin typeface="Calibri"/>
                <a:ea typeface="Calibri"/>
              </a:rPr>
              <a:t>Regla de decisión</a:t>
            </a:r>
            <a:endParaRPr lang="es-ES" sz="1300" b="0" u="none" strike="noStrike">
              <a:solidFill>
                <a:srgbClr val="000000"/>
              </a:solidFill>
              <a:effectLst/>
              <a:uFillTx/>
              <a:latin typeface="Noto Sans"/>
            </a:endParaRPr>
          </a:p>
        </p:txBody>
      </p:sp>
      <p:sp>
        <p:nvSpPr>
          <p:cNvPr id="146" name="Text 5"/>
          <p:cNvSpPr/>
          <p:nvPr/>
        </p:nvSpPr>
        <p:spPr>
          <a:xfrm>
            <a:off x="594360" y="1371600"/>
            <a:ext cx="365724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F2933"/>
                </a:solidFill>
                <a:effectLst/>
                <a:uFillTx/>
                <a:latin typeface="Calibri"/>
                <a:ea typeface="Calibri"/>
              </a:rPr>
              <a:t>ln Λ(x) = ln p(x|maduro) − ln p(x|inmaduro) ≥ ln θ → maduro</a:t>
            </a:r>
            <a:endParaRPr lang="es-ES" sz="1200" b="0" u="none" strike="noStrike">
              <a:solidFill>
                <a:srgbClr val="000000"/>
              </a:solidFill>
              <a:effectLst/>
              <a:uFillTx/>
              <a:latin typeface="Noto Sans"/>
            </a:endParaRPr>
          </a:p>
          <a:p>
            <a:pPr defTabSz="914400">
              <a:lnSpc>
                <a:spcPct val="100000"/>
              </a:lnSpc>
              <a:tabLst>
                <a:tab pos="0" algn="l"/>
              </a:tabLst>
            </a:pPr>
            <a:r>
              <a:rPr lang="en-US" sz="1200" b="0" u="none" strike="noStrike">
                <a:solidFill>
                  <a:srgbClr val="1F2933"/>
                </a:solidFill>
                <a:effectLst/>
                <a:uFillTx/>
                <a:latin typeface="Calibri"/>
                <a:ea typeface="Calibri"/>
              </a:rPr>
              <a:t>p(x|ω) = Π N(xⱼ; μ, σ²) (gaussiano ingenuo, MV en entrenamiento)</a:t>
            </a:r>
            <a:endParaRPr lang="es-ES" sz="1200" b="0" u="none" strike="noStrike">
              <a:solidFill>
                <a:srgbClr val="000000"/>
              </a:solidFill>
              <a:effectLst/>
              <a:uFillTx/>
              <a:latin typeface="Noto Sans"/>
            </a:endParaRPr>
          </a:p>
        </p:txBody>
      </p:sp>
      <p:sp>
        <p:nvSpPr>
          <p:cNvPr id="147" name="Shape 6"/>
          <p:cNvSpPr/>
          <p:nvPr/>
        </p:nvSpPr>
        <p:spPr>
          <a:xfrm>
            <a:off x="4572000" y="960120"/>
            <a:ext cx="4160160" cy="1416960"/>
          </a:xfrm>
          <a:prstGeom prst="roundRect">
            <a:avLst>
              <a:gd name="adj" fmla="val 5161"/>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148" name="Text 7"/>
          <p:cNvSpPr/>
          <p:nvPr/>
        </p:nvSpPr>
        <p:spPr>
          <a:xfrm>
            <a:off x="4709160" y="1051560"/>
            <a:ext cx="388584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4F7A28"/>
                </a:solidFill>
                <a:effectLst/>
                <a:uFillTx/>
                <a:latin typeface="Calibri"/>
                <a:ea typeface="Calibri"/>
              </a:rPr>
              <a:t>Relación con Bayes</a:t>
            </a:r>
            <a:endParaRPr lang="es-ES" sz="1300" b="0" u="none" strike="noStrike">
              <a:solidFill>
                <a:srgbClr val="000000"/>
              </a:solidFill>
              <a:effectLst/>
              <a:uFillTx/>
              <a:latin typeface="Noto Sans"/>
            </a:endParaRPr>
          </a:p>
        </p:txBody>
      </p:sp>
      <p:sp>
        <p:nvSpPr>
          <p:cNvPr id="149" name="Text 8"/>
          <p:cNvSpPr/>
          <p:nvPr/>
        </p:nvSpPr>
        <p:spPr>
          <a:xfrm>
            <a:off x="4709160" y="1371600"/>
            <a:ext cx="388584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200" b="0" u="none" strike="noStrike">
                <a:solidFill>
                  <a:srgbClr val="1F2933"/>
                </a:solidFill>
                <a:effectLst/>
                <a:uFillTx/>
                <a:latin typeface="Calibri"/>
                <a:ea typeface="Calibri"/>
              </a:rPr>
              <a:t>Mínimo error: θ = P(inmaduro)/P(maduro). Variar θ recorre la ROC. Con costos, θ incorpora C₁₀ y C₀₁.</a:t>
            </a:r>
            <a:endParaRPr lang="es-ES" sz="1200" b="0" u="none" strike="noStrike">
              <a:solidFill>
                <a:srgbClr val="000000"/>
              </a:solidFill>
              <a:effectLst/>
              <a:uFillTx/>
              <a:latin typeface="Noto Sans"/>
            </a:endParaRPr>
          </a:p>
        </p:txBody>
      </p:sp>
      <p:pic>
        <p:nvPicPr>
          <p:cNvPr id="150" name="Image 0" descr="/home/victor/Documents/Proyectos/ia/results/threshold_sweep.png"/>
          <p:cNvPicPr/>
          <p:nvPr/>
        </p:nvPicPr>
        <p:blipFill>
          <a:blip r:embed="rId1"/>
          <a:stretch/>
        </p:blipFill>
        <p:spPr>
          <a:xfrm>
            <a:off x="365760" y="2523240"/>
            <a:ext cx="8412120" cy="226872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1"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152"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13</a:t>
            </a:r>
            <a:endParaRPr lang="es-ES" sz="1400" b="0" u="none" strike="noStrike">
              <a:solidFill>
                <a:srgbClr val="000000"/>
              </a:solidFill>
              <a:effectLst/>
              <a:uFillTx/>
              <a:latin typeface="Noto Sans"/>
            </a:endParaRPr>
          </a:p>
        </p:txBody>
      </p:sp>
      <p:sp>
        <p:nvSpPr>
          <p:cNvPr id="153"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Punto de operación y evaluación</a:t>
            </a:r>
            <a:endParaRPr lang="es-ES" sz="2600" b="0" u="none" strike="noStrike">
              <a:solidFill>
                <a:srgbClr val="000000"/>
              </a:solidFill>
              <a:effectLst/>
              <a:uFillTx/>
              <a:latin typeface="Noto Sans"/>
            </a:endParaRPr>
          </a:p>
        </p:txBody>
      </p:sp>
      <p:graphicFrame>
        <p:nvGraphicFramePr>
          <p:cNvPr id="154" name="Table 0"/>
          <p:cNvGraphicFramePr/>
          <p:nvPr/>
        </p:nvGraphicFramePr>
        <p:xfrm>
          <a:off x="457200" y="914400"/>
          <a:ext cx="7314840" cy="987120"/>
        </p:xfrm>
        <a:graphic>
          <a:graphicData uri="http://schemas.openxmlformats.org/drawingml/2006/table">
            <a:tbl>
              <a:tblPr/>
              <a:tblGrid>
                <a:gridCol w="1463040"/>
                <a:gridCol w="1371600"/>
                <a:gridCol w="731520"/>
                <a:gridCol w="777240"/>
                <a:gridCol w="777240"/>
                <a:gridCol w="731520"/>
                <a:gridCol w="731520"/>
                <a:gridCol w="731520"/>
              </a:tblGrid>
              <a:tr h="246600">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Estrategia</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Entradas</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ln θ*</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AUC val</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AUC test</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Exact.</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Sens.</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Espec.</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r>
              <a:tr h="24660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Bayes + análisis</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H, G, R</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7.46</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Bayes + SFS</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H, S, V</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4.50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PCA + Bayes</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PC1, PC2, PC3</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1.79</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1.000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bl>
          </a:graphicData>
        </a:graphic>
      </p:graphicFrame>
      <p:sp>
        <p:nvSpPr>
          <p:cNvPr id="155" name="Shape 3"/>
          <p:cNvSpPr/>
          <p:nvPr/>
        </p:nvSpPr>
        <p:spPr>
          <a:xfrm>
            <a:off x="457200" y="2103120"/>
            <a:ext cx="3657240" cy="1599840"/>
          </a:xfrm>
          <a:prstGeom prst="roundRect">
            <a:avLst>
              <a:gd name="adj" fmla="val 4571"/>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156" name="Text 4"/>
          <p:cNvSpPr/>
          <p:nvPr/>
        </p:nvSpPr>
        <p:spPr>
          <a:xfrm>
            <a:off x="594360" y="2194560"/>
            <a:ext cx="338292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4F7A28"/>
                </a:solidFill>
                <a:effectLst/>
                <a:uFillTx/>
                <a:latin typeface="Calibri"/>
                <a:ea typeface="Calibri"/>
              </a:rPr>
              <a:t>Criterio: índice de Youden en validación</a:t>
            </a:r>
            <a:endParaRPr lang="es-ES" sz="1300" b="0" u="none" strike="noStrike">
              <a:solidFill>
                <a:srgbClr val="000000"/>
              </a:solidFill>
              <a:effectLst/>
              <a:uFillTx/>
              <a:latin typeface="Noto Sans"/>
            </a:endParaRPr>
          </a:p>
        </p:txBody>
      </p:sp>
      <p:sp>
        <p:nvSpPr>
          <p:cNvPr id="157" name="Text 5"/>
          <p:cNvSpPr/>
          <p:nvPr/>
        </p:nvSpPr>
        <p:spPr>
          <a:xfrm>
            <a:off x="594360" y="2514600"/>
            <a:ext cx="3382920" cy="10969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F2933"/>
                </a:solidFill>
                <a:effectLst/>
                <a:uFillTx/>
                <a:latin typeface="Calibri"/>
                <a:ea typeface="Calibri"/>
              </a:rPr>
              <a:t>J = sens + espec − 1. Sin costos definidos y clases balanceadas: ambos errores pesan igual. Umbral = punto medio entre puntuaciones; empates → centro.</a:t>
            </a:r>
            <a:endParaRPr lang="es-ES" sz="1100" b="0" u="none" strike="noStrike">
              <a:solidFill>
                <a:srgbClr val="000000"/>
              </a:solidFill>
              <a:effectLst/>
              <a:uFillTx/>
              <a:latin typeface="Noto Sans"/>
            </a:endParaRPr>
          </a:p>
        </p:txBody>
      </p:sp>
      <p:sp>
        <p:nvSpPr>
          <p:cNvPr id="158" name="Text 6"/>
          <p:cNvSpPr/>
          <p:nvPr/>
        </p:nvSpPr>
        <p:spPr>
          <a:xfrm>
            <a:off x="457200" y="3840480"/>
            <a:ext cx="3657240" cy="9140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1" u="none" strike="noStrike">
                <a:solidFill>
                  <a:srgbClr val="B83227"/>
                </a:solidFill>
                <a:effectLst/>
                <a:uFillTx/>
                <a:latin typeface="Calibri"/>
                <a:ea typeface="Calibri"/>
              </a:rPr>
              <a:t>Test de 12 imágenes sin errores: compatible con exactitud real ≥ 0.74 (Clopper–Pearson 95 %). No permite ordenar las estrategias.</a:t>
            </a:r>
            <a:endParaRPr lang="es-ES" sz="1150" b="0" u="none" strike="noStrike">
              <a:solidFill>
                <a:srgbClr val="000000"/>
              </a:solidFill>
              <a:effectLst/>
              <a:uFillTx/>
              <a:latin typeface="Noto Sans"/>
            </a:endParaRPr>
          </a:p>
        </p:txBody>
      </p:sp>
      <p:pic>
        <p:nvPicPr>
          <p:cNvPr id="159" name="Image 0" descr="/home/victor/Documents/Proyectos/ia/results/roc_curves.png"/>
          <p:cNvPicPr/>
          <p:nvPr/>
        </p:nvPicPr>
        <p:blipFill>
          <a:blip r:embed="rId1"/>
          <a:stretch/>
        </p:blipFill>
        <p:spPr>
          <a:xfrm>
            <a:off x="4297680" y="2605680"/>
            <a:ext cx="4434480" cy="182916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0"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161"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14</a:t>
            </a:r>
            <a:endParaRPr lang="es-ES" sz="1400" b="0" u="none" strike="noStrike">
              <a:solidFill>
                <a:srgbClr val="000000"/>
              </a:solidFill>
              <a:effectLst/>
              <a:uFillTx/>
              <a:latin typeface="Noto Sans"/>
            </a:endParaRPr>
          </a:p>
        </p:txBody>
      </p:sp>
      <p:sp>
        <p:nvSpPr>
          <p:cNvPr id="162"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PCA y número de componentes</a:t>
            </a:r>
            <a:endParaRPr lang="es-ES" sz="2600" b="0" u="none" strike="noStrike">
              <a:solidFill>
                <a:srgbClr val="000000"/>
              </a:solidFill>
              <a:effectLst/>
              <a:uFillTx/>
              <a:latin typeface="Noto Sans"/>
            </a:endParaRPr>
          </a:p>
        </p:txBody>
      </p:sp>
      <p:pic>
        <p:nvPicPr>
          <p:cNvPr id="163" name="Image 0" descr="/home/victor/Documents/Proyectos/ia/results/pca_variance.png"/>
          <p:cNvPicPr/>
          <p:nvPr/>
        </p:nvPicPr>
        <p:blipFill>
          <a:blip r:embed="rId1"/>
          <a:stretch/>
        </p:blipFill>
        <p:spPr>
          <a:xfrm>
            <a:off x="365760" y="964080"/>
            <a:ext cx="4845960" cy="2552040"/>
          </a:xfrm>
          <a:prstGeom prst="rect">
            <a:avLst/>
          </a:prstGeom>
          <a:noFill/>
          <a:ln w="0">
            <a:noFill/>
          </a:ln>
        </p:spPr>
      </p:pic>
      <p:pic>
        <p:nvPicPr>
          <p:cNvPr id="164" name="Image 1" descr="/home/victor/Documents/Proyectos/ia/results/pca_loadings.png"/>
          <p:cNvPicPr/>
          <p:nvPr/>
        </p:nvPicPr>
        <p:blipFill>
          <a:blip r:embed="rId2"/>
          <a:stretch/>
        </p:blipFill>
        <p:spPr>
          <a:xfrm>
            <a:off x="1162800" y="3611880"/>
            <a:ext cx="3251880" cy="1371240"/>
          </a:xfrm>
          <a:prstGeom prst="rect">
            <a:avLst/>
          </a:prstGeom>
          <a:noFill/>
          <a:ln w="0">
            <a:noFill/>
          </a:ln>
        </p:spPr>
      </p:pic>
      <p:graphicFrame>
        <p:nvGraphicFramePr>
          <p:cNvPr id="165" name="Table 0"/>
          <p:cNvGraphicFramePr/>
          <p:nvPr/>
        </p:nvGraphicFramePr>
        <p:xfrm>
          <a:off x="5440680" y="960120"/>
          <a:ext cx="3291480" cy="1481040"/>
        </p:xfrm>
        <a:graphic>
          <a:graphicData uri="http://schemas.openxmlformats.org/drawingml/2006/table">
            <a:tbl>
              <a:tblPr/>
              <a:tblGrid>
                <a:gridCol w="731520"/>
                <a:gridCol w="822960"/>
                <a:gridCol w="868680"/>
                <a:gridCol w="868680"/>
              </a:tblGrid>
              <a:tr h="246600">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PC</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λ</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Var. %</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Acum. %</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r>
              <a:tr h="24660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PC1</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3.71</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45.1</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45.1</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PC2</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2.80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34.0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79.2</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PC3</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1.54</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18.7</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97.9</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PC4</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0.12</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1.5</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99.3</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PC5</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0.04</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0.5</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99.8</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bl>
          </a:graphicData>
        </a:graphic>
      </p:graphicFrame>
      <p:sp>
        <p:nvSpPr>
          <p:cNvPr id="166" name="Shape 3"/>
          <p:cNvSpPr/>
          <p:nvPr/>
        </p:nvSpPr>
        <p:spPr>
          <a:xfrm>
            <a:off x="5440680" y="2606040"/>
            <a:ext cx="3291480" cy="2148480"/>
          </a:xfrm>
          <a:prstGeom prst="roundRect">
            <a:avLst>
              <a:gd name="adj" fmla="val 3404"/>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167" name="Text 4"/>
          <p:cNvSpPr/>
          <p:nvPr/>
        </p:nvSpPr>
        <p:spPr>
          <a:xfrm>
            <a:off x="5577840" y="2697480"/>
            <a:ext cx="301716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D9822B"/>
                </a:solidFill>
                <a:effectLst/>
                <a:uFillTx/>
                <a:latin typeface="Calibri"/>
                <a:ea typeface="Calibri"/>
              </a:rPr>
              <a:t>p = 3 (97.9 %)</a:t>
            </a:r>
            <a:endParaRPr lang="es-ES" sz="1300" b="0" u="none" strike="noStrike">
              <a:solidFill>
                <a:srgbClr val="000000"/>
              </a:solidFill>
              <a:effectLst/>
              <a:uFillTx/>
              <a:latin typeface="Noto Sans"/>
            </a:endParaRPr>
          </a:p>
        </p:txBody>
      </p:sp>
      <p:sp>
        <p:nvSpPr>
          <p:cNvPr id="168" name="Text 5"/>
          <p:cNvSpPr/>
          <p:nvPr/>
        </p:nvSpPr>
        <p:spPr>
          <a:xfrm>
            <a:off x="5577840" y="3017520"/>
            <a:ext cx="3017160" cy="1645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1F2933"/>
                </a:solidFill>
                <a:effectLst/>
                <a:uFillTx/>
                <a:latin typeface="Calibri"/>
                <a:ea typeface="Calibri"/>
              </a:rPr>
              <a:t>Menor p con ≥ 95 % de varianza; coincide con el codo y con Kaiser (λ₄ ≪ 1). PCA en entrenamiento sobre 8 variables estandarizadas. Decorrelaciona globalmente, pero no garantiza independencia dentro de cada clase.</a:t>
            </a:r>
            <a:endParaRPr lang="es-ES" sz="115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9"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170"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15</a:t>
            </a:r>
            <a:endParaRPr lang="es-ES" sz="1400" b="0" u="none" strike="noStrike">
              <a:solidFill>
                <a:srgbClr val="000000"/>
              </a:solidFill>
              <a:effectLst/>
              <a:uFillTx/>
              <a:latin typeface="Noto Sans"/>
            </a:endParaRPr>
          </a:p>
        </p:txBody>
      </p:sp>
      <p:sp>
        <p:nvSpPr>
          <p:cNvPr id="171"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Comparación de los tres clasificadores</a:t>
            </a:r>
            <a:endParaRPr lang="es-ES" sz="2600" b="0" u="none" strike="noStrike">
              <a:solidFill>
                <a:srgbClr val="000000"/>
              </a:solidFill>
              <a:effectLst/>
              <a:uFillTx/>
              <a:latin typeface="Noto Sans"/>
            </a:endParaRPr>
          </a:p>
        </p:txBody>
      </p:sp>
      <p:pic>
        <p:nvPicPr>
          <p:cNvPr id="172" name="Image 0" descr="/home/victor/Documents/Proyectos/ia/results/repeated_splits.png"/>
          <p:cNvPicPr/>
          <p:nvPr/>
        </p:nvPicPr>
        <p:blipFill>
          <a:blip r:embed="rId1"/>
          <a:stretch/>
        </p:blipFill>
        <p:spPr>
          <a:xfrm>
            <a:off x="365760" y="1057680"/>
            <a:ext cx="5851800" cy="2090520"/>
          </a:xfrm>
          <a:prstGeom prst="rect">
            <a:avLst/>
          </a:prstGeom>
          <a:noFill/>
          <a:ln w="0">
            <a:noFill/>
          </a:ln>
        </p:spPr>
      </p:pic>
      <p:sp>
        <p:nvSpPr>
          <p:cNvPr id="173" name="Text 3"/>
          <p:cNvSpPr/>
          <p:nvPr/>
        </p:nvSpPr>
        <p:spPr>
          <a:xfrm>
            <a:off x="457200" y="3429000"/>
            <a:ext cx="19198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1F2933"/>
                </a:solidFill>
                <a:effectLst/>
                <a:uFillTx/>
                <a:latin typeface="Cambria"/>
                <a:ea typeface="Cambria"/>
              </a:rPr>
              <a:t>0.969</a:t>
            </a:r>
            <a:endParaRPr lang="es-ES" sz="3000" b="0" u="none" strike="noStrike">
              <a:solidFill>
                <a:srgbClr val="000000"/>
              </a:solidFill>
              <a:effectLst/>
              <a:uFillTx/>
              <a:latin typeface="Noto Sans"/>
            </a:endParaRPr>
          </a:p>
        </p:txBody>
      </p:sp>
      <p:sp>
        <p:nvSpPr>
          <p:cNvPr id="174" name="Text 4"/>
          <p:cNvSpPr/>
          <p:nvPr/>
        </p:nvSpPr>
        <p:spPr>
          <a:xfrm>
            <a:off x="457200" y="3977640"/>
            <a:ext cx="1919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B6770"/>
                </a:solidFill>
                <a:effectLst/>
                <a:uFillTx/>
                <a:latin typeface="Calibri"/>
                <a:ea typeface="Calibri"/>
              </a:rPr>
              <a:t>Bayes + SFS (11 errores)</a:t>
            </a:r>
            <a:endParaRPr lang="es-ES" sz="1100" b="0" u="none" strike="noStrike">
              <a:solidFill>
                <a:srgbClr val="000000"/>
              </a:solidFill>
              <a:effectLst/>
              <a:uFillTx/>
              <a:latin typeface="Noto Sans"/>
            </a:endParaRPr>
          </a:p>
        </p:txBody>
      </p:sp>
      <p:sp>
        <p:nvSpPr>
          <p:cNvPr id="175" name="Text 5"/>
          <p:cNvSpPr/>
          <p:nvPr/>
        </p:nvSpPr>
        <p:spPr>
          <a:xfrm>
            <a:off x="2423160" y="3429000"/>
            <a:ext cx="19198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B83227"/>
                </a:solidFill>
                <a:effectLst/>
                <a:uFillTx/>
                <a:latin typeface="Cambria"/>
                <a:ea typeface="Cambria"/>
              </a:rPr>
              <a:t>0.967</a:t>
            </a:r>
            <a:endParaRPr lang="es-ES" sz="3000" b="0" u="none" strike="noStrike">
              <a:solidFill>
                <a:srgbClr val="000000"/>
              </a:solidFill>
              <a:effectLst/>
              <a:uFillTx/>
              <a:latin typeface="Noto Sans"/>
            </a:endParaRPr>
          </a:p>
        </p:txBody>
      </p:sp>
      <p:sp>
        <p:nvSpPr>
          <p:cNvPr id="176" name="Text 6"/>
          <p:cNvSpPr/>
          <p:nvPr/>
        </p:nvSpPr>
        <p:spPr>
          <a:xfrm>
            <a:off x="2423160" y="3977640"/>
            <a:ext cx="1919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B6770"/>
                </a:solidFill>
                <a:effectLst/>
                <a:uFillTx/>
                <a:latin typeface="Calibri"/>
                <a:ea typeface="Calibri"/>
              </a:rPr>
              <a:t>Bayes + análisis (12 errores)</a:t>
            </a:r>
            <a:endParaRPr lang="es-ES" sz="1100" b="0" u="none" strike="noStrike">
              <a:solidFill>
                <a:srgbClr val="000000"/>
              </a:solidFill>
              <a:effectLst/>
              <a:uFillTx/>
              <a:latin typeface="Noto Sans"/>
            </a:endParaRPr>
          </a:p>
        </p:txBody>
      </p:sp>
      <p:sp>
        <p:nvSpPr>
          <p:cNvPr id="177" name="Text 7"/>
          <p:cNvSpPr/>
          <p:nvPr/>
        </p:nvSpPr>
        <p:spPr>
          <a:xfrm>
            <a:off x="4389120" y="3429000"/>
            <a:ext cx="191988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D9822B"/>
                </a:solidFill>
                <a:effectLst/>
                <a:uFillTx/>
                <a:latin typeface="Cambria"/>
                <a:ea typeface="Cambria"/>
              </a:rPr>
              <a:t>0.964</a:t>
            </a:r>
            <a:endParaRPr lang="es-ES" sz="3000" b="0" u="none" strike="noStrike">
              <a:solidFill>
                <a:srgbClr val="000000"/>
              </a:solidFill>
              <a:effectLst/>
              <a:uFillTx/>
              <a:latin typeface="Noto Sans"/>
            </a:endParaRPr>
          </a:p>
        </p:txBody>
      </p:sp>
      <p:sp>
        <p:nvSpPr>
          <p:cNvPr id="178" name="Text 8"/>
          <p:cNvSpPr/>
          <p:nvPr/>
        </p:nvSpPr>
        <p:spPr>
          <a:xfrm>
            <a:off x="4389120" y="3977640"/>
            <a:ext cx="191988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B6770"/>
                </a:solidFill>
                <a:effectLst/>
                <a:uFillTx/>
                <a:latin typeface="Calibri"/>
                <a:ea typeface="Calibri"/>
              </a:rPr>
              <a:t>PCA + Bayes (13 errores)</a:t>
            </a:r>
            <a:endParaRPr lang="es-ES" sz="1100" b="0" u="none" strike="noStrike">
              <a:solidFill>
                <a:srgbClr val="000000"/>
              </a:solidFill>
              <a:effectLst/>
              <a:uFillTx/>
              <a:latin typeface="Noto Sans"/>
            </a:endParaRPr>
          </a:p>
        </p:txBody>
      </p:sp>
      <p:sp>
        <p:nvSpPr>
          <p:cNvPr id="179" name="Text 9"/>
          <p:cNvSpPr/>
          <p:nvPr/>
        </p:nvSpPr>
        <p:spPr>
          <a:xfrm>
            <a:off x="457200" y="4434840"/>
            <a:ext cx="576036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50" b="0" u="none" strike="noStrike">
                <a:solidFill>
                  <a:srgbClr val="5B6770"/>
                </a:solidFill>
                <a:effectLst/>
                <a:uFillTx/>
                <a:latin typeface="Calibri"/>
                <a:ea typeface="Calibri"/>
              </a:rPr>
              <a:t>Exactitud media en test, 30 particiones, máscaras K-Means (360 predicciones).</a:t>
            </a:r>
            <a:endParaRPr lang="es-ES" sz="1050" b="0" u="none" strike="noStrike">
              <a:solidFill>
                <a:srgbClr val="000000"/>
              </a:solidFill>
              <a:effectLst/>
              <a:uFillTx/>
              <a:latin typeface="Noto Sans"/>
            </a:endParaRPr>
          </a:p>
        </p:txBody>
      </p:sp>
      <p:sp>
        <p:nvSpPr>
          <p:cNvPr id="180" name="Text 10"/>
          <p:cNvSpPr/>
          <p:nvPr/>
        </p:nvSpPr>
        <p:spPr>
          <a:xfrm>
            <a:off x="6400800" y="960120"/>
            <a:ext cx="2377080" cy="384012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1F2933"/>
              </a:buClr>
              <a:buFont typeface="Symbol" charset="2"/>
              <a:buChar char=""/>
            </a:pPr>
            <a:r>
              <a:rPr lang="en-US" sz="1100" b="0" u="none" strike="noStrike">
                <a:solidFill>
                  <a:srgbClr val="1F2933"/>
                </a:solidFill>
                <a:effectLst/>
                <a:uFillTx/>
                <a:latin typeface="Calibri"/>
                <a:ea typeface="Calibri"/>
              </a:rPr>
              <a:t>Partición principal: las tres empatan con AUC y exactitud 1.</a:t>
            </a:r>
            <a:endParaRPr lang="es-ES" sz="1100" b="0" u="none" strike="noStrike">
              <a:solidFill>
                <a:srgbClr val="000000"/>
              </a:solidFill>
              <a:effectLst/>
              <a:uFillTx/>
              <a:latin typeface="Noto Sans"/>
            </a:endParaRPr>
          </a:p>
          <a:p>
            <a:pPr marL="343080" indent="-343080" defTabSz="914400">
              <a:lnSpc>
                <a:spcPct val="100000"/>
              </a:lnSpc>
              <a:spcAft>
                <a:spcPts val="601"/>
              </a:spcAft>
              <a:buClr>
                <a:srgbClr val="1F2933"/>
              </a:buClr>
              <a:buFont typeface="Symbol" charset="2"/>
              <a:buChar char=""/>
            </a:pPr>
            <a:r>
              <a:rPr lang="en-US" sz="1100" b="0" u="none" strike="noStrike">
                <a:solidFill>
                  <a:srgbClr val="1F2933"/>
                </a:solidFill>
                <a:effectLst/>
                <a:uFillTx/>
                <a:latin typeface="Calibri"/>
                <a:ea typeface="Calibri"/>
              </a:rPr>
              <a:t>Las tres difieren en pocos errores, dentro de la variabilidad: no se pueden ordenar.</a:t>
            </a:r>
            <a:endParaRPr lang="es-ES" sz="1100" b="0" u="none" strike="noStrike">
              <a:solidFill>
                <a:srgbClr val="000000"/>
              </a:solidFill>
              <a:effectLst/>
              <a:uFillTx/>
              <a:latin typeface="Noto Sans"/>
            </a:endParaRPr>
          </a:p>
          <a:p>
            <a:pPr marL="343080" indent="-343080" defTabSz="914400">
              <a:lnSpc>
                <a:spcPct val="100000"/>
              </a:lnSpc>
              <a:spcAft>
                <a:spcPts val="601"/>
              </a:spcAft>
              <a:buClr>
                <a:srgbClr val="1F2933"/>
              </a:buClr>
              <a:buFont typeface="Symbol" charset="2"/>
              <a:buChar char=""/>
            </a:pPr>
            <a:r>
              <a:rPr lang="en-US" sz="1100" b="0" u="none" strike="noStrike">
                <a:solidFill>
                  <a:srgbClr val="1F2933"/>
                </a:solidFill>
                <a:effectLst/>
                <a:uFillTx/>
                <a:latin typeface="Calibri"/>
                <a:ea typeface="Calibri"/>
              </a:rPr>
              <a:t>PCA vs análisis (gana/empata/pierde): 4/22/4. Estudio exploratorio, no usado para elegir.</a:t>
            </a:r>
            <a:endParaRPr lang="es-ES" sz="1100" b="0" u="none" strike="noStrike">
              <a:solidFill>
                <a:srgbClr val="000000"/>
              </a:solidFill>
              <a:effectLst/>
              <a:uFillTx/>
              <a:latin typeface="Noto Sans"/>
            </a:endParaRPr>
          </a:p>
          <a:p>
            <a:pPr marL="343080" indent="-343080" defTabSz="914400">
              <a:lnSpc>
                <a:spcPct val="100000"/>
              </a:lnSpc>
              <a:spcAft>
                <a:spcPts val="601"/>
              </a:spcAft>
              <a:buClr>
                <a:srgbClr val="1F2933"/>
              </a:buClr>
              <a:buFont typeface="Symbol" charset="2"/>
              <a:buChar char=""/>
            </a:pPr>
            <a:r>
              <a:rPr lang="en-US" sz="1100" b="0" u="none" strike="noStrike">
                <a:solidFill>
                  <a:srgbClr val="1F2933"/>
                </a:solidFill>
                <a:effectLst/>
                <a:uFillTx/>
                <a:latin typeface="Calibri"/>
                <a:ea typeface="Calibri"/>
              </a:rPr>
              <a:t>Cada partición repite todo, incluida la segmentación (RB en 28, RG en 2).</a:t>
            </a:r>
            <a:endParaRPr lang="es-ES" sz="1100" b="0" u="none" strike="noStrike">
              <a:solidFill>
                <a:srgbClr val="000000"/>
              </a:solidFill>
              <a:effectLst/>
              <a:uFillTx/>
              <a:latin typeface="Noto Sans"/>
            </a:endParaRPr>
          </a:p>
          <a:p>
            <a:pPr marL="343080" indent="-343080" defTabSz="914400">
              <a:lnSpc>
                <a:spcPct val="100000"/>
              </a:lnSpc>
              <a:spcAft>
                <a:spcPts val="601"/>
              </a:spcAft>
              <a:buClr>
                <a:srgbClr val="1F2933"/>
              </a:buClr>
              <a:buFont typeface="Symbol" charset="2"/>
              <a:buChar char=""/>
            </a:pPr>
            <a:r>
              <a:rPr lang="en-US" sz="1100" b="0" u="none" strike="noStrike">
                <a:solidFill>
                  <a:srgbClr val="1F2933"/>
                </a:solidFill>
                <a:effectLst/>
                <a:uFillTx/>
                <a:latin typeface="Calibri"/>
                <a:ea typeface="Calibri"/>
              </a:rPr>
              <a:t>Si se rehace la selección con máscaras ideales, SFS comete 11 errores: posible sobreajuste de la selección.</a:t>
            </a:r>
            <a:endParaRPr lang="es-ES" sz="11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1"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182"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16</a:t>
            </a:r>
            <a:endParaRPr lang="es-ES" sz="1400" b="0" u="none" strike="noStrike">
              <a:solidFill>
                <a:srgbClr val="000000"/>
              </a:solidFill>
              <a:effectLst/>
              <a:uFillTx/>
              <a:latin typeface="Noto Sans"/>
            </a:endParaRPr>
          </a:p>
        </p:txBody>
      </p:sp>
      <p:sp>
        <p:nvSpPr>
          <p:cNvPr id="183"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Análisis integrado: segmentación → clasificación</a:t>
            </a:r>
            <a:endParaRPr lang="es-ES" sz="2600" b="0" u="none" strike="noStrike">
              <a:solidFill>
                <a:srgbClr val="000000"/>
              </a:solidFill>
              <a:effectLst/>
              <a:uFillTx/>
              <a:latin typeface="Noto Sans"/>
            </a:endParaRPr>
          </a:p>
        </p:txBody>
      </p:sp>
      <p:pic>
        <p:nvPicPr>
          <p:cNvPr id="184" name="Image 0" descr="/home/victor/Documents/Proyectos/ia/results/integration.png"/>
          <p:cNvPicPr/>
          <p:nvPr/>
        </p:nvPicPr>
        <p:blipFill>
          <a:blip r:embed="rId1"/>
          <a:stretch/>
        </p:blipFill>
        <p:spPr>
          <a:xfrm>
            <a:off x="452160" y="868680"/>
            <a:ext cx="5496480" cy="1965600"/>
          </a:xfrm>
          <a:prstGeom prst="rect">
            <a:avLst/>
          </a:prstGeom>
          <a:noFill/>
          <a:ln w="0">
            <a:noFill/>
          </a:ln>
        </p:spPr>
      </p:pic>
      <p:graphicFrame>
        <p:nvGraphicFramePr>
          <p:cNvPr id="185" name="Table 0"/>
          <p:cNvGraphicFramePr/>
          <p:nvPr/>
        </p:nvGraphicFramePr>
        <p:xfrm>
          <a:off x="457200" y="2926080"/>
          <a:ext cx="5486040" cy="1481040"/>
        </p:xfrm>
        <a:graphic>
          <a:graphicData uri="http://schemas.openxmlformats.org/drawingml/2006/table">
            <a:tbl>
              <a:tblPr/>
              <a:tblGrid>
                <a:gridCol w="2468880"/>
                <a:gridCol w="1005840"/>
                <a:gridCol w="1005840"/>
                <a:gridCol w="1005840"/>
              </a:tblGrid>
              <a:tr h="246600">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Variante (errores)</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Análisis</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SFS</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c>
                  <a:txBody>
                    <a:bodyPr lIns="36360" tIns="36360" rIns="36360" bIns="36360"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PCA</a:t>
                      </a:r>
                      <a:endParaRPr lang="es-ES" sz="1050" b="0" u="none" strike="noStrike">
                        <a:solidFill>
                          <a:srgbClr val="FFFFFF"/>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solidFill>
                      <a:srgbClr val="1E2A30"/>
                    </a:solidFill>
                  </a:tcPr>
                </a:tc>
              </a:tr>
              <a:tr h="246600">
                <a:tc>
                  <a:txBody>
                    <a:bodyPr lIns="36360" tIns="36360" rIns="36360" bIns="36360" anchor="ctr">
                      <a:noAutofit/>
                    </a:bodyPr>
                    <a:p>
                      <a:pPr defTabSz="914400">
                        <a:lnSpc>
                          <a:spcPct val="100000"/>
                        </a:lnSpc>
                        <a:tabLst>
                          <a:tab pos="0" algn="l"/>
                        </a:tabLst>
                      </a:pPr>
                      <a:r>
                        <a:rPr lang="en-US" sz="1050" b="1" u="none" strike="noStrike">
                          <a:solidFill>
                            <a:srgbClr val="1F2933"/>
                          </a:solidFill>
                          <a:effectLst/>
                          <a:uFillTx/>
                          <a:latin typeface="Calibri"/>
                          <a:ea typeface="Calibri"/>
                        </a:rPr>
                        <a:t>K-Means (sistema)</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12</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11</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13</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Ideal solo en test, mismo modelo</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2</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8</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Ideal, diseño fijo (reentrena)</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5B6770"/>
                          </a:solidFill>
                          <a:effectLst/>
                          <a:uFillTx/>
                          <a:latin typeface="Calibri"/>
                          <a:ea typeface="Calibri"/>
                        </a:rPr>
                        <a:t>Ideal, rediseño completo</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11</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0</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r h="246600">
                <a:tc>
                  <a:txBody>
                    <a:bodyPr lIns="36360" tIns="36360" rIns="36360" bIns="36360" anchor="ctr">
                      <a:noAutofit/>
                    </a:bodyPr>
                    <a:p>
                      <a:pPr defTabSz="914400">
                        <a:lnSpc>
                          <a:spcPct val="100000"/>
                        </a:lnSpc>
                        <a:tabLst>
                          <a:tab pos="0" algn="l"/>
                        </a:tabLst>
                      </a:pPr>
                      <a:r>
                        <a:rPr lang="en-US" sz="1050" b="0" u="none" strike="noStrike">
                          <a:solidFill>
                            <a:srgbClr val="5B6770"/>
                          </a:solidFill>
                          <a:effectLst/>
                          <a:uFillTx/>
                          <a:latin typeface="Calibri"/>
                          <a:ea typeface="Calibri"/>
                        </a:rPr>
                        <a:t>K-Means, H aritmético</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15</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13</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c>
                  <a:txBody>
                    <a:bodyPr lIns="36360" tIns="36360" rIns="36360" bIns="36360" anchor="ctr">
                      <a:noAutofit/>
                    </a:bodyPr>
                    <a:p>
                      <a:pPr defTabSz="914400">
                        <a:lnSpc>
                          <a:spcPct val="100000"/>
                        </a:lnSpc>
                        <a:tabLst>
                          <a:tab pos="0" algn="l"/>
                        </a:tabLst>
                      </a:pPr>
                      <a:r>
                        <a:rPr lang="en-US" sz="1050" b="0" u="none" strike="noStrike">
                          <a:solidFill>
                            <a:srgbClr val="1F2933"/>
                          </a:solidFill>
                          <a:effectLst/>
                          <a:uFillTx/>
                          <a:latin typeface="Calibri"/>
                          <a:ea typeface="Calibri"/>
                        </a:rPr>
                        <a:t>41</a:t>
                      </a:r>
                      <a:endParaRPr lang="es-ES" sz="1050" b="0" u="none" strike="noStrike">
                        <a:solidFill>
                          <a:srgbClr val="000000"/>
                        </a:solidFill>
                        <a:effectLst/>
                        <a:uFillTx/>
                        <a:latin typeface="Noto Sans"/>
                      </a:endParaRPr>
                    </a:p>
                  </a:txBody>
                  <a:tcPr anchor="ctr" marL="36360" marR="36360" marT="36360" marB="36360">
                    <a:lnL w="6480">
                      <a:solidFill>
                        <a:srgbClr val="D5DADD"/>
                      </a:solidFill>
                      <a:prstDash val="solid"/>
                    </a:lnL>
                    <a:lnR w="6480">
                      <a:solidFill>
                        <a:srgbClr val="D5DADD"/>
                      </a:solidFill>
                      <a:prstDash val="solid"/>
                    </a:lnR>
                    <a:lnT w="6480">
                      <a:solidFill>
                        <a:srgbClr val="D5DADD"/>
                      </a:solidFill>
                      <a:prstDash val="solid"/>
                    </a:lnT>
                    <a:lnB w="6480">
                      <a:solidFill>
                        <a:srgbClr val="D5DADD"/>
                      </a:solidFill>
                      <a:prstDash val="solid"/>
                    </a:lnB>
                    <a:noFill/>
                  </a:tcPr>
                </a:tc>
              </a:tr>
            </a:tbl>
          </a:graphicData>
        </a:graphic>
      </p:graphicFrame>
      <p:sp>
        <p:nvSpPr>
          <p:cNvPr id="186" name="Text 3"/>
          <p:cNvSpPr/>
          <p:nvPr/>
        </p:nvSpPr>
        <p:spPr>
          <a:xfrm>
            <a:off x="457200" y="4480560"/>
            <a:ext cx="5486040" cy="4568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000" b="0" u="none" strike="noStrike">
                <a:solidFill>
                  <a:srgbClr val="5B6770"/>
                </a:solidFill>
                <a:effectLst/>
                <a:uFillTx/>
                <a:latin typeface="Calibri"/>
                <a:ea typeface="Calibri"/>
              </a:rPr>
              <a:t>Errores acumulados en 30 particiones (360 predicciones por celda). Solo las dos primeras variantes ideales mantienen fija la selección.</a:t>
            </a:r>
            <a:endParaRPr lang="es-ES" sz="1000" b="0" u="none" strike="noStrike">
              <a:solidFill>
                <a:srgbClr val="000000"/>
              </a:solidFill>
              <a:effectLst/>
              <a:uFillTx/>
              <a:latin typeface="Noto Sans"/>
            </a:endParaRPr>
          </a:p>
        </p:txBody>
      </p:sp>
      <p:sp>
        <p:nvSpPr>
          <p:cNvPr id="187" name="Text 4"/>
          <p:cNvSpPr/>
          <p:nvPr/>
        </p:nvSpPr>
        <p:spPr>
          <a:xfrm>
            <a:off x="6309360" y="960120"/>
            <a:ext cx="246852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000" b="1" u="none" strike="noStrike">
                <a:solidFill>
                  <a:srgbClr val="B83227"/>
                </a:solidFill>
                <a:effectLst/>
                <a:uFillTx/>
                <a:latin typeface="Cambria"/>
                <a:ea typeface="Cambria"/>
              </a:rPr>
              <a:t>ρ = -0.89</a:t>
            </a:r>
            <a:endParaRPr lang="es-ES" sz="3000" b="0" u="none" strike="noStrike">
              <a:solidFill>
                <a:srgbClr val="000000"/>
              </a:solidFill>
              <a:effectLst/>
              <a:uFillTx/>
              <a:latin typeface="Noto Sans"/>
            </a:endParaRPr>
          </a:p>
        </p:txBody>
      </p:sp>
      <p:sp>
        <p:nvSpPr>
          <p:cNvPr id="188" name="Text 5"/>
          <p:cNvSpPr/>
          <p:nvPr/>
        </p:nvSpPr>
        <p:spPr>
          <a:xfrm>
            <a:off x="6309360" y="1508760"/>
            <a:ext cx="2468520" cy="411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0" u="none" strike="noStrike">
                <a:solidFill>
                  <a:srgbClr val="5B6770"/>
                </a:solidFill>
                <a:effectLst/>
                <a:uFillTx/>
                <a:latin typeface="Calibri"/>
                <a:ea typeface="Calibri"/>
              </a:rPr>
              <a:t>Jaccard vs desplazamiento de descriptores</a:t>
            </a:r>
            <a:endParaRPr lang="es-ES" sz="1100" b="0" u="none" strike="noStrike">
              <a:solidFill>
                <a:srgbClr val="000000"/>
              </a:solidFill>
              <a:effectLst/>
              <a:uFillTx/>
              <a:latin typeface="Noto Sans"/>
            </a:endParaRPr>
          </a:p>
        </p:txBody>
      </p:sp>
      <p:sp>
        <p:nvSpPr>
          <p:cNvPr id="189" name="Text 6"/>
          <p:cNvSpPr/>
          <p:nvPr/>
        </p:nvSpPr>
        <p:spPr>
          <a:xfrm>
            <a:off x="6309360" y="2103120"/>
            <a:ext cx="2468520" cy="27428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1F2933"/>
              </a:buClr>
              <a:buFont typeface="Symbol" charset="2"/>
              <a:buChar char=""/>
            </a:pPr>
            <a:r>
              <a:rPr lang="en-US" sz="1100" b="0" u="none" strike="noStrike">
                <a:solidFill>
                  <a:srgbClr val="1F2933"/>
                </a:solidFill>
                <a:effectLst/>
                <a:uFillTx/>
                <a:latin typeface="Calibri"/>
                <a:ea typeface="Calibri"/>
              </a:rPr>
              <a:t>Peor máscara → descriptores más contaminados.</a:t>
            </a:r>
            <a:endParaRPr lang="es-ES" sz="1100" b="0" u="none" strike="noStrike">
              <a:solidFill>
                <a:srgbClr val="000000"/>
              </a:solidFill>
              <a:effectLst/>
              <a:uFillTx/>
              <a:latin typeface="Noto Sans"/>
            </a:endParaRPr>
          </a:p>
          <a:p>
            <a:pPr marL="343080" indent="-343080" defTabSz="914400">
              <a:lnSpc>
                <a:spcPct val="100000"/>
              </a:lnSpc>
              <a:spcAft>
                <a:spcPts val="601"/>
              </a:spcAft>
              <a:buClr>
                <a:srgbClr val="1F2933"/>
              </a:buClr>
              <a:buFont typeface="Symbol" charset="2"/>
              <a:buChar char=""/>
            </a:pPr>
            <a:r>
              <a:rPr lang="en-US" sz="1100" b="0" u="none" strike="noStrike">
                <a:solidFill>
                  <a:srgbClr val="1F2933"/>
                </a:solidFill>
                <a:effectLst/>
                <a:uFillTx/>
                <a:latin typeface="Calibri"/>
                <a:ea typeface="Calibri"/>
              </a:rPr>
              <a:t>4/12 imágenes de test con J &lt; 0.2 se clasifican bien: el fondo tiene color compatible con la clase.</a:t>
            </a:r>
            <a:endParaRPr lang="es-ES" sz="1100" b="0" u="none" strike="noStrike">
              <a:solidFill>
                <a:srgbClr val="000000"/>
              </a:solidFill>
              <a:effectLst/>
              <a:uFillTx/>
              <a:latin typeface="Noto Sans"/>
            </a:endParaRPr>
          </a:p>
          <a:p>
            <a:pPr marL="343080" indent="-343080" defTabSz="914400">
              <a:lnSpc>
                <a:spcPct val="100000"/>
              </a:lnSpc>
              <a:spcAft>
                <a:spcPts val="601"/>
              </a:spcAft>
              <a:buClr>
                <a:srgbClr val="1F2933"/>
              </a:buClr>
              <a:buFont typeface="Symbol" charset="2"/>
              <a:buChar char=""/>
            </a:pPr>
            <a:r>
              <a:rPr lang="en-US" sz="1100" b="0" u="none" strike="noStrike">
                <a:solidFill>
                  <a:srgbClr val="1F2933"/>
                </a:solidFill>
                <a:effectLst/>
                <a:uFillTx/>
                <a:latin typeface="Calibri"/>
                <a:ea typeface="Calibri"/>
              </a:rPr>
              <a:t>Con la selección fija y máscara ideal: 0 errores. La segmentación es la principal fuente de errores.</a:t>
            </a:r>
            <a:endParaRPr lang="es-ES" sz="1100" b="0" u="none" strike="noStrike">
              <a:solidFill>
                <a:srgbClr val="000000"/>
              </a:solidFill>
              <a:effectLst/>
              <a:uFillTx/>
              <a:latin typeface="Noto Sans"/>
            </a:endParaRPr>
          </a:p>
          <a:p>
            <a:pPr marL="343080" indent="-343080" defTabSz="914400">
              <a:lnSpc>
                <a:spcPct val="100000"/>
              </a:lnSpc>
              <a:spcAft>
                <a:spcPts val="601"/>
              </a:spcAft>
              <a:buClr>
                <a:srgbClr val="1F2933"/>
              </a:buClr>
              <a:buFont typeface="Symbol" charset="2"/>
              <a:buChar char=""/>
            </a:pPr>
            <a:r>
              <a:rPr lang="en-US" sz="1100" b="0" u="none" strike="noStrike">
                <a:solidFill>
                  <a:srgbClr val="1F2933"/>
                </a:solidFill>
                <a:effectLst/>
                <a:uFillTx/>
                <a:latin typeface="Calibri"/>
                <a:ea typeface="Calibri"/>
              </a:rPr>
              <a:t>Sin media circular, PCA pierde exactitud.</a:t>
            </a:r>
            <a:endParaRPr lang="es-ES" sz="11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0" name="Shape 0"/>
          <p:cNvSpPr/>
          <p:nvPr/>
        </p:nvSpPr>
        <p:spPr>
          <a:xfrm>
            <a:off x="411480" y="274320"/>
            <a:ext cx="456840" cy="456840"/>
          </a:xfrm>
          <a:prstGeom prst="ellipse">
            <a:avLst/>
          </a:prstGeom>
          <a:solidFill>
            <a:srgbClr val="B83227"/>
          </a:solidFill>
          <a:ln w="12700">
            <a:solidFill>
              <a:srgbClr val="B83227"/>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191" name="Text 1"/>
          <p:cNvSpPr/>
          <p:nvPr/>
        </p:nvSpPr>
        <p:spPr>
          <a:xfrm>
            <a:off x="411480" y="27432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17</a:t>
            </a:r>
            <a:endParaRPr lang="es-ES" sz="1400" b="0" u="none" strike="noStrike">
              <a:solidFill>
                <a:srgbClr val="000000"/>
              </a:solidFill>
              <a:effectLst/>
              <a:uFillTx/>
              <a:latin typeface="Noto Sans"/>
            </a:endParaRPr>
          </a:p>
        </p:txBody>
      </p:sp>
      <p:sp>
        <p:nvSpPr>
          <p:cNvPr id="192" name="Text 2"/>
          <p:cNvSpPr/>
          <p:nvPr/>
        </p:nvSpPr>
        <p:spPr>
          <a:xfrm>
            <a:off x="1005840" y="228600"/>
            <a:ext cx="7772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1F2933"/>
                </a:solidFill>
                <a:effectLst/>
                <a:uFillTx/>
                <a:latin typeface="Cambria"/>
                <a:ea typeface="Cambria"/>
              </a:rPr>
              <a:t>Respuestas a las preguntas del proyecto</a:t>
            </a:r>
            <a:endParaRPr lang="es-ES" sz="2600" b="0" u="none" strike="noStrike">
              <a:solidFill>
                <a:srgbClr val="000000"/>
              </a:solidFill>
              <a:effectLst/>
              <a:uFillTx/>
              <a:latin typeface="Noto Sans"/>
            </a:endParaRPr>
          </a:p>
        </p:txBody>
      </p:sp>
      <p:sp>
        <p:nvSpPr>
          <p:cNvPr id="193" name="Shape 3"/>
          <p:cNvSpPr/>
          <p:nvPr/>
        </p:nvSpPr>
        <p:spPr>
          <a:xfrm>
            <a:off x="457200" y="914400"/>
            <a:ext cx="2651400" cy="1188360"/>
          </a:xfrm>
          <a:prstGeom prst="roundRect">
            <a:avLst>
              <a:gd name="adj" fmla="val 6154"/>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194" name="Text 4"/>
          <p:cNvSpPr/>
          <p:nvPr/>
        </p:nvSpPr>
        <p:spPr>
          <a:xfrm>
            <a:off x="594360" y="100584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3227"/>
                </a:solidFill>
                <a:effectLst/>
                <a:uFillTx/>
                <a:latin typeface="Calibri"/>
                <a:ea typeface="Calibri"/>
              </a:rPr>
              <a:t>1. Mejor combinación</a:t>
            </a:r>
            <a:endParaRPr lang="es-ES" sz="1300" b="0" u="none" strike="noStrike">
              <a:solidFill>
                <a:srgbClr val="000000"/>
              </a:solidFill>
              <a:effectLst/>
              <a:uFillTx/>
              <a:latin typeface="Noto Sans"/>
            </a:endParaRPr>
          </a:p>
        </p:txBody>
      </p:sp>
      <p:sp>
        <p:nvSpPr>
          <p:cNvPr id="195" name="Text 5"/>
          <p:cNvSpPr/>
          <p:nvPr/>
        </p:nvSpPr>
        <p:spPr>
          <a:xfrm>
            <a:off x="594360" y="1325880"/>
            <a:ext cx="237708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F2933"/>
                </a:solidFill>
                <a:effectLst/>
                <a:uFillTx/>
                <a:latin typeface="Calibri"/>
                <a:ea typeface="Calibri"/>
              </a:rPr>
              <a:t>RB: J = 0.568 (0.606 con post-proceso).</a:t>
            </a:r>
            <a:endParaRPr lang="es-ES" sz="1100" b="0" u="none" strike="noStrike">
              <a:solidFill>
                <a:srgbClr val="000000"/>
              </a:solidFill>
              <a:effectLst/>
              <a:uFillTx/>
              <a:latin typeface="Noto Sans"/>
            </a:endParaRPr>
          </a:p>
        </p:txBody>
      </p:sp>
      <p:sp>
        <p:nvSpPr>
          <p:cNvPr id="196" name="Shape 6"/>
          <p:cNvSpPr/>
          <p:nvPr/>
        </p:nvSpPr>
        <p:spPr>
          <a:xfrm>
            <a:off x="3246120" y="914400"/>
            <a:ext cx="2651400" cy="1188360"/>
          </a:xfrm>
          <a:prstGeom prst="roundRect">
            <a:avLst>
              <a:gd name="adj" fmla="val 6154"/>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197" name="Text 7"/>
          <p:cNvSpPr/>
          <p:nvPr/>
        </p:nvSpPr>
        <p:spPr>
          <a:xfrm>
            <a:off x="3383280" y="100584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4F7A28"/>
                </a:solidFill>
                <a:effectLst/>
                <a:uFillTx/>
                <a:latin typeface="Calibri"/>
                <a:ea typeface="Calibri"/>
              </a:rPr>
              <a:t>2. ¿Por qué?</a:t>
            </a:r>
            <a:endParaRPr lang="es-ES" sz="1300" b="0" u="none" strike="noStrike">
              <a:solidFill>
                <a:srgbClr val="000000"/>
              </a:solidFill>
              <a:effectLst/>
              <a:uFillTx/>
              <a:latin typeface="Noto Sans"/>
            </a:endParaRPr>
          </a:p>
        </p:txBody>
      </p:sp>
      <p:sp>
        <p:nvSpPr>
          <p:cNvPr id="198" name="Text 8"/>
          <p:cNvSpPr/>
          <p:nvPr/>
        </p:nvSpPr>
        <p:spPr>
          <a:xfrm>
            <a:off x="3383280" y="1325880"/>
            <a:ext cx="237708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F2933"/>
                </a:solidFill>
                <a:effectLst/>
                <a:uFillTx/>
                <a:latin typeface="Calibri"/>
                <a:ea typeface="Calibri"/>
              </a:rPr>
              <a:t>R separa rojo/verde; B separa fruto saturado de fondos claros.</a:t>
            </a:r>
            <a:endParaRPr lang="es-ES" sz="1100" b="0" u="none" strike="noStrike">
              <a:solidFill>
                <a:srgbClr val="000000"/>
              </a:solidFill>
              <a:effectLst/>
              <a:uFillTx/>
              <a:latin typeface="Noto Sans"/>
            </a:endParaRPr>
          </a:p>
        </p:txBody>
      </p:sp>
      <p:sp>
        <p:nvSpPr>
          <p:cNvPr id="199" name="Shape 9"/>
          <p:cNvSpPr/>
          <p:nvPr/>
        </p:nvSpPr>
        <p:spPr>
          <a:xfrm>
            <a:off x="6035040" y="914400"/>
            <a:ext cx="2651400" cy="1188360"/>
          </a:xfrm>
          <a:prstGeom prst="roundRect">
            <a:avLst>
              <a:gd name="adj" fmla="val 6154"/>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200" name="Text 10"/>
          <p:cNvSpPr/>
          <p:nvPr/>
        </p:nvSpPr>
        <p:spPr>
          <a:xfrm>
            <a:off x="6172200" y="100584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D9822B"/>
                </a:solidFill>
                <a:effectLst/>
                <a:uFillTx/>
                <a:latin typeface="Calibri"/>
                <a:ea typeface="Calibri"/>
              </a:rPr>
              <a:t>3. Variables (EDA)</a:t>
            </a:r>
            <a:endParaRPr lang="es-ES" sz="1300" b="0" u="none" strike="noStrike">
              <a:solidFill>
                <a:srgbClr val="000000"/>
              </a:solidFill>
              <a:effectLst/>
              <a:uFillTx/>
              <a:latin typeface="Noto Sans"/>
            </a:endParaRPr>
          </a:p>
        </p:txBody>
      </p:sp>
      <p:sp>
        <p:nvSpPr>
          <p:cNvPr id="201" name="Text 11"/>
          <p:cNvSpPr/>
          <p:nvPr/>
        </p:nvSpPr>
        <p:spPr>
          <a:xfrm>
            <a:off x="6172200" y="1325880"/>
            <a:ext cx="237708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F2933"/>
                </a:solidFill>
                <a:effectLst/>
                <a:uFillTx/>
                <a:latin typeface="Calibri"/>
                <a:ea typeface="Calibri"/>
              </a:rPr>
              <a:t>H circular y a* (|d| &gt; 3), luego G y R.</a:t>
            </a:r>
            <a:endParaRPr lang="es-ES" sz="1100" b="0" u="none" strike="noStrike">
              <a:solidFill>
                <a:srgbClr val="000000"/>
              </a:solidFill>
              <a:effectLst/>
              <a:uFillTx/>
              <a:latin typeface="Noto Sans"/>
            </a:endParaRPr>
          </a:p>
        </p:txBody>
      </p:sp>
      <p:sp>
        <p:nvSpPr>
          <p:cNvPr id="202" name="Shape 12"/>
          <p:cNvSpPr/>
          <p:nvPr/>
        </p:nvSpPr>
        <p:spPr>
          <a:xfrm>
            <a:off x="457200" y="2221920"/>
            <a:ext cx="2651400" cy="1188360"/>
          </a:xfrm>
          <a:prstGeom prst="roundRect">
            <a:avLst>
              <a:gd name="adj" fmla="val 6154"/>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203" name="Text 13"/>
          <p:cNvSpPr/>
          <p:nvPr/>
        </p:nvSpPr>
        <p:spPr>
          <a:xfrm>
            <a:off x="594360" y="231336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3227"/>
                </a:solidFill>
                <a:effectLst/>
                <a:uFillTx/>
                <a:latin typeface="Calibri"/>
                <a:ea typeface="Calibri"/>
              </a:rPr>
              <a:t>4. SFS</a:t>
            </a:r>
            <a:endParaRPr lang="es-ES" sz="1300" b="0" u="none" strike="noStrike">
              <a:solidFill>
                <a:srgbClr val="000000"/>
              </a:solidFill>
              <a:effectLst/>
              <a:uFillTx/>
              <a:latin typeface="Noto Sans"/>
            </a:endParaRPr>
          </a:p>
        </p:txBody>
      </p:sp>
      <p:sp>
        <p:nvSpPr>
          <p:cNvPr id="204" name="Text 14"/>
          <p:cNvSpPr/>
          <p:nvPr/>
        </p:nvSpPr>
        <p:spPr>
          <a:xfrm>
            <a:off x="594360" y="2633400"/>
            <a:ext cx="237708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F2933"/>
                </a:solidFill>
                <a:effectLst/>
                <a:uFillTx/>
                <a:latin typeface="Calibri"/>
                <a:ea typeface="Calibri"/>
              </a:rPr>
              <a:t>H, S, V. Coincide solo en H con el análisis.</a:t>
            </a:r>
            <a:endParaRPr lang="es-ES" sz="1100" b="0" u="none" strike="noStrike">
              <a:solidFill>
                <a:srgbClr val="000000"/>
              </a:solidFill>
              <a:effectLst/>
              <a:uFillTx/>
              <a:latin typeface="Noto Sans"/>
            </a:endParaRPr>
          </a:p>
        </p:txBody>
      </p:sp>
      <p:sp>
        <p:nvSpPr>
          <p:cNvPr id="205" name="Shape 15"/>
          <p:cNvSpPr/>
          <p:nvPr/>
        </p:nvSpPr>
        <p:spPr>
          <a:xfrm>
            <a:off x="3246120" y="2221920"/>
            <a:ext cx="2651400" cy="1188360"/>
          </a:xfrm>
          <a:prstGeom prst="roundRect">
            <a:avLst>
              <a:gd name="adj" fmla="val 6154"/>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206" name="Text 16"/>
          <p:cNvSpPr/>
          <p:nvPr/>
        </p:nvSpPr>
        <p:spPr>
          <a:xfrm>
            <a:off x="3383280" y="231336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4F7A28"/>
                </a:solidFill>
                <a:effectLst/>
                <a:uFillTx/>
                <a:latin typeface="Calibri"/>
                <a:ea typeface="Calibri"/>
              </a:rPr>
              <a:t>5. Mejor estrategia</a:t>
            </a:r>
            <a:endParaRPr lang="es-ES" sz="1300" b="0" u="none" strike="noStrike">
              <a:solidFill>
                <a:srgbClr val="000000"/>
              </a:solidFill>
              <a:effectLst/>
              <a:uFillTx/>
              <a:latin typeface="Noto Sans"/>
            </a:endParaRPr>
          </a:p>
        </p:txBody>
      </p:sp>
      <p:sp>
        <p:nvSpPr>
          <p:cNvPr id="207" name="Text 17"/>
          <p:cNvSpPr/>
          <p:nvPr/>
        </p:nvSpPr>
        <p:spPr>
          <a:xfrm>
            <a:off x="3383280" y="2633400"/>
            <a:ext cx="237708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F2933"/>
                </a:solidFill>
                <a:effectLst/>
                <a:uFillTx/>
                <a:latin typeface="Calibri"/>
                <a:ea typeface="Calibri"/>
              </a:rPr>
              <a:t>Equivalentes dentro de la variabilidad; análisis es menos inestable e interpretable.</a:t>
            </a:r>
            <a:endParaRPr lang="es-ES" sz="1100" b="0" u="none" strike="noStrike">
              <a:solidFill>
                <a:srgbClr val="000000"/>
              </a:solidFill>
              <a:effectLst/>
              <a:uFillTx/>
              <a:latin typeface="Noto Sans"/>
            </a:endParaRPr>
          </a:p>
        </p:txBody>
      </p:sp>
      <p:sp>
        <p:nvSpPr>
          <p:cNvPr id="208" name="Shape 18"/>
          <p:cNvSpPr/>
          <p:nvPr/>
        </p:nvSpPr>
        <p:spPr>
          <a:xfrm>
            <a:off x="6035040" y="2221920"/>
            <a:ext cx="2651400" cy="1188360"/>
          </a:xfrm>
          <a:prstGeom prst="roundRect">
            <a:avLst>
              <a:gd name="adj" fmla="val 6154"/>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209" name="Text 19"/>
          <p:cNvSpPr/>
          <p:nvPr/>
        </p:nvSpPr>
        <p:spPr>
          <a:xfrm>
            <a:off x="6172200" y="231336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D9822B"/>
                </a:solidFill>
                <a:effectLst/>
                <a:uFillTx/>
                <a:latin typeface="Calibri"/>
                <a:ea typeface="Calibri"/>
              </a:rPr>
              <a:t>6. Punto de operación</a:t>
            </a:r>
            <a:endParaRPr lang="es-ES" sz="1300" b="0" u="none" strike="noStrike">
              <a:solidFill>
                <a:srgbClr val="000000"/>
              </a:solidFill>
              <a:effectLst/>
              <a:uFillTx/>
              <a:latin typeface="Noto Sans"/>
            </a:endParaRPr>
          </a:p>
        </p:txBody>
      </p:sp>
      <p:sp>
        <p:nvSpPr>
          <p:cNvPr id="210" name="Text 20"/>
          <p:cNvSpPr/>
          <p:nvPr/>
        </p:nvSpPr>
        <p:spPr>
          <a:xfrm>
            <a:off x="6172200" y="2633400"/>
            <a:ext cx="237708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F2933"/>
                </a:solidFill>
                <a:effectLst/>
                <a:uFillTx/>
                <a:latin typeface="Calibri"/>
                <a:ea typeface="Calibri"/>
              </a:rPr>
              <a:t>Youden en validación: sin costos, clases balanceadas.</a:t>
            </a:r>
            <a:endParaRPr lang="es-ES" sz="1100" b="0" u="none" strike="noStrike">
              <a:solidFill>
                <a:srgbClr val="000000"/>
              </a:solidFill>
              <a:effectLst/>
              <a:uFillTx/>
              <a:latin typeface="Noto Sans"/>
            </a:endParaRPr>
          </a:p>
        </p:txBody>
      </p:sp>
      <p:sp>
        <p:nvSpPr>
          <p:cNvPr id="211" name="Shape 21"/>
          <p:cNvSpPr/>
          <p:nvPr/>
        </p:nvSpPr>
        <p:spPr>
          <a:xfrm>
            <a:off x="457200" y="3529440"/>
            <a:ext cx="2651400" cy="1188360"/>
          </a:xfrm>
          <a:prstGeom prst="roundRect">
            <a:avLst>
              <a:gd name="adj" fmla="val 6154"/>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212" name="Text 22"/>
          <p:cNvSpPr/>
          <p:nvPr/>
        </p:nvSpPr>
        <p:spPr>
          <a:xfrm>
            <a:off x="594360" y="362088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B83227"/>
                </a:solidFill>
                <a:effectLst/>
                <a:uFillTx/>
                <a:latin typeface="Calibri"/>
                <a:ea typeface="Calibri"/>
              </a:rPr>
              <a:t>7. Componentes</a:t>
            </a:r>
            <a:endParaRPr lang="es-ES" sz="1300" b="0" u="none" strike="noStrike">
              <a:solidFill>
                <a:srgbClr val="000000"/>
              </a:solidFill>
              <a:effectLst/>
              <a:uFillTx/>
              <a:latin typeface="Noto Sans"/>
            </a:endParaRPr>
          </a:p>
        </p:txBody>
      </p:sp>
      <p:sp>
        <p:nvSpPr>
          <p:cNvPr id="213" name="Text 23"/>
          <p:cNvSpPr/>
          <p:nvPr/>
        </p:nvSpPr>
        <p:spPr>
          <a:xfrm>
            <a:off x="594360" y="3940920"/>
            <a:ext cx="237708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F2933"/>
                </a:solidFill>
                <a:effectLst/>
                <a:uFillTx/>
                <a:latin typeface="Calibri"/>
                <a:ea typeface="Calibri"/>
              </a:rPr>
              <a:t>3 PCs: ≥ 95 % varianza (97.9 %), codo y Kaiser.</a:t>
            </a:r>
            <a:endParaRPr lang="es-ES" sz="1100" b="0" u="none" strike="noStrike">
              <a:solidFill>
                <a:srgbClr val="000000"/>
              </a:solidFill>
              <a:effectLst/>
              <a:uFillTx/>
              <a:latin typeface="Noto Sans"/>
            </a:endParaRPr>
          </a:p>
        </p:txBody>
      </p:sp>
      <p:sp>
        <p:nvSpPr>
          <p:cNvPr id="214" name="Shape 24"/>
          <p:cNvSpPr/>
          <p:nvPr/>
        </p:nvSpPr>
        <p:spPr>
          <a:xfrm>
            <a:off x="3246120" y="3529440"/>
            <a:ext cx="2651400" cy="1188360"/>
          </a:xfrm>
          <a:prstGeom prst="roundRect">
            <a:avLst>
              <a:gd name="adj" fmla="val 6154"/>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215" name="Text 25"/>
          <p:cNvSpPr/>
          <p:nvPr/>
        </p:nvSpPr>
        <p:spPr>
          <a:xfrm>
            <a:off x="3383280" y="362088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4F7A28"/>
                </a:solidFill>
                <a:effectLst/>
                <a:uFillTx/>
                <a:latin typeface="Calibri"/>
                <a:ea typeface="Calibri"/>
              </a:rPr>
              <a:t>8. ¿PCA mejora?</a:t>
            </a:r>
            <a:endParaRPr lang="es-ES" sz="1300" b="0" u="none" strike="noStrike">
              <a:solidFill>
                <a:srgbClr val="000000"/>
              </a:solidFill>
              <a:effectLst/>
              <a:uFillTx/>
              <a:latin typeface="Noto Sans"/>
            </a:endParaRPr>
          </a:p>
        </p:txBody>
      </p:sp>
      <p:sp>
        <p:nvSpPr>
          <p:cNvPr id="216" name="Text 26"/>
          <p:cNvSpPr/>
          <p:nvPr/>
        </p:nvSpPr>
        <p:spPr>
          <a:xfrm>
            <a:off x="3383280" y="3940920"/>
            <a:ext cx="237708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F2933"/>
                </a:solidFill>
                <a:effectLst/>
                <a:uFillTx/>
                <a:latin typeface="Calibri"/>
                <a:ea typeface="Calibri"/>
              </a:rPr>
              <a:t>No: empata en el test principal y al repetir (0.964 de exactitud media).</a:t>
            </a:r>
            <a:endParaRPr lang="es-ES" sz="1100" b="0" u="none" strike="noStrike">
              <a:solidFill>
                <a:srgbClr val="000000"/>
              </a:solidFill>
              <a:effectLst/>
              <a:uFillTx/>
              <a:latin typeface="Noto Sans"/>
            </a:endParaRPr>
          </a:p>
        </p:txBody>
      </p:sp>
      <p:sp>
        <p:nvSpPr>
          <p:cNvPr id="217" name="Shape 27"/>
          <p:cNvSpPr/>
          <p:nvPr/>
        </p:nvSpPr>
        <p:spPr>
          <a:xfrm>
            <a:off x="6035040" y="3529440"/>
            <a:ext cx="2651400" cy="1188360"/>
          </a:xfrm>
          <a:prstGeom prst="roundRect">
            <a:avLst>
              <a:gd name="adj" fmla="val 6154"/>
            </a:avLst>
          </a:prstGeom>
          <a:solidFill>
            <a:srgbClr val="F3F5F6"/>
          </a:solidFill>
          <a:ln w="12700">
            <a:solidFill>
              <a:srgbClr val="F3F5F6"/>
            </a:solidFill>
            <a:round/>
          </a:ln>
        </p:spPr>
        <p:style>
          <a:lnRef idx="0"/>
          <a:fillRef idx="0"/>
          <a:effectRef idx="0"/>
          <a:fontRef idx="minor"/>
        </p:style>
        <p:txBody>
          <a:bodyPr lIns="90000" tIns="45000" rIns="90000" bIns="45000" anchor="t">
            <a:noAutofit/>
          </a:bodyPr>
          <a:p>
            <a:pPr/>
            <a:endParaRPr lang="es-ES" sz="1800" b="0" u="none" strike="noStrike">
              <a:solidFill>
                <a:srgbClr val="000000"/>
              </a:solidFill>
              <a:effectLst/>
              <a:uFillTx/>
              <a:latin typeface="Noto Sans"/>
            </a:endParaRPr>
          </a:p>
        </p:txBody>
      </p:sp>
      <p:sp>
        <p:nvSpPr>
          <p:cNvPr id="218" name="Text 28"/>
          <p:cNvSpPr/>
          <p:nvPr/>
        </p:nvSpPr>
        <p:spPr>
          <a:xfrm>
            <a:off x="6172200" y="3620880"/>
            <a:ext cx="2377080" cy="292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D9822B"/>
                </a:solidFill>
                <a:effectLst/>
                <a:uFillTx/>
                <a:latin typeface="Calibri"/>
                <a:ea typeface="Calibri"/>
              </a:rPr>
              <a:t>9. Segmentación</a:t>
            </a:r>
            <a:endParaRPr lang="es-ES" sz="1300" b="0" u="none" strike="noStrike">
              <a:solidFill>
                <a:srgbClr val="000000"/>
              </a:solidFill>
              <a:effectLst/>
              <a:uFillTx/>
              <a:latin typeface="Noto Sans"/>
            </a:endParaRPr>
          </a:p>
        </p:txBody>
      </p:sp>
      <p:sp>
        <p:nvSpPr>
          <p:cNvPr id="219" name="Text 29"/>
          <p:cNvSpPr/>
          <p:nvPr/>
        </p:nvSpPr>
        <p:spPr>
          <a:xfrm>
            <a:off x="6172200" y="3940920"/>
            <a:ext cx="2377080" cy="6854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00" b="0" u="none" strike="noStrike">
                <a:solidFill>
                  <a:srgbClr val="1F2933"/>
                </a:solidFill>
                <a:effectLst/>
                <a:uFillTx/>
                <a:latin typeface="Calibri"/>
                <a:ea typeface="Calibri"/>
              </a:rPr>
              <a:t>Principal fuente de errores: con máscara ideal 12/11/13 → 0. Pero el fondo correlaciona con la clase.</a:t>
            </a:r>
            <a:endParaRPr lang="es-ES" sz="1100" b="0" u="none" strike="noStrike">
              <a:solidFill>
                <a:srgbClr val="000000"/>
              </a:solidFill>
              <a:effectLst/>
              <a:uFillTx/>
              <a:latin typeface="Noto Sans"/>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A30"/>
        </a:solidFill>
      </p:bgPr>
    </p:bg>
    <p:spTree>
      <p:nvGrpSpPr>
        <p:cNvPr id="1" name=""/>
        <p:cNvGrpSpPr/>
        <p:nvPr/>
      </p:nvGrpSpPr>
      <p:grpSpPr>
        <a:xfrm>
          <a:off x="0" y="0"/>
          <a:ext cx="0" cy="0"/>
          <a:chOff x="0" y="0"/>
          <a:chExt cx="0" cy="0"/>
        </a:xfrm>
      </p:grpSpPr>
      <p:sp>
        <p:nvSpPr>
          <p:cNvPr id="220" name="Text 0"/>
          <p:cNvSpPr/>
          <p:nvPr/>
        </p:nvSpPr>
        <p:spPr>
          <a:xfrm>
            <a:off x="548640" y="365760"/>
            <a:ext cx="8046360" cy="6397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200" b="1" u="none" strike="noStrike">
                <a:solidFill>
                  <a:srgbClr val="FFFFFF"/>
                </a:solidFill>
                <a:effectLst/>
                <a:uFillTx/>
                <a:latin typeface="Cambria"/>
                <a:ea typeface="Cambria"/>
              </a:rPr>
              <a:t>Conclusiones</a:t>
            </a:r>
            <a:endParaRPr lang="es-ES" sz="3200" b="0" u="none" strike="noStrike">
              <a:solidFill>
                <a:srgbClr val="FFFFFF"/>
              </a:solidFill>
              <a:effectLst/>
              <a:uFillTx/>
              <a:latin typeface="Noto Sans"/>
            </a:endParaRPr>
          </a:p>
        </p:txBody>
      </p:sp>
      <p:sp>
        <p:nvSpPr>
          <p:cNvPr id="221" name="Shape 1"/>
          <p:cNvSpPr/>
          <p:nvPr/>
        </p:nvSpPr>
        <p:spPr>
          <a:xfrm>
            <a:off x="548640" y="1234440"/>
            <a:ext cx="3931560" cy="1599840"/>
          </a:xfrm>
          <a:prstGeom prst="roundRect">
            <a:avLst>
              <a:gd name="adj" fmla="val 4571"/>
            </a:avLst>
          </a:prstGeom>
          <a:solidFill>
            <a:srgbClr val="2B3A42"/>
          </a:solidFill>
          <a:ln w="12700">
            <a:solidFill>
              <a:srgbClr val="2B3A42"/>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222" name="Text 2"/>
          <p:cNvSpPr/>
          <p:nvPr/>
        </p:nvSpPr>
        <p:spPr>
          <a:xfrm>
            <a:off x="731520" y="1371600"/>
            <a:ext cx="3565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D9822B"/>
                </a:solidFill>
                <a:effectLst/>
                <a:uFillTx/>
                <a:latin typeface="Calibri"/>
                <a:ea typeface="Calibri"/>
              </a:rPr>
              <a:t>Segmentación</a:t>
            </a:r>
            <a:endParaRPr lang="es-ES" sz="1500" b="0" u="none" strike="noStrike">
              <a:solidFill>
                <a:srgbClr val="FFFFFF"/>
              </a:solidFill>
              <a:effectLst/>
              <a:uFillTx/>
              <a:latin typeface="Noto Sans"/>
            </a:endParaRPr>
          </a:p>
        </p:txBody>
      </p:sp>
      <p:sp>
        <p:nvSpPr>
          <p:cNvPr id="223" name="Text 3"/>
          <p:cNvSpPr/>
          <p:nvPr/>
        </p:nvSpPr>
        <p:spPr>
          <a:xfrm>
            <a:off x="731520" y="1783080"/>
            <a:ext cx="356580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K-Means k=2 con RB + post-proceso: J ≈ 0.606. Es el eslabón débil del sistema.</a:t>
            </a:r>
            <a:endParaRPr lang="es-ES" sz="1300" b="0" u="none" strike="noStrike">
              <a:solidFill>
                <a:srgbClr val="FFFFFF"/>
              </a:solidFill>
              <a:effectLst/>
              <a:uFillTx/>
              <a:latin typeface="Noto Sans"/>
            </a:endParaRPr>
          </a:p>
        </p:txBody>
      </p:sp>
      <p:sp>
        <p:nvSpPr>
          <p:cNvPr id="224" name="Shape 4"/>
          <p:cNvSpPr/>
          <p:nvPr/>
        </p:nvSpPr>
        <p:spPr>
          <a:xfrm>
            <a:off x="4663440" y="1234440"/>
            <a:ext cx="3931560" cy="1599840"/>
          </a:xfrm>
          <a:prstGeom prst="roundRect">
            <a:avLst>
              <a:gd name="adj" fmla="val 4571"/>
            </a:avLst>
          </a:prstGeom>
          <a:solidFill>
            <a:srgbClr val="2B3A42"/>
          </a:solidFill>
          <a:ln w="12700">
            <a:solidFill>
              <a:srgbClr val="2B3A42"/>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225" name="Text 5"/>
          <p:cNvSpPr/>
          <p:nvPr/>
        </p:nvSpPr>
        <p:spPr>
          <a:xfrm>
            <a:off x="4846320" y="1371600"/>
            <a:ext cx="3565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D9822B"/>
                </a:solidFill>
                <a:effectLst/>
                <a:uFillTx/>
                <a:latin typeface="Calibri"/>
                <a:ea typeface="Calibri"/>
              </a:rPr>
              <a:t>Madurez = tono</a:t>
            </a:r>
            <a:endParaRPr lang="es-ES" sz="1500" b="0" u="none" strike="noStrike">
              <a:solidFill>
                <a:srgbClr val="FFFFFF"/>
              </a:solidFill>
              <a:effectLst/>
              <a:uFillTx/>
              <a:latin typeface="Noto Sans"/>
            </a:endParaRPr>
          </a:p>
        </p:txBody>
      </p:sp>
      <p:sp>
        <p:nvSpPr>
          <p:cNvPr id="226" name="Text 6"/>
          <p:cNvSpPr/>
          <p:nvPr/>
        </p:nvSpPr>
        <p:spPr>
          <a:xfrm>
            <a:off x="4846320" y="1783080"/>
            <a:ext cx="356580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Con H como media circular, un Bayes con 3 variables clasifica casi perfectamente.</a:t>
            </a:r>
            <a:endParaRPr lang="es-ES" sz="1300" b="0" u="none" strike="noStrike">
              <a:solidFill>
                <a:srgbClr val="FFFFFF"/>
              </a:solidFill>
              <a:effectLst/>
              <a:uFillTx/>
              <a:latin typeface="Noto Sans"/>
            </a:endParaRPr>
          </a:p>
        </p:txBody>
      </p:sp>
      <p:sp>
        <p:nvSpPr>
          <p:cNvPr id="227" name="Shape 7"/>
          <p:cNvSpPr/>
          <p:nvPr/>
        </p:nvSpPr>
        <p:spPr>
          <a:xfrm>
            <a:off x="548640" y="3017520"/>
            <a:ext cx="3931560" cy="1599840"/>
          </a:xfrm>
          <a:prstGeom prst="roundRect">
            <a:avLst>
              <a:gd name="adj" fmla="val 4571"/>
            </a:avLst>
          </a:prstGeom>
          <a:solidFill>
            <a:srgbClr val="2B3A42"/>
          </a:solidFill>
          <a:ln w="12700">
            <a:solidFill>
              <a:srgbClr val="2B3A42"/>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228" name="Text 8"/>
          <p:cNvSpPr/>
          <p:nvPr/>
        </p:nvSpPr>
        <p:spPr>
          <a:xfrm>
            <a:off x="731520" y="3154680"/>
            <a:ext cx="3565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D9822B"/>
                </a:solidFill>
                <a:effectLst/>
                <a:uFillTx/>
                <a:latin typeface="Calibri"/>
                <a:ea typeface="Calibri"/>
              </a:rPr>
              <a:t>Selección</a:t>
            </a:r>
            <a:endParaRPr lang="es-ES" sz="1500" b="0" u="none" strike="noStrike">
              <a:solidFill>
                <a:srgbClr val="FFFFFF"/>
              </a:solidFill>
              <a:effectLst/>
              <a:uFillTx/>
              <a:latin typeface="Noto Sans"/>
            </a:endParaRPr>
          </a:p>
        </p:txBody>
      </p:sp>
      <p:sp>
        <p:nvSpPr>
          <p:cNvPr id="229" name="Text 9"/>
          <p:cNvSpPr/>
          <p:nvPr/>
        </p:nvSpPr>
        <p:spPr>
          <a:xfrm>
            <a:off x="731520" y="3566160"/>
            <a:ext cx="356580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Análisis, SFS y PCA equivalentes en este experimento; el análisis es menos inestable. PCA no mejora.</a:t>
            </a:r>
            <a:endParaRPr lang="es-ES" sz="1300" b="0" u="none" strike="noStrike">
              <a:solidFill>
                <a:srgbClr val="FFFFFF"/>
              </a:solidFill>
              <a:effectLst/>
              <a:uFillTx/>
              <a:latin typeface="Noto Sans"/>
            </a:endParaRPr>
          </a:p>
        </p:txBody>
      </p:sp>
      <p:sp>
        <p:nvSpPr>
          <p:cNvPr id="230" name="Shape 10"/>
          <p:cNvSpPr/>
          <p:nvPr/>
        </p:nvSpPr>
        <p:spPr>
          <a:xfrm>
            <a:off x="4663440" y="3017520"/>
            <a:ext cx="3931560" cy="1599840"/>
          </a:xfrm>
          <a:prstGeom prst="roundRect">
            <a:avLst>
              <a:gd name="adj" fmla="val 4571"/>
            </a:avLst>
          </a:prstGeom>
          <a:solidFill>
            <a:srgbClr val="2B3A42"/>
          </a:solidFill>
          <a:ln w="12700">
            <a:solidFill>
              <a:srgbClr val="2B3A42"/>
            </a:solidFill>
            <a:round/>
          </a:ln>
        </p:spPr>
        <p:style>
          <a:lnRef idx="0"/>
          <a:fillRef idx="0"/>
          <a:effectRef idx="0"/>
          <a:fontRef idx="minor"/>
        </p:style>
        <p:txBody>
          <a:bodyPr lIns="90000" tIns="45000" rIns="90000" bIns="45000" anchor="t">
            <a:noAutofit/>
          </a:bodyPr>
          <a:p>
            <a:pPr/>
            <a:endParaRPr lang="es-ES" sz="1800" b="0" u="none" strike="noStrike">
              <a:solidFill>
                <a:srgbClr val="FFFFFF"/>
              </a:solidFill>
              <a:effectLst/>
              <a:uFillTx/>
              <a:latin typeface="Noto Sans"/>
            </a:endParaRPr>
          </a:p>
        </p:txBody>
      </p:sp>
      <p:sp>
        <p:nvSpPr>
          <p:cNvPr id="231" name="Text 11"/>
          <p:cNvSpPr/>
          <p:nvPr/>
        </p:nvSpPr>
        <p:spPr>
          <a:xfrm>
            <a:off x="4846320" y="3154680"/>
            <a:ext cx="3565800" cy="3654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D9822B"/>
                </a:solidFill>
                <a:effectLst/>
                <a:uFillTx/>
                <a:latin typeface="Calibri"/>
                <a:ea typeface="Calibri"/>
              </a:rPr>
              <a:t>Limitaciones</a:t>
            </a:r>
            <a:endParaRPr lang="es-ES" sz="1500" b="0" u="none" strike="noStrike">
              <a:solidFill>
                <a:srgbClr val="FFFFFF"/>
              </a:solidFill>
              <a:effectLst/>
              <a:uFillTx/>
              <a:latin typeface="Noto Sans"/>
            </a:endParaRPr>
          </a:p>
        </p:txBody>
      </p:sp>
      <p:sp>
        <p:nvSpPr>
          <p:cNvPr id="232" name="Text 12"/>
          <p:cNvSpPr/>
          <p:nvPr/>
        </p:nvSpPr>
        <p:spPr>
          <a:xfrm>
            <a:off x="4846320" y="3566160"/>
            <a:ext cx="3565800" cy="959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60 imágenes y test de 12: techo de desempeño. El fondo correlaciona con la clase; sin textura ni forma.</a:t>
            </a:r>
            <a:endParaRPr lang="es-ES" sz="1300" b="0" u="none" strike="noStrike">
              <a:solidFill>
                <a:srgbClr val="FFFFFF"/>
              </a:solidFill>
              <a:effectLst/>
              <a:uFillTx/>
              <a:latin typeface="Noto San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LibreOffice/26.8.0.3$Linux_X86_64 LibreOffice_project/680$Build-3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2026-09-15T20:39:04Z</dcterms:created>
  <dc:creator>PptxGenJS</dc:creator>
  <dc:description/>
  <dc:language>es-ES</dc:language>
  <cp:lastModifiedBy>PptxGenJS</cp:lastModifiedBy>
  <dcterms:modified xsi:type="dcterms:W3CDTF">2026-09-15T20:39:04Z</dcterms:modified>
  <cp:revision>1</cp:revision>
  <dc:subject>PptxGenJS Presentation</dc:subject>
  <dc:title>Proyecto 1 — Segmentación y clasificación de madurez de tomates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19</vt:i4>
  </property>
  <property fmtid="{D5CDD505-2E9C-101B-9397-08002B2CF9AE}" pid="3" name="PresentationFormat">
    <vt:lpwstr>On-screen Show (16:9)</vt:lpwstr>
  </property>
  <property fmtid="{D5CDD505-2E9C-101B-9397-08002B2CF9AE}" pid="4" name="Slides">
    <vt:i4>19</vt:i4>
  </property>
</Properties>
</file>